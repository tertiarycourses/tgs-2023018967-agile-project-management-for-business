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376" r:id="rId127"/>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555480" y="603504"/>
            <a:ext cx="1965960"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55480" y="731520"/>
            <a:ext cx="1965960" cy="457200"/>
          </a:xfrm>
          <a:prstGeom prst="rect">
            <a:avLst/>
          </a:prstGeom>
          <a:noFill/>
        </p:spPr>
        <p:txBody>
          <a:bodyPr wrap="square" anchor="t" lIns="0" rIns="0" tIns="0" bIns="0">
            <a:spAutoFit/>
          </a:bodyPr>
          <a:lstStyle/>
          <a:p>
            <a:pPr algn="ctr">
              <a:spcAft>
                <a:spcPts val="400"/>
              </a:spcAft>
            </a:pPr>
            <a:r>
              <a:rPr sz="2200" b="1">
                <a:solidFill>
                  <a:srgbClr val="FFFFFF"/>
                </a:solidFill>
                <a:latin typeface="Arial"/>
              </a:rPr>
              <a:t>AGILE</a:t>
            </a:r>
          </a:p>
        </p:txBody>
      </p:sp>
      <p:sp>
        <p:nvSpPr>
          <p:cNvPr id="8" name="TextBox 7"/>
          <p:cNvSpPr txBox="1"/>
          <p:nvPr/>
        </p:nvSpPr>
        <p:spPr>
          <a:xfrm>
            <a:off x="9555480" y="1225296"/>
            <a:ext cx="1965960" cy="365760"/>
          </a:xfrm>
          <a:prstGeom prst="rect">
            <a:avLst/>
          </a:prstGeom>
          <a:noFill/>
        </p:spPr>
        <p:txBody>
          <a:bodyPr wrap="square" anchor="t" lIns="0" rIns="0" tIns="0" bIns="0">
            <a:spAutoFit/>
          </a:bodyPr>
          <a:lstStyle/>
          <a:p>
            <a:pPr algn="ctr">
              <a:spcAft>
                <a:spcPts val="400"/>
              </a:spcAft>
            </a:pPr>
            <a:r>
              <a:rPr sz="1000" b="1">
                <a:solidFill>
                  <a:srgbClr val="FFFFFF"/>
                </a:solidFill>
                <a:latin typeface="Arial"/>
              </a:rPr>
              <a:t>PROJECT MGMT</a:t>
            </a:r>
          </a:p>
        </p:txBody>
      </p:sp>
      <p:sp>
        <p:nvSpPr>
          <p:cNvPr id="9" name="TextBox 8"/>
          <p:cNvSpPr txBox="1"/>
          <p:nvPr/>
        </p:nvSpPr>
        <p:spPr>
          <a:xfrm>
            <a:off x="822960" y="2103120"/>
            <a:ext cx="10972800" cy="548640"/>
          </a:xfrm>
          <a:prstGeom prst="rect">
            <a:avLst/>
          </a:prstGeom>
          <a:noFill/>
        </p:spPr>
        <p:txBody>
          <a:bodyPr wrap="square" anchor="t" lIns="0" rIns="0" tIns="0" bIns="0">
            <a:spAutoFit/>
          </a:bodyPr>
          <a:lstStyle/>
          <a:p>
            <a:pPr algn="l">
              <a:spcAft>
                <a:spcPts val="400"/>
              </a:spcAft>
            </a:pPr>
            <a:r>
              <a:rPr sz="1600" b="1">
                <a:solidFill>
                  <a:srgbClr val="1F6FEB"/>
                </a:solidFill>
                <a:latin typeface="Arial"/>
              </a:rPr>
              <a:t>TRAINER SLIDES  ·  WSQ</a:t>
            </a:r>
          </a:p>
        </p:txBody>
      </p:sp>
      <p:sp>
        <p:nvSpPr>
          <p:cNvPr id="10" name="TextBox 9"/>
          <p:cNvSpPr txBox="1"/>
          <p:nvPr/>
        </p:nvSpPr>
        <p:spPr>
          <a:xfrm>
            <a:off x="822960" y="2606040"/>
            <a:ext cx="10972800" cy="1737360"/>
          </a:xfrm>
          <a:prstGeom prst="rect">
            <a:avLst/>
          </a:prstGeom>
          <a:noFill/>
        </p:spPr>
        <p:txBody>
          <a:bodyPr wrap="square" anchor="t" lIns="0" rIns="0" tIns="0" bIns="0">
            <a:spAutoFit/>
          </a:bodyPr>
          <a:lstStyle/>
          <a:p>
            <a:pPr algn="l">
              <a:spcAft>
                <a:spcPts val="400"/>
              </a:spcAft>
            </a:pPr>
            <a:r>
              <a:rPr sz="4000" b="1">
                <a:solidFill>
                  <a:srgbClr val="161B26"/>
                </a:solidFill>
                <a:latin typeface="Arial"/>
              </a:rPr>
              <a:t>Agile Project Management for Business</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lIns="0" rIns="0" tIns="0" bIns="0">
            <a:spAutoFit/>
          </a:bodyPr>
          <a:lstStyle/>
          <a:p>
            <a:pPr algn="l">
              <a:spcAft>
                <a:spcPts val="600"/>
              </a:spcAft>
            </a:pPr>
            <a:r>
              <a:rPr sz="1600" b="0">
                <a:solidFill>
                  <a:srgbClr val="5B6372"/>
                </a:solidFill>
                <a:latin typeface="Arial"/>
              </a:rPr>
              <a:t>WSQ Course Code: TGS-2023018967</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2 days  ·  16 training hours  ·  TSC: Business Agility (ICT-BIN-4038-1.1)</a:t>
            </a:r>
          </a:p>
        </p:txBody>
      </p:sp>
      <p:sp>
        <p:nvSpPr>
          <p:cNvPr id="13" name="TextBox 12"/>
          <p:cNvSpPr txBox="1"/>
          <p:nvPr/>
        </p:nvSpPr>
        <p:spPr>
          <a:xfrm>
            <a:off x="822960" y="5989320"/>
            <a:ext cx="10972800" cy="365760"/>
          </a:xfrm>
          <a:prstGeom prst="rect">
            <a:avLst/>
          </a:prstGeom>
          <a:noFill/>
        </p:spPr>
        <p:txBody>
          <a:bodyPr wrap="square" anchor="t" lIns="0" rIns="0" tIns="0" bIns="0">
            <a:spAutoFit/>
          </a:bodyPr>
          <a:lstStyle/>
          <a:p>
            <a:pPr algn="l">
              <a:spcAft>
                <a:spcPts val="400"/>
              </a:spcAft>
            </a:pPr>
            <a:r>
              <a:rPr sz="1200" b="0">
                <a:solidFill>
                  <a:srgbClr val="5B6372"/>
                </a:solidFill>
                <a:latin typeface="Arial"/>
              </a:rPr>
              <a:t>Version v9.0  ·  17 August 2026</a:t>
            </a:r>
          </a:p>
        </p:txBody>
      </p:sp>
      <p:sp>
        <p:nvSpPr>
          <p:cNvPr id="14" name="TextBox 13"/>
          <p:cNvSpPr txBox="1"/>
          <p:nvPr/>
        </p:nvSpPr>
        <p:spPr>
          <a:xfrm>
            <a:off x="822960" y="6291072"/>
            <a:ext cx="10972800" cy="310896"/>
          </a:xfrm>
          <a:prstGeom prst="rect">
            <a:avLst/>
          </a:prstGeom>
          <a:noFill/>
        </p:spPr>
        <p:txBody>
          <a:bodyPr wrap="square" anchor="t" lIns="0" rIns="0" tIns="0" bIns="0">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10058400" cy="457200"/>
          </a:xfrm>
          <a:prstGeom prst="rect">
            <a:avLst/>
          </a:prstGeom>
          <a:noFill/>
        </p:spPr>
        <p:txBody>
          <a:bodyPr wrap="square" anchor="t" lIns="0" rIns="0" tIns="0" bIns="0">
            <a:spAutoFit/>
          </a:bodyPr>
          <a:lstStyle/>
          <a:p>
            <a:pPr algn="l">
              <a:spcAft>
                <a:spcPts val="400"/>
              </a:spcAft>
            </a:pPr>
            <a:r>
              <a:rPr sz="1500" b="1">
                <a:solidFill>
                  <a:srgbClr val="1F6FEB"/>
                </a:solidFill>
                <a:latin typeface="Arial"/>
              </a:rPr>
              <a:t>COURSE ADMINISTRATION</a:t>
            </a:r>
          </a:p>
        </p:txBody>
      </p:sp>
      <p:sp>
        <p:nvSpPr>
          <p:cNvPr id="6" name="TextBox 5"/>
          <p:cNvSpPr txBox="1"/>
          <p:nvPr/>
        </p:nvSpPr>
        <p:spPr>
          <a:xfrm>
            <a:off x="1280160" y="2606040"/>
            <a:ext cx="10058400" cy="960120"/>
          </a:xfrm>
          <a:prstGeom prst="rect">
            <a:avLst/>
          </a:prstGeom>
          <a:noFill/>
        </p:spPr>
        <p:txBody>
          <a:bodyPr wrap="square" anchor="t" lIns="0" rIns="0" tIns="0" bIns="0">
            <a:spAutoFit/>
          </a:bodyPr>
          <a:lstStyle/>
          <a:p>
            <a:pPr algn="l">
              <a:spcAft>
                <a:spcPts val="400"/>
              </a:spcAft>
            </a:pPr>
            <a:r>
              <a:rPr sz="34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8" name="TextBox 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mc:Choice xmlns:p14="http://schemas.microsoft.com/office/powerpoint/2010/main" Requires="p14">
      <p:transition spd="med" p14:dur="900">
        <p:push dir="u"/>
      </p:transition>
    </mc:Choice>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ADMIN · TRAQOM &amp; ATTENDANCE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032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032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Three times a day</a:t>
            </a:r>
          </a:p>
          <a:p>
            <a:pPr algn="l">
              <a:spcAft>
                <a:spcPts val="300"/>
              </a:spcAft>
            </a:pPr>
            <a:r>
              <a:rPr sz="12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032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032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Trainer shows the QR</a:t>
            </a:r>
          </a:p>
          <a:p>
            <a:pPr algn="l">
              <a:spcAft>
                <a:spcPts val="300"/>
              </a:spcAft>
            </a:pPr>
            <a:r>
              <a:rPr sz="12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460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460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Scan and submit</a:t>
            </a:r>
          </a:p>
          <a:p>
            <a:pPr algn="l">
              <a:spcAft>
                <a:spcPts val="300"/>
              </a:spcAft>
            </a:pPr>
            <a:r>
              <a:rPr sz="12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460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460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75% minimum</a:t>
            </a:r>
          </a:p>
          <a:p>
            <a:pPr algn="l">
              <a:spcAft>
                <a:spcPts val="300"/>
              </a:spcAft>
            </a:pPr>
            <a:r>
              <a:rPr sz="12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8" name="TextBox 2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5B6372"/>
                </a:solidFill>
                <a:latin typeface="Arial"/>
              </a:rPr>
              <a:t>ADMIN · YOUR TRAINER (TEMPLATE)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lIns="0" rIns="0" tIns="0" bIns="0">
            <a:spAutoFit/>
          </a:bodyPr>
          <a:lstStyle/>
          <a:p>
            <a:pPr algn="ctr">
              <a:spcAft>
                <a:spcPts val="400"/>
              </a:spcAft>
            </a:pPr>
            <a:r>
              <a:rPr sz="42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lIns="0" rIns="0" tIns="0" bIns="0">
            <a:spAutoFit/>
          </a:bodyPr>
          <a:lstStyle/>
          <a:p>
            <a:pPr algn="ctr">
              <a:spcAft>
                <a:spcPts val="400"/>
              </a:spcAft>
            </a:pPr>
            <a:r>
              <a:rPr sz="20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lIns="0" rIns="0" tIns="0" bIns="0">
            <a:spAutoFit/>
          </a:bodyPr>
          <a:lstStyle/>
          <a:p>
            <a:pPr algn="ctr">
              <a:spcAft>
                <a:spcPts val="400"/>
              </a:spcAft>
            </a:pPr>
            <a:r>
              <a:rPr sz="1300" b="0">
                <a:solidFill>
                  <a:srgbClr val="5B6372"/>
                </a:solidFill>
                <a:latin typeface="Arial"/>
              </a:rPr>
              <a:t>WSQ Adult Educator  ·  Agile Practitioner</a:t>
            </a:r>
          </a:p>
        </p:txBody>
      </p:sp>
      <p:sp>
        <p:nvSpPr>
          <p:cNvPr id="13" name="Rectangle 12"/>
          <p:cNvSpPr/>
          <p:nvPr/>
        </p:nvSpPr>
        <p:spPr>
          <a:xfrm>
            <a:off x="4480560" y="1783080"/>
            <a:ext cx="693115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382512" cy="713232"/>
          </a:xfrm>
          <a:prstGeom prst="rect">
            <a:avLst/>
          </a:prstGeom>
          <a:noFill/>
        </p:spPr>
        <p:txBody>
          <a:bodyPr wrap="square" anchor="ctr" lIns="0" rIns="0" tIns="0" bIns="0">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__________________________________________________</a:t>
            </a:r>
          </a:p>
        </p:txBody>
      </p:sp>
      <p:sp>
        <p:nvSpPr>
          <p:cNvPr id="16" name="Rectangle 15"/>
          <p:cNvSpPr/>
          <p:nvPr/>
        </p:nvSpPr>
        <p:spPr>
          <a:xfrm>
            <a:off x="4480560" y="2679192"/>
            <a:ext cx="693115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382512" cy="713232"/>
          </a:xfrm>
          <a:prstGeom prst="rect">
            <a:avLst/>
          </a:prstGeom>
          <a:noFill/>
        </p:spPr>
        <p:txBody>
          <a:bodyPr wrap="square" anchor="ctr" lIns="0" rIns="0" tIns="0" bIns="0">
            <a:spAutoFit/>
          </a:bodyPr>
          <a:lstStyle/>
          <a:p>
            <a:pPr algn="l">
              <a:spcAft>
                <a:spcPts val="300"/>
              </a:spcAft>
            </a:pPr>
            <a:r>
              <a:rPr sz="1100" b="1">
                <a:solidFill>
                  <a:srgbClr val="10B981"/>
                </a:solidFill>
                <a:latin typeface="Arial"/>
              </a:rPr>
              <a:t>CERTIFICATIONS</a:t>
            </a:r>
          </a:p>
          <a:p>
            <a:pPr algn="l">
              <a:spcAft>
                <a:spcPts val="300"/>
              </a:spcAft>
            </a:pPr>
            <a:r>
              <a:rPr sz="1300" b="0">
                <a:solidFill>
                  <a:srgbClr val="E2E8F0"/>
                </a:solidFill>
                <a:latin typeface="Arial"/>
              </a:rPr>
              <a:t>__________________________________________________</a:t>
            </a:r>
          </a:p>
        </p:txBody>
      </p:sp>
      <p:sp>
        <p:nvSpPr>
          <p:cNvPr id="19" name="Rectangle 18"/>
          <p:cNvSpPr/>
          <p:nvPr/>
        </p:nvSpPr>
        <p:spPr>
          <a:xfrm>
            <a:off x="4480560" y="3575304"/>
            <a:ext cx="693115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382512" cy="713232"/>
          </a:xfrm>
          <a:prstGeom prst="rect">
            <a:avLst/>
          </a:prstGeom>
          <a:noFill/>
        </p:spPr>
        <p:txBody>
          <a:bodyPr wrap="square" anchor="ctr" lIns="0" rIns="0" tIns="0" bIns="0">
            <a:spAutoFit/>
          </a:bodyPr>
          <a:lstStyle/>
          <a:p>
            <a:pPr algn="l">
              <a:spcAft>
                <a:spcPts val="300"/>
              </a:spcAft>
            </a:pPr>
            <a:r>
              <a:rPr sz="1100" b="1">
                <a:solidFill>
                  <a:srgbClr val="7C3AED"/>
                </a:solidFill>
                <a:latin typeface="Arial"/>
              </a:rPr>
              <a:t>INDUSTRY EXPERIENCE</a:t>
            </a:r>
          </a:p>
          <a:p>
            <a:pPr algn="l">
              <a:spcAft>
                <a:spcPts val="300"/>
              </a:spcAft>
            </a:pPr>
            <a:r>
              <a:rPr sz="1300" b="0">
                <a:solidFill>
                  <a:srgbClr val="E2E8F0"/>
                </a:solidFill>
                <a:latin typeface="Arial"/>
              </a:rPr>
              <a:t>__________________________________________________</a:t>
            </a:r>
          </a:p>
        </p:txBody>
      </p:sp>
      <p:sp>
        <p:nvSpPr>
          <p:cNvPr id="22" name="Rectangle 21"/>
          <p:cNvSpPr/>
          <p:nvPr/>
        </p:nvSpPr>
        <p:spPr>
          <a:xfrm>
            <a:off x="4480560" y="4471416"/>
            <a:ext cx="693115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382512" cy="713232"/>
          </a:xfrm>
          <a:prstGeom prst="rect">
            <a:avLst/>
          </a:prstGeom>
          <a:noFill/>
        </p:spPr>
        <p:txBody>
          <a:bodyPr wrap="square" anchor="ctr" lIns="0" rIns="0" tIns="0" bIns="0">
            <a:spAutoFit/>
          </a:bodyPr>
          <a:lstStyle/>
          <a:p>
            <a:pPr algn="l">
              <a:spcAft>
                <a:spcPts val="300"/>
              </a:spcAft>
            </a:pPr>
            <a:r>
              <a:rPr sz="1100" b="1">
                <a:solidFill>
                  <a:srgbClr val="F59E0B"/>
                </a:solidFill>
                <a:latin typeface="Arial"/>
              </a:rPr>
              <a:t>AGILE EXPERIENCE</a:t>
            </a:r>
          </a:p>
          <a:p>
            <a:pPr algn="l">
              <a:spcAft>
                <a:spcPts val="300"/>
              </a:spcAft>
            </a:pPr>
            <a:r>
              <a:rPr sz="1300" b="0">
                <a:solidFill>
                  <a:srgbClr val="E2E8F0"/>
                </a:solidFill>
                <a:latin typeface="Arial"/>
              </a:rPr>
              <a:t>__________________________________________________</a:t>
            </a:r>
          </a:p>
        </p:txBody>
      </p:sp>
      <p:sp>
        <p:nvSpPr>
          <p:cNvPr id="25" name="Rectangle 24"/>
          <p:cNvSpPr/>
          <p:nvPr/>
        </p:nvSpPr>
        <p:spPr>
          <a:xfrm>
            <a:off x="4480560" y="5367528"/>
            <a:ext cx="693115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382512" cy="713232"/>
          </a:xfrm>
          <a:prstGeom prst="rect">
            <a:avLst/>
          </a:prstGeom>
          <a:noFill/>
        </p:spPr>
        <p:txBody>
          <a:bodyPr wrap="square" anchor="ctr" lIns="0" rIns="0" tIns="0" bIns="0">
            <a:spAutoFit/>
          </a:bodyPr>
          <a:lstStyle/>
          <a:p>
            <a:pPr algn="l">
              <a:spcAft>
                <a:spcPts val="300"/>
              </a:spcAft>
            </a:pPr>
            <a:r>
              <a:rPr sz="1100" b="1">
                <a:solidFill>
                  <a:srgbClr val="1F6FEB"/>
                </a:solidFill>
                <a:latin typeface="Arial"/>
              </a:rPr>
              <a:t>CONTACT</a:t>
            </a:r>
          </a:p>
          <a:p>
            <a:pPr algn="l">
              <a:spcAft>
                <a:spcPts val="300"/>
              </a:spcAft>
            </a:pPr>
            <a:r>
              <a:rPr sz="1300" b="0">
                <a:solidFill>
                  <a:srgbClr val="E2E8F0"/>
                </a:solidFill>
                <a:latin typeface="Arial"/>
              </a:rPr>
              <a:t>__________________________________________________</a:t>
            </a:r>
          </a:p>
        </p:txBody>
      </p:sp>
      <p:sp>
        <p:nvSpPr>
          <p:cNvPr id="28" name="TextBox 27"/>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9" name="TextBox 28"/>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ADMIN · YOUR TRAINER</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lIns="0" rIns="0" tIns="0" bIns="0">
            <a:spAutoFit/>
          </a:bodyPr>
          <a:lstStyle/>
          <a:p>
            <a:pPr algn="ctr">
              <a:spcAft>
                <a:spcPts val="400"/>
              </a:spcAft>
            </a:pPr>
            <a:r>
              <a:rPr sz="42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lIns="0" rIns="0" tIns="0" bIns="0">
            <a:spAutoFit/>
          </a:bodyPr>
          <a:lstStyle/>
          <a:p>
            <a:pPr algn="ctr">
              <a:spcAft>
                <a:spcPts val="400"/>
              </a:spcAft>
            </a:pPr>
            <a:r>
              <a:rPr sz="20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lIns="0" rIns="0" tIns="0" bIns="0">
            <a:spAutoFit/>
          </a:bodyPr>
          <a:lstStyle/>
          <a:p>
            <a:pPr algn="ctr">
              <a:spcAft>
                <a:spcPts val="400"/>
              </a:spcAft>
            </a:pPr>
            <a:r>
              <a:rPr sz="1300" b="0">
                <a:solidFill>
                  <a:srgbClr val="5B6372"/>
                </a:solidFill>
                <a:latin typeface="Arial"/>
              </a:rPr>
              <a:t>PhD (NUS) · MEng (NTU) · MBA · ACTA/DACE certified adult educator</a:t>
            </a:r>
          </a:p>
        </p:txBody>
      </p:sp>
      <p:sp>
        <p:nvSpPr>
          <p:cNvPr id="13" name="Rectangle 12"/>
          <p:cNvSpPr/>
          <p:nvPr/>
        </p:nvSpPr>
        <p:spPr>
          <a:xfrm>
            <a:off x="4480560" y="1783080"/>
            <a:ext cx="693115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382512" cy="713232"/>
          </a:xfrm>
          <a:prstGeom prst="rect">
            <a:avLst/>
          </a:prstGeom>
          <a:noFill/>
        </p:spPr>
        <p:txBody>
          <a:bodyPr wrap="square" anchor="ctr" lIns="0" rIns="0" tIns="0" bIns="0">
            <a:spAutoFit/>
          </a:bodyPr>
          <a:lstStyle/>
          <a:p>
            <a:pPr algn="l">
              <a:spcAft>
                <a:spcPts val="300"/>
              </a:spcAft>
            </a:pPr>
            <a:r>
              <a:rPr sz="1100" b="1">
                <a:solidFill>
                  <a:srgbClr val="1F6FEB"/>
                </a:solidFill>
                <a:latin typeface="Arial"/>
              </a:rPr>
              <a:t>ROLE</a:t>
            </a:r>
          </a:p>
          <a:p>
            <a:pPr algn="l">
              <a:spcAft>
                <a:spcPts val="300"/>
              </a:spcAft>
            </a:pPr>
            <a:r>
              <a:rPr sz="1350" b="0">
                <a:solidFill>
                  <a:srgbClr val="161B26"/>
                </a:solidFill>
                <a:latin typeface="Arial"/>
              </a:rPr>
              <a:t>Course developer and principal trainer, Tertiary Infotech Academy</a:t>
            </a:r>
          </a:p>
        </p:txBody>
      </p:sp>
      <p:sp>
        <p:nvSpPr>
          <p:cNvPr id="16" name="Rectangle 15"/>
          <p:cNvSpPr/>
          <p:nvPr/>
        </p:nvSpPr>
        <p:spPr>
          <a:xfrm>
            <a:off x="4480560" y="2679192"/>
            <a:ext cx="693115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382512" cy="713232"/>
          </a:xfrm>
          <a:prstGeom prst="rect">
            <a:avLst/>
          </a:prstGeom>
          <a:noFill/>
        </p:spPr>
        <p:txBody>
          <a:bodyPr wrap="square" anchor="ctr" lIns="0" rIns="0" tIns="0" bIns="0">
            <a:spAutoFit/>
          </a:bodyPr>
          <a:lstStyle/>
          <a:p>
            <a:pPr algn="l">
              <a:spcAft>
                <a:spcPts val="300"/>
              </a:spcAft>
            </a:pPr>
            <a:r>
              <a:rPr sz="1100" b="1">
                <a:solidFill>
                  <a:srgbClr val="10B981"/>
                </a:solidFill>
                <a:latin typeface="Arial"/>
              </a:rPr>
              <a:t>CERTIFICATIONS</a:t>
            </a:r>
          </a:p>
          <a:p>
            <a:pPr algn="l">
              <a:spcAft>
                <a:spcPts val="300"/>
              </a:spcAft>
            </a:pPr>
            <a:r>
              <a:rPr sz="1350" b="0">
                <a:solidFill>
                  <a:srgbClr val="161B26"/>
                </a:solidFill>
                <a:latin typeface="Arial"/>
              </a:rPr>
              <a:t>Enterprise Design Thinking Practitioner · Agile &amp; Scrum certified · ACTA/DACE</a:t>
            </a:r>
          </a:p>
        </p:txBody>
      </p:sp>
      <p:sp>
        <p:nvSpPr>
          <p:cNvPr id="19" name="Rectangle 18"/>
          <p:cNvSpPr/>
          <p:nvPr/>
        </p:nvSpPr>
        <p:spPr>
          <a:xfrm>
            <a:off x="4480560" y="3575304"/>
            <a:ext cx="693115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382512" cy="713232"/>
          </a:xfrm>
          <a:prstGeom prst="rect">
            <a:avLst/>
          </a:prstGeom>
          <a:noFill/>
        </p:spPr>
        <p:txBody>
          <a:bodyPr wrap="square" anchor="ctr" lIns="0" rIns="0" tIns="0" bIns="0">
            <a:spAutoFit/>
          </a:bodyPr>
          <a:lstStyle/>
          <a:p>
            <a:pPr algn="l">
              <a:spcAft>
                <a:spcPts val="300"/>
              </a:spcAft>
            </a:pPr>
            <a:r>
              <a:rPr sz="1100" b="1">
                <a:solidFill>
                  <a:srgbClr val="7C3AED"/>
                </a:solidFill>
                <a:latin typeface="Arial"/>
              </a:rPr>
              <a:t>EXPERIENCE</a:t>
            </a:r>
          </a:p>
          <a:p>
            <a:pPr algn="l">
              <a:spcAft>
                <a:spcPts val="300"/>
              </a:spcAft>
            </a:pPr>
            <a:r>
              <a:rPr sz="1350" b="0">
                <a:solidFill>
                  <a:srgbClr val="161B26"/>
                </a:solidFill>
                <a:latin typeface="Arial"/>
              </a:rPr>
              <a:t>20+ years across engineering, data analytics, AI and digital transformation</a:t>
            </a:r>
          </a:p>
        </p:txBody>
      </p:sp>
      <p:sp>
        <p:nvSpPr>
          <p:cNvPr id="22" name="Rectangle 21"/>
          <p:cNvSpPr/>
          <p:nvPr/>
        </p:nvSpPr>
        <p:spPr>
          <a:xfrm>
            <a:off x="4480560" y="4471416"/>
            <a:ext cx="693115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382512" cy="713232"/>
          </a:xfrm>
          <a:prstGeom prst="rect">
            <a:avLst/>
          </a:prstGeom>
          <a:noFill/>
        </p:spPr>
        <p:txBody>
          <a:bodyPr wrap="square" anchor="ctr" lIns="0" rIns="0" tIns="0" bIns="0">
            <a:spAutoFit/>
          </a:bodyPr>
          <a:lstStyle/>
          <a:p>
            <a:pPr algn="l">
              <a:spcAft>
                <a:spcPts val="300"/>
              </a:spcAft>
            </a:pPr>
            <a:r>
              <a:rPr sz="1100" b="1">
                <a:solidFill>
                  <a:srgbClr val="F59E0B"/>
                </a:solidFill>
                <a:latin typeface="Arial"/>
              </a:rPr>
              <a:t>TEACHES</a:t>
            </a:r>
          </a:p>
          <a:p>
            <a:pPr algn="l">
              <a:spcAft>
                <a:spcPts val="300"/>
              </a:spcAft>
            </a:pPr>
            <a:r>
              <a:rPr sz="1350" b="0">
                <a:solidFill>
                  <a:srgbClr val="161B26"/>
                </a:solidFill>
                <a:latin typeface="Arial"/>
              </a:rPr>
              <a:t>Agile project management, design thinking, problem solving and analytics</a:t>
            </a:r>
          </a:p>
        </p:txBody>
      </p:sp>
      <p:sp>
        <p:nvSpPr>
          <p:cNvPr id="25" name="Rectangle 24"/>
          <p:cNvSpPr/>
          <p:nvPr/>
        </p:nvSpPr>
        <p:spPr>
          <a:xfrm>
            <a:off x="4480560" y="5367528"/>
            <a:ext cx="693115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382512" cy="713232"/>
          </a:xfrm>
          <a:prstGeom prst="rect">
            <a:avLst/>
          </a:prstGeom>
          <a:noFill/>
        </p:spPr>
        <p:txBody>
          <a:bodyPr wrap="square" anchor="ctr" lIns="0" rIns="0" tIns="0" bIns="0">
            <a:spAutoFit/>
          </a:bodyPr>
          <a:lstStyle/>
          <a:p>
            <a:pPr algn="l">
              <a:spcAft>
                <a:spcPts val="300"/>
              </a:spcAft>
            </a:pPr>
            <a:r>
              <a:rPr sz="1100" b="1">
                <a:solidFill>
                  <a:srgbClr val="1F6FEB"/>
                </a:solidFill>
                <a:latin typeface="Arial"/>
              </a:rPr>
              <a:t>CONTACT</a:t>
            </a:r>
          </a:p>
          <a:p>
            <a:pPr algn="l">
              <a:spcAft>
                <a:spcPts val="300"/>
              </a:spcAft>
            </a:pPr>
            <a:r>
              <a:rPr sz="1350" b="0">
                <a:solidFill>
                  <a:srgbClr val="161B26"/>
                </a:solidFill>
                <a:latin typeface="Arial"/>
              </a:rPr>
              <a:t>enquiry@tertiaryinfotech.com  ·  +65 6100 0613</a:t>
            </a:r>
          </a:p>
        </p:txBody>
      </p:sp>
      <p:sp>
        <p:nvSpPr>
          <p:cNvPr id="28" name="TextBox 27"/>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9" name="TextBox 28"/>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ADMIN · HOW WE WORK TOGETHER</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Phones on silent</a:t>
            </a:r>
          </a:p>
          <a:p>
            <a:pPr algn="l">
              <a:spcAft>
                <a:spcPts val="300"/>
              </a:spcAft>
            </a:pPr>
            <a:r>
              <a:rPr sz="1200" b="0">
                <a:solidFill>
                  <a:srgbClr val="5B6372"/>
                </a:solidFill>
                <a:latin typeface="Arial"/>
              </a:rPr>
              <a:t>Set your mobile phone to silent mode for the duration of the session.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Participate actively</a:t>
            </a:r>
          </a:p>
          <a:p>
            <a:pPr algn="l">
              <a:spcAft>
                <a:spcPts val="300"/>
              </a:spcAft>
            </a:pPr>
            <a:r>
              <a:rPr sz="1200" b="0">
                <a:solidFill>
                  <a:srgbClr val="5B6372"/>
                </a:solidFill>
                <a:latin typeface="Arial"/>
              </a:rPr>
              <a:t>No question is a stupid question. This course runs on discussion.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Mutual respect</a:t>
            </a:r>
          </a:p>
          <a:p>
            <a:pPr algn="l">
              <a:spcAft>
                <a:spcPts val="300"/>
              </a:spcAft>
            </a:pPr>
            <a:r>
              <a:rPr sz="1200" b="0">
                <a:solidFill>
                  <a:srgbClr val="5B6372"/>
                </a:solidFill>
                <a:latin typeface="Arial"/>
              </a:rPr>
              <a:t>Agree to disagree. One conversation at a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Be punctual</a:t>
            </a:r>
          </a:p>
          <a:p>
            <a:pPr algn="l">
              <a:spcAft>
                <a:spcPts val="300"/>
              </a:spcAft>
            </a:pPr>
            <a:r>
              <a:rPr sz="1200" b="0">
                <a:solidFill>
                  <a:srgbClr val="5B6372"/>
                </a:solidFill>
                <a:latin typeface="Arial"/>
              </a:rPr>
              <a:t>Return from breaks on time so we finish on schedule.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Step out quietly</a:t>
            </a:r>
          </a:p>
          <a:p>
            <a:pPr algn="l">
              <a:spcAft>
                <a:spcPts val="300"/>
              </a:spcAft>
            </a:pPr>
            <a:r>
              <a:rPr sz="1200" b="0">
                <a:solidFill>
                  <a:srgbClr val="5B6372"/>
                </a:solidFill>
                <a:latin typeface="Arial"/>
              </a:rPr>
              <a:t>Exit silently for a phone call or a toilet break.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75% attendance</a:t>
            </a:r>
          </a:p>
          <a:p>
            <a:pPr algn="l">
              <a:spcAft>
                <a:spcPts val="300"/>
              </a:spcAft>
            </a:pPr>
            <a:r>
              <a:rPr sz="1200" b="0">
                <a:solidFill>
                  <a:srgbClr val="5B6372"/>
                </a:solidFill>
                <a:latin typeface="Arial"/>
              </a:rPr>
              <a:t>Required to be eligible for assessment and funding.</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ADMIN · COURSE MATERIAL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630936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630936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3544" y="1947672"/>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 y="1947672"/>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62456" y="1947672"/>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691640" y="1901952"/>
            <a:ext cx="5120640" cy="256032"/>
          </a:xfrm>
          <a:prstGeom prst="roundRect">
            <a:avLst>
              <a:gd name="adj" fmla="val 40000"/>
            </a:avLst>
          </a:prstGeom>
          <a:solidFill>
            <a:srgbClr val="FFFFFF"/>
          </a:solidFill>
          <a:ln w="177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37944" y="1901952"/>
            <a:ext cx="4937760" cy="256032"/>
          </a:xfrm>
          <a:prstGeom prst="rect">
            <a:avLst/>
          </a:prstGeom>
          <a:noFill/>
        </p:spPr>
        <p:txBody>
          <a:bodyPr wrap="square" anchor="ctr" lIns="0" rIns="0" tIns="0" bIns="0">
            <a:spAutoFit/>
          </a:bodyPr>
          <a:lstStyle/>
          <a:p>
            <a:pPr algn="l">
              <a:spcAft>
                <a:spcPts val="400"/>
              </a:spcAft>
            </a:pPr>
            <a:r>
              <a:rPr sz="1050" b="0">
                <a:solidFill>
                  <a:srgbClr val="1F6FEB"/>
                </a:solidFill>
                <a:latin typeface="Arial"/>
              </a:rPr>
              <a:t>https://lms-tms.tertiaryinfotech.com</a:t>
            </a:r>
          </a:p>
        </p:txBody>
      </p:sp>
      <p:sp>
        <p:nvSpPr>
          <p:cNvPr id="14" name="Rectangle 13"/>
          <p:cNvSpPr/>
          <p:nvPr/>
        </p:nvSpPr>
        <p:spPr>
          <a:xfrm>
            <a:off x="1051560" y="2468880"/>
            <a:ext cx="5760720" cy="5852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5852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52728" y="2468880"/>
            <a:ext cx="5486400" cy="585216"/>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Log in</a:t>
            </a:r>
            <a:r>
              <a:rPr sz="1050" b="0">
                <a:solidFill>
                  <a:srgbClr val="5B6372"/>
                </a:solidFill>
                <a:latin typeface="Arial"/>
              </a:rPr>
              <a:t>   with the email you registered with</a:t>
            </a:r>
          </a:p>
        </p:txBody>
      </p:sp>
      <p:sp>
        <p:nvSpPr>
          <p:cNvPr id="17" name="Rectangle 16"/>
          <p:cNvSpPr/>
          <p:nvPr/>
        </p:nvSpPr>
        <p:spPr>
          <a:xfrm>
            <a:off x="1051560" y="3182112"/>
            <a:ext cx="5760720" cy="5852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182112"/>
            <a:ext cx="73152" cy="5852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3182112"/>
            <a:ext cx="5486400" cy="585216"/>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My Courses</a:t>
            </a:r>
            <a:r>
              <a:rPr sz="1050" b="0">
                <a:solidFill>
                  <a:srgbClr val="5B6372"/>
                </a:solidFill>
                <a:latin typeface="Arial"/>
              </a:rPr>
              <a:t>   select Agile Project Management for Business</a:t>
            </a:r>
          </a:p>
        </p:txBody>
      </p:sp>
      <p:sp>
        <p:nvSpPr>
          <p:cNvPr id="20" name="Rectangle 19"/>
          <p:cNvSpPr/>
          <p:nvPr/>
        </p:nvSpPr>
        <p:spPr>
          <a:xfrm>
            <a:off x="1051560" y="3895344"/>
            <a:ext cx="5760720" cy="5852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895344"/>
            <a:ext cx="73152" cy="5852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52728" y="3895344"/>
            <a:ext cx="5486400" cy="585216"/>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Courseware</a:t>
            </a:r>
            <a:r>
              <a:rPr sz="1050" b="0">
                <a:solidFill>
                  <a:srgbClr val="5B6372"/>
                </a:solidFill>
                <a:latin typeface="Arial"/>
              </a:rPr>
              <a:t>   Learner Slides · Learner Guide · Activities</a:t>
            </a:r>
          </a:p>
        </p:txBody>
      </p:sp>
      <p:sp>
        <p:nvSpPr>
          <p:cNvPr id="23" name="Rectangle 22"/>
          <p:cNvSpPr/>
          <p:nvPr/>
        </p:nvSpPr>
        <p:spPr>
          <a:xfrm>
            <a:off x="1051560" y="4608576"/>
            <a:ext cx="5760720" cy="5852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608576"/>
            <a:ext cx="73152" cy="5852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52728" y="4608576"/>
            <a:ext cx="5486400" cy="585216"/>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Download</a:t>
            </a:r>
            <a:r>
              <a:rPr sz="1050" b="0">
                <a:solidFill>
                  <a:srgbClr val="5B6372"/>
                </a:solidFill>
                <a:latin typeface="Arial"/>
              </a:rPr>
              <a:t>   save the PDF to your laptop before we start</a:t>
            </a:r>
          </a:p>
        </p:txBody>
      </p:sp>
      <p:sp>
        <p:nvSpPr>
          <p:cNvPr id="26" name="Rectangle 25"/>
          <p:cNvSpPr/>
          <p:nvPr/>
        </p:nvSpPr>
        <p:spPr>
          <a:xfrm>
            <a:off x="7360920" y="1810512"/>
            <a:ext cx="4050791"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60920" y="1810512"/>
            <a:ext cx="82296" cy="640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562088" y="19476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62088" y="1947672"/>
            <a:ext cx="365760" cy="365760"/>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1</a:t>
            </a:r>
          </a:p>
        </p:txBody>
      </p:sp>
      <p:sp>
        <p:nvSpPr>
          <p:cNvPr id="30" name="TextBox 29"/>
          <p:cNvSpPr txBox="1"/>
          <p:nvPr/>
        </p:nvSpPr>
        <p:spPr>
          <a:xfrm>
            <a:off x="8037576" y="1920240"/>
            <a:ext cx="3191255" cy="457200"/>
          </a:xfrm>
          <a:prstGeom prst="rect">
            <a:avLst/>
          </a:prstGeom>
          <a:noFill/>
        </p:spPr>
        <p:txBody>
          <a:bodyPr wrap="square" anchor="ctr" lIns="0" rIns="0" tIns="0" bIns="0">
            <a:spAutoFit/>
          </a:bodyPr>
          <a:lstStyle/>
          <a:p>
            <a:pPr algn="l">
              <a:spcAft>
                <a:spcPts val="400"/>
              </a:spcAft>
            </a:pPr>
            <a:r>
              <a:rPr sz="1150" b="0">
                <a:solidFill>
                  <a:srgbClr val="161B26"/>
                </a:solidFill>
                <a:latin typeface="Arial"/>
              </a:rPr>
              <a:t>Open lms-tms.tertiaryinfotech.com in your browser</a:t>
            </a:r>
          </a:p>
        </p:txBody>
      </p:sp>
      <p:sp>
        <p:nvSpPr>
          <p:cNvPr id="31" name="Rectangle 30"/>
          <p:cNvSpPr/>
          <p:nvPr/>
        </p:nvSpPr>
        <p:spPr>
          <a:xfrm>
            <a:off x="7360920" y="2633472"/>
            <a:ext cx="4050791"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60920" y="2633472"/>
            <a:ext cx="82296"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62088" y="277063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62088" y="2770632"/>
            <a:ext cx="365760" cy="365760"/>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2</a:t>
            </a:r>
          </a:p>
        </p:txBody>
      </p:sp>
      <p:sp>
        <p:nvSpPr>
          <p:cNvPr id="35" name="TextBox 34"/>
          <p:cNvSpPr txBox="1"/>
          <p:nvPr/>
        </p:nvSpPr>
        <p:spPr>
          <a:xfrm>
            <a:off x="8037576" y="2743200"/>
            <a:ext cx="3191255" cy="457200"/>
          </a:xfrm>
          <a:prstGeom prst="rect">
            <a:avLst/>
          </a:prstGeom>
          <a:noFill/>
        </p:spPr>
        <p:txBody>
          <a:bodyPr wrap="square" anchor="ctr" lIns="0" rIns="0" tIns="0" bIns="0">
            <a:spAutoFit/>
          </a:bodyPr>
          <a:lstStyle/>
          <a:p>
            <a:pPr algn="l">
              <a:spcAft>
                <a:spcPts val="400"/>
              </a:spcAft>
            </a:pPr>
            <a:r>
              <a:rPr sz="1150" b="0">
                <a:solidFill>
                  <a:srgbClr val="161B26"/>
                </a:solidFill>
                <a:latin typeface="Arial"/>
              </a:rPr>
              <a:t>Log in with your registered email address</a:t>
            </a:r>
          </a:p>
        </p:txBody>
      </p:sp>
      <p:sp>
        <p:nvSpPr>
          <p:cNvPr id="36" name="Rectangle 35"/>
          <p:cNvSpPr/>
          <p:nvPr/>
        </p:nvSpPr>
        <p:spPr>
          <a:xfrm>
            <a:off x="7360920" y="3456432"/>
            <a:ext cx="4050791"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60920" y="3456432"/>
            <a:ext cx="82296" cy="640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562088" y="3593592"/>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62088" y="3593592"/>
            <a:ext cx="365760" cy="365760"/>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3</a:t>
            </a:r>
          </a:p>
        </p:txBody>
      </p:sp>
      <p:sp>
        <p:nvSpPr>
          <p:cNvPr id="40" name="TextBox 39"/>
          <p:cNvSpPr txBox="1"/>
          <p:nvPr/>
        </p:nvSpPr>
        <p:spPr>
          <a:xfrm>
            <a:off x="8037576" y="3566160"/>
            <a:ext cx="3191255" cy="457200"/>
          </a:xfrm>
          <a:prstGeom prst="rect">
            <a:avLst/>
          </a:prstGeom>
          <a:noFill/>
        </p:spPr>
        <p:txBody>
          <a:bodyPr wrap="square" anchor="ctr" lIns="0" rIns="0" tIns="0" bIns="0">
            <a:spAutoFit/>
          </a:bodyPr>
          <a:lstStyle/>
          <a:p>
            <a:pPr algn="l">
              <a:spcAft>
                <a:spcPts val="400"/>
              </a:spcAft>
            </a:pPr>
            <a:r>
              <a:rPr sz="1150" b="0">
                <a:solidFill>
                  <a:srgbClr val="161B26"/>
                </a:solidFill>
                <a:latin typeface="Arial"/>
              </a:rPr>
              <a:t>Open this course under 'My Courses'</a:t>
            </a:r>
          </a:p>
        </p:txBody>
      </p:sp>
      <p:sp>
        <p:nvSpPr>
          <p:cNvPr id="41" name="Rectangle 40"/>
          <p:cNvSpPr/>
          <p:nvPr/>
        </p:nvSpPr>
        <p:spPr>
          <a:xfrm>
            <a:off x="7360920" y="4279392"/>
            <a:ext cx="4050791"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60920" y="4279392"/>
            <a:ext cx="82296"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562088" y="441655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62088" y="4416552"/>
            <a:ext cx="365760" cy="365760"/>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4</a:t>
            </a:r>
          </a:p>
        </p:txBody>
      </p:sp>
      <p:sp>
        <p:nvSpPr>
          <p:cNvPr id="45" name="TextBox 44"/>
          <p:cNvSpPr txBox="1"/>
          <p:nvPr/>
        </p:nvSpPr>
        <p:spPr>
          <a:xfrm>
            <a:off x="8037576" y="4389120"/>
            <a:ext cx="3191255" cy="457200"/>
          </a:xfrm>
          <a:prstGeom prst="rect">
            <a:avLst/>
          </a:prstGeom>
          <a:noFill/>
        </p:spPr>
        <p:txBody>
          <a:bodyPr wrap="square" anchor="ctr" lIns="0" rIns="0" tIns="0" bIns="0">
            <a:spAutoFit/>
          </a:bodyPr>
          <a:lstStyle/>
          <a:p>
            <a:pPr algn="l">
              <a:spcAft>
                <a:spcPts val="400"/>
              </a:spcAft>
            </a:pPr>
            <a:r>
              <a:rPr sz="1150" b="0">
                <a:solidFill>
                  <a:srgbClr val="161B26"/>
                </a:solidFill>
                <a:latin typeface="Arial"/>
              </a:rPr>
              <a:t>Download the Learner Guide and slides</a:t>
            </a:r>
          </a:p>
        </p:txBody>
      </p:sp>
      <p:sp>
        <p:nvSpPr>
          <p:cNvPr id="46" name="Rectangle 45"/>
          <p:cNvSpPr/>
          <p:nvPr/>
        </p:nvSpPr>
        <p:spPr>
          <a:xfrm>
            <a:off x="7360920" y="5102352"/>
            <a:ext cx="4050791"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60920" y="5102352"/>
            <a:ext cx="82296" cy="640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562088" y="523951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562088" y="5239512"/>
            <a:ext cx="365760" cy="365760"/>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5</a:t>
            </a:r>
          </a:p>
        </p:txBody>
      </p:sp>
      <p:sp>
        <p:nvSpPr>
          <p:cNvPr id="50" name="TextBox 49"/>
          <p:cNvSpPr txBox="1"/>
          <p:nvPr/>
        </p:nvSpPr>
        <p:spPr>
          <a:xfrm>
            <a:off x="8037576" y="5212080"/>
            <a:ext cx="3191255" cy="457200"/>
          </a:xfrm>
          <a:prstGeom prst="rect">
            <a:avLst/>
          </a:prstGeom>
          <a:noFill/>
        </p:spPr>
        <p:txBody>
          <a:bodyPr wrap="square" anchor="ctr" lIns="0" rIns="0" tIns="0" bIns="0">
            <a:spAutoFit/>
          </a:bodyPr>
          <a:lstStyle/>
          <a:p>
            <a:pPr algn="l">
              <a:spcAft>
                <a:spcPts val="400"/>
              </a:spcAft>
            </a:pPr>
            <a:r>
              <a:rPr sz="1150" b="0">
                <a:solidFill>
                  <a:srgbClr val="161B26"/>
                </a:solidFill>
                <a:latin typeface="Arial"/>
              </a:rPr>
              <a:t>Keep them open — the assessment is open book</a:t>
            </a:r>
          </a:p>
        </p:txBody>
      </p:sp>
      <p:sp>
        <p:nvSpPr>
          <p:cNvPr id="51" name="Rectangle 50"/>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870448"/>
            <a:ext cx="9144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51560" y="5870448"/>
            <a:ext cx="10241280" cy="457200"/>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Everything you need for the activities and the open-book assessment is in the Learner Guide.</a:t>
            </a:r>
          </a:p>
        </p:txBody>
      </p:sp>
      <p:sp>
        <p:nvSpPr>
          <p:cNvPr id="54" name="TextBox 53"/>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55" name="TextBox 54"/>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56" name="TextBox 55"/>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BY THE END OF THIS COURSE YOU WILL BE ABLE TO</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1133856"/>
          </a:xfrm>
          <a:prstGeom prst="rect">
            <a:avLst/>
          </a:prstGeom>
          <a:noFill/>
        </p:spPr>
        <p:txBody>
          <a:bodyPr wrap="square" anchor="ctr" lIns="0" rIns="0" tIns="0" bIns="0">
            <a:spAutoFit/>
          </a:bodyPr>
          <a:lstStyle/>
          <a:p>
            <a:pPr algn="l">
              <a:spcAft>
                <a:spcPts val="300"/>
              </a:spcAft>
            </a:pPr>
            <a:r>
              <a:rPr sz="1600" b="1">
                <a:solidFill>
                  <a:srgbClr val="161B26"/>
                </a:solidFill>
                <a:latin typeface="Arial"/>
              </a:rPr>
              <a:t>LO1 — Adopt the Agile mindset</a:t>
            </a:r>
          </a:p>
          <a:p>
            <a:pPr algn="l">
              <a:spcAft>
                <a:spcPts val="300"/>
              </a:spcAft>
            </a:pPr>
            <a:r>
              <a:rPr sz="1300" b="0">
                <a:solidFill>
                  <a:srgbClr val="5B6372"/>
                </a:solidFill>
                <a:latin typeface="Arial"/>
              </a:rPr>
              <a:t>Adopt a new Agile mindset for project management, and know when Agile fits and when it does not.</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71246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429000"/>
            <a:ext cx="9482328" cy="1133856"/>
          </a:xfrm>
          <a:prstGeom prst="rect">
            <a:avLst/>
          </a:prstGeom>
          <a:noFill/>
        </p:spPr>
        <p:txBody>
          <a:bodyPr wrap="square" anchor="ctr" lIns="0" rIns="0" tIns="0" bIns="0">
            <a:spAutoFit/>
          </a:bodyPr>
          <a:lstStyle/>
          <a:p>
            <a:pPr algn="l">
              <a:spcAft>
                <a:spcPts val="300"/>
              </a:spcAft>
            </a:pPr>
            <a:r>
              <a:rPr sz="1600" b="1">
                <a:solidFill>
                  <a:srgbClr val="161B26"/>
                </a:solidFill>
                <a:latin typeface="Arial"/>
              </a:rPr>
              <a:t>LO2 — Share and implement</a:t>
            </a:r>
          </a:p>
          <a:p>
            <a:pPr algn="l">
              <a:spcAft>
                <a:spcPts val="300"/>
              </a:spcAft>
            </a:pPr>
            <a:r>
              <a:rPr sz="1300" b="0">
                <a:solidFill>
                  <a:srgbClr val="5B6372"/>
                </a:solidFill>
                <a:latin typeface="Arial"/>
              </a:rPr>
              <a:t>Share and implement Agile practices within your teams — the Manifesto, Scrum, Lean and Kanban.</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524865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965192"/>
            <a:ext cx="9482328" cy="1133856"/>
          </a:xfrm>
          <a:prstGeom prst="rect">
            <a:avLst/>
          </a:prstGeom>
          <a:noFill/>
        </p:spPr>
        <p:txBody>
          <a:bodyPr wrap="square" anchor="ctr" lIns="0" rIns="0" tIns="0" bIns="0">
            <a:spAutoFit/>
          </a:bodyPr>
          <a:lstStyle/>
          <a:p>
            <a:pPr algn="l">
              <a:spcAft>
                <a:spcPts val="300"/>
              </a:spcAft>
            </a:pPr>
            <a:r>
              <a:rPr sz="1600" b="1">
                <a:solidFill>
                  <a:srgbClr val="161B26"/>
                </a:solidFill>
                <a:latin typeface="Arial"/>
              </a:rPr>
              <a:t>LO3 — Build, execute and track</a:t>
            </a:r>
          </a:p>
          <a:p>
            <a:pPr algn="l">
              <a:spcAft>
                <a:spcPts val="300"/>
              </a:spcAft>
            </a:pPr>
            <a:r>
              <a:rPr sz="1300" b="0">
                <a:solidFill>
                  <a:srgbClr val="5B6372"/>
                </a:solidFill>
                <a:latin typeface="Arial"/>
              </a:rPr>
              <a:t>Build an Agile team to execute and track project performance with real metrics.</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TSC: Business Agility  ·  ICT-BIN-4038-1.1</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Skills Framework — TSC Abilities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1810512"/>
            <a:ext cx="2545506"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Code</a:t>
            </a:r>
          </a:p>
        </p:txBody>
      </p:sp>
      <p:sp>
        <p:nvSpPr>
          <p:cNvPr id="9" name="TextBox 8"/>
          <p:cNvSpPr txBox="1"/>
          <p:nvPr/>
        </p:nvSpPr>
        <p:spPr>
          <a:xfrm>
            <a:off x="3688506" y="1810512"/>
            <a:ext cx="3715298"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Ability</a:t>
            </a:r>
          </a:p>
        </p:txBody>
      </p:sp>
      <p:sp>
        <p:nvSpPr>
          <p:cNvPr id="10" name="TextBox 9"/>
          <p:cNvSpPr txBox="1"/>
          <p:nvPr/>
        </p:nvSpPr>
        <p:spPr>
          <a:xfrm>
            <a:off x="7623260" y="1810512"/>
            <a:ext cx="3715298"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Where it is taught</a:t>
            </a:r>
          </a:p>
        </p:txBody>
      </p:sp>
      <p:sp>
        <p:nvSpPr>
          <p:cNvPr id="11" name="Rectangle 10"/>
          <p:cNvSpPr/>
          <p:nvPr/>
        </p:nvSpPr>
        <p:spPr>
          <a:xfrm>
            <a:off x="777240" y="2267712"/>
            <a:ext cx="10634472" cy="45328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2267712"/>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A1</a:t>
            </a:r>
          </a:p>
        </p:txBody>
      </p:sp>
      <p:sp>
        <p:nvSpPr>
          <p:cNvPr id="13" name="TextBox 12"/>
          <p:cNvSpPr txBox="1"/>
          <p:nvPr/>
        </p:nvSpPr>
        <p:spPr>
          <a:xfrm>
            <a:off x="3688506" y="2267712"/>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Share information actively within and across teams</a:t>
            </a:r>
          </a:p>
        </p:txBody>
      </p:sp>
      <p:sp>
        <p:nvSpPr>
          <p:cNvPr id="14" name="TextBox 13"/>
          <p:cNvSpPr txBox="1"/>
          <p:nvPr/>
        </p:nvSpPr>
        <p:spPr>
          <a:xfrm>
            <a:off x="7623260" y="2267712"/>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2 · Activity 4</a:t>
            </a:r>
          </a:p>
        </p:txBody>
      </p:sp>
      <p:sp>
        <p:nvSpPr>
          <p:cNvPr id="15" name="Rectangle 14"/>
          <p:cNvSpPr/>
          <p:nvPr/>
        </p:nvSpPr>
        <p:spPr>
          <a:xfrm>
            <a:off x="777240" y="2720993"/>
            <a:ext cx="10634472" cy="453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 y="2720993"/>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A2</a:t>
            </a:r>
          </a:p>
        </p:txBody>
      </p:sp>
      <p:sp>
        <p:nvSpPr>
          <p:cNvPr id="17" name="TextBox 16"/>
          <p:cNvSpPr txBox="1"/>
          <p:nvPr/>
        </p:nvSpPr>
        <p:spPr>
          <a:xfrm>
            <a:off x="3688506" y="2720993"/>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Organise work in alignment with operational priorities</a:t>
            </a:r>
          </a:p>
        </p:txBody>
      </p:sp>
      <p:sp>
        <p:nvSpPr>
          <p:cNvPr id="18" name="TextBox 17"/>
          <p:cNvSpPr txBox="1"/>
          <p:nvPr/>
        </p:nvSpPr>
        <p:spPr>
          <a:xfrm>
            <a:off x="7623260" y="2720993"/>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1–2 · Activities 2, 4</a:t>
            </a:r>
          </a:p>
        </p:txBody>
      </p:sp>
      <p:sp>
        <p:nvSpPr>
          <p:cNvPr id="19" name="Rectangle 18"/>
          <p:cNvSpPr/>
          <p:nvPr/>
        </p:nvSpPr>
        <p:spPr>
          <a:xfrm>
            <a:off x="777240" y="3174274"/>
            <a:ext cx="10634472" cy="45328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 y="3174274"/>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A3</a:t>
            </a:r>
          </a:p>
        </p:txBody>
      </p:sp>
      <p:sp>
        <p:nvSpPr>
          <p:cNvPr id="21" name="TextBox 20"/>
          <p:cNvSpPr txBox="1"/>
          <p:nvPr/>
        </p:nvSpPr>
        <p:spPr>
          <a:xfrm>
            <a:off x="3688506" y="3174274"/>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Implement Agile or lean practices to reduce waste and defects</a:t>
            </a:r>
          </a:p>
        </p:txBody>
      </p:sp>
      <p:sp>
        <p:nvSpPr>
          <p:cNvPr id="22" name="TextBox 21"/>
          <p:cNvSpPr txBox="1"/>
          <p:nvPr/>
        </p:nvSpPr>
        <p:spPr>
          <a:xfrm>
            <a:off x="7623260" y="3174274"/>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2–3 · Activities 3, 7</a:t>
            </a:r>
          </a:p>
        </p:txBody>
      </p:sp>
      <p:sp>
        <p:nvSpPr>
          <p:cNvPr id="23" name="Rectangle 22"/>
          <p:cNvSpPr/>
          <p:nvPr/>
        </p:nvSpPr>
        <p:spPr>
          <a:xfrm>
            <a:off x="777240" y="3627555"/>
            <a:ext cx="10634472" cy="453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3627555"/>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A4</a:t>
            </a:r>
          </a:p>
        </p:txBody>
      </p:sp>
      <p:sp>
        <p:nvSpPr>
          <p:cNvPr id="25" name="TextBox 24"/>
          <p:cNvSpPr txBox="1"/>
          <p:nvPr/>
        </p:nvSpPr>
        <p:spPr>
          <a:xfrm>
            <a:off x="3688506" y="3627555"/>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Measure progress against targets on a regular basis</a:t>
            </a:r>
          </a:p>
        </p:txBody>
      </p:sp>
      <p:sp>
        <p:nvSpPr>
          <p:cNvPr id="26" name="TextBox 25"/>
          <p:cNvSpPr txBox="1"/>
          <p:nvPr/>
        </p:nvSpPr>
        <p:spPr>
          <a:xfrm>
            <a:off x="7623260" y="3627555"/>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3 · Activities 5, 7, 8</a:t>
            </a:r>
          </a:p>
        </p:txBody>
      </p:sp>
      <p:sp>
        <p:nvSpPr>
          <p:cNvPr id="27" name="Rectangle 26"/>
          <p:cNvSpPr/>
          <p:nvPr/>
        </p:nvSpPr>
        <p:spPr>
          <a:xfrm>
            <a:off x="777240" y="4080836"/>
            <a:ext cx="10634472" cy="45328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 y="4080836"/>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A5</a:t>
            </a:r>
          </a:p>
        </p:txBody>
      </p:sp>
      <p:sp>
        <p:nvSpPr>
          <p:cNvPr id="29" name="TextBox 28"/>
          <p:cNvSpPr txBox="1"/>
          <p:nvPr/>
        </p:nvSpPr>
        <p:spPr>
          <a:xfrm>
            <a:off x="3688506" y="4080836"/>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Experiment with new ideas, products or services</a:t>
            </a:r>
          </a:p>
        </p:txBody>
      </p:sp>
      <p:sp>
        <p:nvSpPr>
          <p:cNvPr id="30" name="TextBox 29"/>
          <p:cNvSpPr txBox="1"/>
          <p:nvPr/>
        </p:nvSpPr>
        <p:spPr>
          <a:xfrm>
            <a:off x="7623260" y="4080836"/>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1 · Activity 1</a:t>
            </a:r>
          </a:p>
        </p:txBody>
      </p:sp>
      <p:sp>
        <p:nvSpPr>
          <p:cNvPr id="31" name="Rectangle 30"/>
          <p:cNvSpPr/>
          <p:nvPr/>
        </p:nvSpPr>
        <p:spPr>
          <a:xfrm>
            <a:off x="777240" y="4534117"/>
            <a:ext cx="10634472" cy="453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 y="4534117"/>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A6</a:t>
            </a:r>
          </a:p>
        </p:txBody>
      </p:sp>
      <p:sp>
        <p:nvSpPr>
          <p:cNvPr id="33" name="TextBox 32"/>
          <p:cNvSpPr txBox="1"/>
          <p:nvPr/>
        </p:nvSpPr>
        <p:spPr>
          <a:xfrm>
            <a:off x="3688506" y="4534117"/>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Assess work performance and quality for continuous improvement</a:t>
            </a:r>
          </a:p>
        </p:txBody>
      </p:sp>
      <p:sp>
        <p:nvSpPr>
          <p:cNvPr id="34" name="TextBox 33"/>
          <p:cNvSpPr txBox="1"/>
          <p:nvPr/>
        </p:nvSpPr>
        <p:spPr>
          <a:xfrm>
            <a:off x="7623260" y="4534117"/>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3 · Activities 6, 7, 8</a:t>
            </a:r>
          </a:p>
        </p:txBody>
      </p:sp>
      <p:sp>
        <p:nvSpPr>
          <p:cNvPr id="35" name="Rectangle 34"/>
          <p:cNvSpPr/>
          <p:nvPr/>
        </p:nvSpPr>
        <p:spPr>
          <a:xfrm>
            <a:off x="777240" y="4987398"/>
            <a:ext cx="10634472" cy="45328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3544" y="4987398"/>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A7</a:t>
            </a:r>
          </a:p>
        </p:txBody>
      </p:sp>
      <p:sp>
        <p:nvSpPr>
          <p:cNvPr id="37" name="TextBox 36"/>
          <p:cNvSpPr txBox="1"/>
          <p:nvPr/>
        </p:nvSpPr>
        <p:spPr>
          <a:xfrm>
            <a:off x="3688506" y="4987398"/>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Manage responsibilities and take ownership of outcomes</a:t>
            </a:r>
          </a:p>
        </p:txBody>
      </p:sp>
      <p:sp>
        <p:nvSpPr>
          <p:cNvPr id="38" name="TextBox 37"/>
          <p:cNvSpPr txBox="1"/>
          <p:nvPr/>
        </p:nvSpPr>
        <p:spPr>
          <a:xfrm>
            <a:off x="7623260" y="4987398"/>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3 · Activities 5, 6, 8</a:t>
            </a:r>
          </a:p>
        </p:txBody>
      </p:sp>
      <p:sp>
        <p:nvSpPr>
          <p:cNvPr id="39" name="Rectangle 38"/>
          <p:cNvSpPr/>
          <p:nvPr/>
        </p:nvSpPr>
        <p:spPr>
          <a:xfrm>
            <a:off x="777240" y="5605271"/>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605271"/>
            <a:ext cx="91440" cy="6217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5605271"/>
            <a:ext cx="10177272" cy="621792"/>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Every ability is taught AND practised in a named activity — nothing is assessed that is not taught.</a:t>
            </a:r>
          </a:p>
        </p:txBody>
      </p:sp>
      <p:sp>
        <p:nvSpPr>
          <p:cNvPr id="42" name="TextBox 4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3" name="TextBox 4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TSC: Business Agility  ·  ICT-BIN-4038-1.1</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Skills Framework — TSC Knowledge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1810512"/>
            <a:ext cx="2545506"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Code</a:t>
            </a:r>
          </a:p>
        </p:txBody>
      </p:sp>
      <p:sp>
        <p:nvSpPr>
          <p:cNvPr id="9" name="TextBox 8"/>
          <p:cNvSpPr txBox="1"/>
          <p:nvPr/>
        </p:nvSpPr>
        <p:spPr>
          <a:xfrm>
            <a:off x="3688506" y="1810512"/>
            <a:ext cx="3715298"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Knowledge</a:t>
            </a:r>
          </a:p>
        </p:txBody>
      </p:sp>
      <p:sp>
        <p:nvSpPr>
          <p:cNvPr id="10" name="TextBox 9"/>
          <p:cNvSpPr txBox="1"/>
          <p:nvPr/>
        </p:nvSpPr>
        <p:spPr>
          <a:xfrm>
            <a:off x="7623260" y="1810512"/>
            <a:ext cx="3715298"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Where it is taught</a:t>
            </a:r>
          </a:p>
        </p:txBody>
      </p:sp>
      <p:sp>
        <p:nvSpPr>
          <p:cNvPr id="11" name="Rectangle 10"/>
          <p:cNvSpPr/>
          <p:nvPr/>
        </p:nvSpPr>
        <p:spPr>
          <a:xfrm>
            <a:off x="777240" y="2267712"/>
            <a:ext cx="10634472" cy="45328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2267712"/>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K1</a:t>
            </a:r>
          </a:p>
        </p:txBody>
      </p:sp>
      <p:sp>
        <p:nvSpPr>
          <p:cNvPr id="13" name="TextBox 12"/>
          <p:cNvSpPr txBox="1"/>
          <p:nvPr/>
        </p:nvSpPr>
        <p:spPr>
          <a:xfrm>
            <a:off x="3688506" y="2267712"/>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Methods to analyse current and future business operating landscapes</a:t>
            </a:r>
          </a:p>
        </p:txBody>
      </p:sp>
      <p:sp>
        <p:nvSpPr>
          <p:cNvPr id="14" name="TextBox 13"/>
          <p:cNvSpPr txBox="1"/>
          <p:nvPr/>
        </p:nvSpPr>
        <p:spPr>
          <a:xfrm>
            <a:off x="7623260" y="2267712"/>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1 · Activity 2</a:t>
            </a:r>
          </a:p>
        </p:txBody>
      </p:sp>
      <p:sp>
        <p:nvSpPr>
          <p:cNvPr id="15" name="Rectangle 14"/>
          <p:cNvSpPr/>
          <p:nvPr/>
        </p:nvSpPr>
        <p:spPr>
          <a:xfrm>
            <a:off x="777240" y="2720993"/>
            <a:ext cx="10634472" cy="453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 y="2720993"/>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K2</a:t>
            </a:r>
          </a:p>
        </p:txBody>
      </p:sp>
      <p:sp>
        <p:nvSpPr>
          <p:cNvPr id="17" name="TextBox 16"/>
          <p:cNvSpPr txBox="1"/>
          <p:nvPr/>
        </p:nvSpPr>
        <p:spPr>
          <a:xfrm>
            <a:off x="3688506" y="2720993"/>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Methods to analyse current and future customer needs and preferences</a:t>
            </a:r>
          </a:p>
        </p:txBody>
      </p:sp>
      <p:sp>
        <p:nvSpPr>
          <p:cNvPr id="18" name="TextBox 17"/>
          <p:cNvSpPr txBox="1"/>
          <p:nvPr/>
        </p:nvSpPr>
        <p:spPr>
          <a:xfrm>
            <a:off x="7623260" y="2720993"/>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1 · Activity 1</a:t>
            </a:r>
          </a:p>
        </p:txBody>
      </p:sp>
      <p:sp>
        <p:nvSpPr>
          <p:cNvPr id="19" name="Rectangle 18"/>
          <p:cNvSpPr/>
          <p:nvPr/>
        </p:nvSpPr>
        <p:spPr>
          <a:xfrm>
            <a:off x="777240" y="3174274"/>
            <a:ext cx="10634472" cy="45328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 y="3174274"/>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K3</a:t>
            </a:r>
          </a:p>
        </p:txBody>
      </p:sp>
      <p:sp>
        <p:nvSpPr>
          <p:cNvPr id="21" name="TextBox 20"/>
          <p:cNvSpPr txBox="1"/>
          <p:nvPr/>
        </p:nvSpPr>
        <p:spPr>
          <a:xfrm>
            <a:off x="3688506" y="3174274"/>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Organisational policies, processes and standards</a:t>
            </a:r>
          </a:p>
        </p:txBody>
      </p:sp>
      <p:sp>
        <p:nvSpPr>
          <p:cNvPr id="22" name="TextBox 21"/>
          <p:cNvSpPr txBox="1"/>
          <p:nvPr/>
        </p:nvSpPr>
        <p:spPr>
          <a:xfrm>
            <a:off x="7623260" y="3174274"/>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1 · Activity 2</a:t>
            </a:r>
          </a:p>
        </p:txBody>
      </p:sp>
      <p:sp>
        <p:nvSpPr>
          <p:cNvPr id="23" name="Rectangle 22"/>
          <p:cNvSpPr/>
          <p:nvPr/>
        </p:nvSpPr>
        <p:spPr>
          <a:xfrm>
            <a:off x="777240" y="3627555"/>
            <a:ext cx="10634472" cy="453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3627555"/>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K4</a:t>
            </a:r>
          </a:p>
        </p:txBody>
      </p:sp>
      <p:sp>
        <p:nvSpPr>
          <p:cNvPr id="25" name="TextBox 24"/>
          <p:cNvSpPr txBox="1"/>
          <p:nvPr/>
        </p:nvSpPr>
        <p:spPr>
          <a:xfrm>
            <a:off x="3688506" y="3627555"/>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Types of change management methodologies, tools and practices</a:t>
            </a:r>
          </a:p>
        </p:txBody>
      </p:sp>
      <p:sp>
        <p:nvSpPr>
          <p:cNvPr id="26" name="TextBox 25"/>
          <p:cNvSpPr txBox="1"/>
          <p:nvPr/>
        </p:nvSpPr>
        <p:spPr>
          <a:xfrm>
            <a:off x="7623260" y="3627555"/>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2</a:t>
            </a:r>
          </a:p>
        </p:txBody>
      </p:sp>
      <p:sp>
        <p:nvSpPr>
          <p:cNvPr id="27" name="Rectangle 26"/>
          <p:cNvSpPr/>
          <p:nvPr/>
        </p:nvSpPr>
        <p:spPr>
          <a:xfrm>
            <a:off x="777240" y="4080836"/>
            <a:ext cx="10634472" cy="45328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 y="4080836"/>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K5</a:t>
            </a:r>
          </a:p>
        </p:txBody>
      </p:sp>
      <p:sp>
        <p:nvSpPr>
          <p:cNvPr id="29" name="TextBox 28"/>
          <p:cNvSpPr txBox="1"/>
          <p:nvPr/>
        </p:nvSpPr>
        <p:spPr>
          <a:xfrm>
            <a:off x="3688506" y="4080836"/>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Types of team composition and formation models</a:t>
            </a:r>
          </a:p>
        </p:txBody>
      </p:sp>
      <p:sp>
        <p:nvSpPr>
          <p:cNvPr id="30" name="TextBox 29"/>
          <p:cNvSpPr txBox="1"/>
          <p:nvPr/>
        </p:nvSpPr>
        <p:spPr>
          <a:xfrm>
            <a:off x="7623260" y="4080836"/>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3 · Activities 4, 5</a:t>
            </a:r>
          </a:p>
        </p:txBody>
      </p:sp>
      <p:sp>
        <p:nvSpPr>
          <p:cNvPr id="31" name="Rectangle 30"/>
          <p:cNvSpPr/>
          <p:nvPr/>
        </p:nvSpPr>
        <p:spPr>
          <a:xfrm>
            <a:off x="777240" y="4534117"/>
            <a:ext cx="10634472" cy="453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 y="4534117"/>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K6</a:t>
            </a:r>
          </a:p>
        </p:txBody>
      </p:sp>
      <p:sp>
        <p:nvSpPr>
          <p:cNvPr id="33" name="TextBox 32"/>
          <p:cNvSpPr txBox="1"/>
          <p:nvPr/>
        </p:nvSpPr>
        <p:spPr>
          <a:xfrm>
            <a:off x="3688506" y="4534117"/>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Values and principles of Agile methodologies</a:t>
            </a:r>
          </a:p>
        </p:txBody>
      </p:sp>
      <p:sp>
        <p:nvSpPr>
          <p:cNvPr id="34" name="TextBox 33"/>
          <p:cNvSpPr txBox="1"/>
          <p:nvPr/>
        </p:nvSpPr>
        <p:spPr>
          <a:xfrm>
            <a:off x="7623260" y="4534117"/>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2 · Activity 3</a:t>
            </a:r>
          </a:p>
        </p:txBody>
      </p:sp>
      <p:sp>
        <p:nvSpPr>
          <p:cNvPr id="35" name="Rectangle 34"/>
          <p:cNvSpPr/>
          <p:nvPr/>
        </p:nvSpPr>
        <p:spPr>
          <a:xfrm>
            <a:off x="777240" y="4987398"/>
            <a:ext cx="10634472" cy="45328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3544" y="4987398"/>
            <a:ext cx="2545506" cy="45328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K7</a:t>
            </a:r>
          </a:p>
        </p:txBody>
      </p:sp>
      <p:sp>
        <p:nvSpPr>
          <p:cNvPr id="37" name="TextBox 36"/>
          <p:cNvSpPr txBox="1"/>
          <p:nvPr/>
        </p:nvSpPr>
        <p:spPr>
          <a:xfrm>
            <a:off x="3688506" y="4987398"/>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Types of Agile methodologies and practices</a:t>
            </a:r>
          </a:p>
        </p:txBody>
      </p:sp>
      <p:sp>
        <p:nvSpPr>
          <p:cNvPr id="38" name="TextBox 37"/>
          <p:cNvSpPr txBox="1"/>
          <p:nvPr/>
        </p:nvSpPr>
        <p:spPr>
          <a:xfrm>
            <a:off x="7623260" y="4987398"/>
            <a:ext cx="3715298" cy="45328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Topic 2 · Activity 3</a:t>
            </a:r>
          </a:p>
        </p:txBody>
      </p:sp>
      <p:sp>
        <p:nvSpPr>
          <p:cNvPr id="39" name="Rectangle 38"/>
          <p:cNvSpPr/>
          <p:nvPr/>
        </p:nvSpPr>
        <p:spPr>
          <a:xfrm>
            <a:off x="777240" y="5605271"/>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605271"/>
            <a:ext cx="91440" cy="6217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5605271"/>
            <a:ext cx="10177272" cy="621792"/>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Every knowledge code is taught in a topic AND tested by one question in the Written Assessment.</a:t>
            </a:r>
          </a:p>
        </p:txBody>
      </p:sp>
      <p:sp>
        <p:nvSpPr>
          <p:cNvPr id="42" name="TextBox 4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3" name="TextBox 4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DAY 1 · THE AGILE MINDSET AND THE ESSENTIALS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Lesson Plan — Day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69033"/>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69033"/>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519379"/>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09:30  Welcome &amp; admin</a:t>
            </a:r>
          </a:p>
          <a:p>
            <a:pPr algn="l">
              <a:spcAft>
                <a:spcPts val="300"/>
              </a:spcAft>
            </a:pPr>
            <a:r>
              <a:rPr sz="1150" b="0">
                <a:solidFill>
                  <a:srgbClr val="5B6372"/>
                </a:solidFill>
                <a:latin typeface="Arial"/>
              </a:rPr>
              <a:t>Digital attendance (AM) · introductions · ground rules · outcomes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074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07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814523"/>
            <a:ext cx="9482328" cy="519379"/>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11:00  Topic 1</a:t>
            </a:r>
          </a:p>
          <a:p>
            <a:pPr algn="l">
              <a:spcAft>
                <a:spcPts val="300"/>
              </a:spcAft>
            </a:pPr>
            <a:r>
              <a:rPr sz="1150" b="0">
                <a:solidFill>
                  <a:srgbClr val="5B6372"/>
                </a:solidFill>
                <a:latin typeface="Arial"/>
              </a:rPr>
              <a:t>Introduction to Agile Project Management (Activities 1–2)</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3"/>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3"/>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36238"/>
            <a:ext cx="9482328" cy="519379"/>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13:00  Lunch break</a:t>
            </a:r>
          </a:p>
          <a:p>
            <a:pPr algn="l">
              <a:spcAft>
                <a:spcPts val="300"/>
              </a:spcAft>
            </a:pPr>
            <a:r>
              <a:rPr sz="1150" b="0">
                <a:solidFill>
                  <a:srgbClr val="5B6372"/>
                </a:solidFill>
                <a:latin typeface="Arial"/>
              </a:rPr>
              <a:t>1 hour · digital attendance (PM) on return</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417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417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57953"/>
            <a:ext cx="9482328" cy="519379"/>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16:45  Topic 2</a:t>
            </a:r>
          </a:p>
          <a:p>
            <a:pPr algn="l">
              <a:spcAft>
                <a:spcPts val="300"/>
              </a:spcAft>
            </a:pPr>
            <a:r>
              <a:rPr sz="1150" b="0">
                <a:solidFill>
                  <a:srgbClr val="5B6372"/>
                </a:solidFill>
                <a:latin typeface="Arial"/>
              </a:rPr>
              <a:t>Agile Essentials begins (Activities 3–4 on Day 2)</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55893"/>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55893"/>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79668"/>
            <a:ext cx="9482328" cy="519379"/>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18:30  End of Day 1</a:t>
            </a:r>
          </a:p>
          <a:p>
            <a:pPr algn="l">
              <a:spcAft>
                <a:spcPts val="300"/>
              </a:spcAft>
            </a:pPr>
            <a:r>
              <a:rPr sz="1150" b="0">
                <a:solidFill>
                  <a:srgbClr val="5B6372"/>
                </a:solidFill>
                <a:latin typeface="Arial"/>
              </a:rPr>
              <a:t>Recap and Q&amp;A</a:t>
            </a:r>
          </a:p>
        </p:txBody>
      </p:sp>
      <p:sp>
        <p:nvSpPr>
          <p:cNvPr id="32" name="TextBox 3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3" name="TextBox 3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DAY 2 · BUILDING AND RUNNING AN AGILE TEAM</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Lesson Plan — Day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79222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79222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365760"/>
          </a:xfrm>
          <a:prstGeom prst="rect">
            <a:avLst/>
          </a:prstGeom>
          <a:noFill/>
        </p:spPr>
        <p:txBody>
          <a:bodyPr wrap="square" anchor="ctr" lIns="0" rIns="0" tIns="0" bIns="0">
            <a:spAutoFit/>
          </a:bodyPr>
          <a:lstStyle/>
          <a:p>
            <a:pPr algn="l">
              <a:spcAft>
                <a:spcPts val="300"/>
              </a:spcAft>
            </a:pPr>
            <a:r>
              <a:rPr sz="1300" b="1">
                <a:solidFill>
                  <a:srgbClr val="161B26"/>
                </a:solidFill>
                <a:latin typeface="Arial"/>
              </a:rPr>
              <a:t>09:30  Digital attendance (AM)</a:t>
            </a:r>
          </a:p>
          <a:p>
            <a:pPr algn="l">
              <a:spcAft>
                <a:spcPts val="300"/>
              </a:spcAft>
            </a:pPr>
            <a:r>
              <a:rPr sz="1000" b="0">
                <a:solidFill>
                  <a:srgbClr val="5B6372"/>
                </a:solidFill>
                <a:latin typeface="Arial"/>
              </a:rPr>
              <a:t>Recap of Day 1</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56032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56032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660904"/>
            <a:ext cx="9482328" cy="365760"/>
          </a:xfrm>
          <a:prstGeom prst="rect">
            <a:avLst/>
          </a:prstGeom>
          <a:noFill/>
        </p:spPr>
        <p:txBody>
          <a:bodyPr wrap="square" anchor="ctr" lIns="0" rIns="0" tIns="0" bIns="0">
            <a:spAutoFit/>
          </a:bodyPr>
          <a:lstStyle/>
          <a:p>
            <a:pPr algn="l">
              <a:spcAft>
                <a:spcPts val="300"/>
              </a:spcAft>
            </a:pPr>
            <a:r>
              <a:rPr sz="1300" b="1">
                <a:solidFill>
                  <a:srgbClr val="161B26"/>
                </a:solidFill>
                <a:latin typeface="Arial"/>
              </a:rPr>
              <a:t>09:45  Topic 2 continued</a:t>
            </a:r>
          </a:p>
          <a:p>
            <a:pPr algn="l">
              <a:spcAft>
                <a:spcPts val="300"/>
              </a:spcAft>
            </a:pPr>
            <a:r>
              <a:rPr sz="1000" b="0">
                <a:solidFill>
                  <a:srgbClr val="5B6372"/>
                </a:solidFill>
                <a:latin typeface="Arial"/>
              </a:rPr>
              <a:t>Lean · Kanban · XP · change management (Activities 3–4)</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32841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32841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9482328" cy="365760"/>
          </a:xfrm>
          <a:prstGeom prst="rect">
            <a:avLst/>
          </a:prstGeom>
          <a:noFill/>
        </p:spPr>
        <p:txBody>
          <a:bodyPr wrap="square" anchor="ctr" lIns="0" rIns="0" tIns="0" bIns="0">
            <a:spAutoFit/>
          </a:bodyPr>
          <a:lstStyle/>
          <a:p>
            <a:pPr algn="l">
              <a:spcAft>
                <a:spcPts val="300"/>
              </a:spcAft>
            </a:pPr>
            <a:r>
              <a:rPr sz="1300" b="1">
                <a:solidFill>
                  <a:srgbClr val="161B26"/>
                </a:solidFill>
                <a:latin typeface="Arial"/>
              </a:rPr>
              <a:t>13:00  Lunch break</a:t>
            </a:r>
          </a:p>
          <a:p>
            <a:pPr algn="l">
              <a:spcAft>
                <a:spcPts val="300"/>
              </a:spcAft>
            </a:pPr>
            <a:r>
              <a:rPr sz="1000" b="0">
                <a:solidFill>
                  <a:srgbClr val="5B6372"/>
                </a:solidFill>
                <a:latin typeface="Arial"/>
              </a:rPr>
              <a:t>1 hour · digital attendance (PM) on return</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09651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09651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197096"/>
            <a:ext cx="9482328" cy="365760"/>
          </a:xfrm>
          <a:prstGeom prst="rect">
            <a:avLst/>
          </a:prstGeom>
          <a:noFill/>
        </p:spPr>
        <p:txBody>
          <a:bodyPr wrap="square" anchor="ctr" lIns="0" rIns="0" tIns="0" bIns="0">
            <a:spAutoFit/>
          </a:bodyPr>
          <a:lstStyle/>
          <a:p>
            <a:pPr algn="l">
              <a:spcAft>
                <a:spcPts val="300"/>
              </a:spcAft>
            </a:pPr>
            <a:r>
              <a:rPr sz="1300" b="1">
                <a:solidFill>
                  <a:srgbClr val="161B26"/>
                </a:solidFill>
                <a:latin typeface="Arial"/>
              </a:rPr>
              <a:t>14:45  Topic 3</a:t>
            </a:r>
          </a:p>
          <a:p>
            <a:pPr algn="l">
              <a:spcAft>
                <a:spcPts val="300"/>
              </a:spcAft>
            </a:pPr>
            <a:r>
              <a:rPr sz="1000" b="0">
                <a:solidFill>
                  <a:srgbClr val="5B6372"/>
                </a:solidFill>
                <a:latin typeface="Arial"/>
              </a:rPr>
              <a:t>Agile Project Execution and Tracking (Activities 5–8)</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86460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86460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9482328" cy="365760"/>
          </a:xfrm>
          <a:prstGeom prst="rect">
            <a:avLst/>
          </a:prstGeom>
          <a:noFill/>
        </p:spPr>
        <p:txBody>
          <a:bodyPr wrap="square" anchor="ctr" lIns="0" rIns="0" tIns="0" bIns="0">
            <a:spAutoFit/>
          </a:bodyPr>
          <a:lstStyle/>
          <a:p>
            <a:pPr algn="l">
              <a:spcAft>
                <a:spcPts val="300"/>
              </a:spcAft>
            </a:pPr>
            <a:r>
              <a:rPr sz="1300" b="1">
                <a:solidFill>
                  <a:srgbClr val="161B26"/>
                </a:solidFill>
                <a:latin typeface="Arial"/>
              </a:rPr>
              <a:t>18:30  Feedback &amp; TRAQOM</a:t>
            </a:r>
          </a:p>
          <a:p>
            <a:pPr algn="l">
              <a:spcAft>
                <a:spcPts val="300"/>
              </a:spcAft>
            </a:pPr>
            <a:r>
              <a:rPr sz="1000" b="0">
                <a:solidFill>
                  <a:srgbClr val="5B6372"/>
                </a:solidFill>
                <a:latin typeface="Arial"/>
              </a:rPr>
              <a:t>Course feedback and the mandatory TRAQOM survey</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4984" y="563270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4984" y="563270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1709928" y="5733288"/>
            <a:ext cx="9482328" cy="365760"/>
          </a:xfrm>
          <a:prstGeom prst="rect">
            <a:avLst/>
          </a:prstGeom>
          <a:noFill/>
        </p:spPr>
        <p:txBody>
          <a:bodyPr wrap="square" anchor="ctr" lIns="0" rIns="0" tIns="0" bIns="0">
            <a:spAutoFit/>
          </a:bodyPr>
          <a:lstStyle/>
          <a:p>
            <a:pPr algn="l">
              <a:spcAft>
                <a:spcPts val="300"/>
              </a:spcAft>
            </a:pPr>
            <a:r>
              <a:rPr sz="1300" b="1">
                <a:solidFill>
                  <a:srgbClr val="161B26"/>
                </a:solidFill>
                <a:latin typeface="Arial"/>
              </a:rPr>
              <a:t>19:00  Final Assessment</a:t>
            </a:r>
          </a:p>
          <a:p>
            <a:pPr algn="l">
              <a:spcAft>
                <a:spcPts val="300"/>
              </a:spcAft>
            </a:pPr>
            <a:r>
              <a:rPr sz="1000" b="0">
                <a:solidFill>
                  <a:srgbClr val="5B6372"/>
                </a:solidFill>
                <a:latin typeface="Arial"/>
              </a:rPr>
              <a:t>Digital attendance (Assessment) · WA (1 h) + Case Study (1 h)</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WHAT WE COVER OVER 2 DAYS · 16 TRAINING HOURS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Topic 1 — Introduction to Agile Project Management</a:t>
            </a:r>
          </a:p>
          <a:p>
            <a:pPr algn="l">
              <a:spcAft>
                <a:spcPts val="300"/>
              </a:spcAft>
            </a:pPr>
            <a:r>
              <a:rPr sz="1200" b="0">
                <a:solidFill>
                  <a:srgbClr val="5B6372"/>
                </a:solidFill>
                <a:latin typeface="Arial"/>
              </a:rPr>
              <a:t>Business landscape · Waterfall · Agile overview · The paradigm shift  ·  K1, K2, K3, A2, A5</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71246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429000"/>
            <a:ext cx="9482328"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Topic 2 — Agile Essentials</a:t>
            </a:r>
          </a:p>
          <a:p>
            <a:pPr algn="l">
              <a:spcAft>
                <a:spcPts val="300"/>
              </a:spcAft>
            </a:pPr>
            <a:r>
              <a:rPr sz="1200" b="0">
                <a:solidFill>
                  <a:srgbClr val="5B6372"/>
                </a:solidFill>
                <a:latin typeface="Arial"/>
              </a:rPr>
              <a:t>Manifesto values &amp; principles · Scrum · Lean · Kanban · XP · Overcoming resistance  ·  K4, K6, K7, A1, A3</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524865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965192"/>
            <a:ext cx="9482328"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Topic 3 — Agile Project Execution and Tracking</a:t>
            </a:r>
          </a:p>
          <a:p>
            <a:pPr algn="l">
              <a:spcAft>
                <a:spcPts val="300"/>
              </a:spcAft>
            </a:pPr>
            <a:r>
              <a:rPr sz="1200" b="0">
                <a:solidFill>
                  <a:srgbClr val="5B6372"/>
                </a:solidFill>
                <a:latin typeface="Arial"/>
              </a:rPr>
              <a:t>Team building &amp; vision · User stories &amp; estimation · Execution · Metrics · Continuous improvement  ·  K5, A4, A6, A7</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HANDS-ON TOOLING · BROWSER-BASED, NOTHING TO INSTALL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Six Tools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3374136" cy="1284732"/>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12847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2478024"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5 Whys</a:t>
            </a:r>
          </a:p>
        </p:txBody>
      </p:sp>
      <p:sp>
        <p:nvSpPr>
          <p:cNvPr id="12" name="TextBox 11"/>
          <p:cNvSpPr txBox="1"/>
          <p:nvPr/>
        </p:nvSpPr>
        <p:spPr>
          <a:xfrm>
            <a:off x="1014984" y="2505456"/>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Root-cause analysis in the sprint retrospective (Activity 6)
https://alfredang.github.io/5whys/</a:t>
            </a:r>
          </a:p>
        </p:txBody>
      </p:sp>
      <p:sp>
        <p:nvSpPr>
          <p:cNvPr id="13" name="Rectangle 12"/>
          <p:cNvSpPr/>
          <p:nvPr/>
        </p:nvSpPr>
        <p:spPr>
          <a:xfrm>
            <a:off x="4407408" y="1810512"/>
            <a:ext cx="3374136" cy="12847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07408" y="1810512"/>
            <a:ext cx="82296" cy="12847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26864"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5120640" y="1956816"/>
            <a:ext cx="2478024"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Fishbone</a:t>
            </a:r>
          </a:p>
        </p:txBody>
      </p:sp>
      <p:sp>
        <p:nvSpPr>
          <p:cNvPr id="18" name="TextBox 17"/>
          <p:cNvSpPr txBox="1"/>
          <p:nvPr/>
        </p:nvSpPr>
        <p:spPr>
          <a:xfrm>
            <a:off x="4645152" y="2505456"/>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Cause-and-effect analysis of delivery problems (Activity 2)
https://alfredang.github.io/fishbone/</a:t>
            </a:r>
          </a:p>
        </p:txBody>
      </p:sp>
      <p:sp>
        <p:nvSpPr>
          <p:cNvPr id="19" name="Rectangle 18"/>
          <p:cNvSpPr/>
          <p:nvPr/>
        </p:nvSpPr>
        <p:spPr>
          <a:xfrm>
            <a:off x="8037576" y="1810512"/>
            <a:ext cx="3374136" cy="1284732"/>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7576" y="1810512"/>
            <a:ext cx="82296" cy="12847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57032"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8750808" y="1956816"/>
            <a:ext cx="2478024"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Pareto Chart</a:t>
            </a:r>
          </a:p>
        </p:txBody>
      </p:sp>
      <p:sp>
        <p:nvSpPr>
          <p:cNvPr id="24" name="TextBox 23"/>
          <p:cNvSpPr txBox="1"/>
          <p:nvPr/>
        </p:nvSpPr>
        <p:spPr>
          <a:xfrm>
            <a:off x="8275320" y="2505456"/>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Prioritising the 20% of causes driving 80% of defects (Activity 7)
https://alfredang.github.io/paretochart/</a:t>
            </a:r>
          </a:p>
        </p:txBody>
      </p:sp>
      <p:sp>
        <p:nvSpPr>
          <p:cNvPr id="25" name="Rectangle 24"/>
          <p:cNvSpPr/>
          <p:nvPr/>
        </p:nvSpPr>
        <p:spPr>
          <a:xfrm>
            <a:off x="777240" y="3314700"/>
            <a:ext cx="3374136" cy="1284732"/>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3314700"/>
            <a:ext cx="82296" cy="12847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6696" y="3497580"/>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6696"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1490472" y="3461004"/>
            <a:ext cx="2478024"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RACI Matrix</a:t>
            </a:r>
          </a:p>
        </p:txBody>
      </p:sp>
      <p:sp>
        <p:nvSpPr>
          <p:cNvPr id="30" name="TextBox 29"/>
          <p:cNvSpPr txBox="1"/>
          <p:nvPr/>
        </p:nvSpPr>
        <p:spPr>
          <a:xfrm>
            <a:off x="1014984" y="4009644"/>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Clarifying Agile role accountability (Activity 4)
https://alfredang.github.io/raci/</a:t>
            </a:r>
          </a:p>
        </p:txBody>
      </p:sp>
      <p:sp>
        <p:nvSpPr>
          <p:cNvPr id="31" name="Rectangle 30"/>
          <p:cNvSpPr/>
          <p:nvPr/>
        </p:nvSpPr>
        <p:spPr>
          <a:xfrm>
            <a:off x="4407408" y="3314700"/>
            <a:ext cx="3374136" cy="1284732"/>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07408" y="3314700"/>
            <a:ext cx="82296" cy="12847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626864" y="3497580"/>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26864"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5</a:t>
            </a:r>
          </a:p>
        </p:txBody>
      </p:sp>
      <p:sp>
        <p:nvSpPr>
          <p:cNvPr id="35" name="TextBox 34"/>
          <p:cNvSpPr txBox="1"/>
          <p:nvPr/>
        </p:nvSpPr>
        <p:spPr>
          <a:xfrm>
            <a:off x="5120640" y="3461004"/>
            <a:ext cx="2478024"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Scrum Board</a:t>
            </a:r>
          </a:p>
        </p:txBody>
      </p:sp>
      <p:sp>
        <p:nvSpPr>
          <p:cNvPr id="36" name="TextBox 35"/>
          <p:cNvSpPr txBox="1"/>
          <p:nvPr/>
        </p:nvSpPr>
        <p:spPr>
          <a:xfrm>
            <a:off x="4645152" y="4009644"/>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Running the sprint board, backlog and burndown (Activities 3, 5, 8)
https://alfredang.github.io/scrum/</a:t>
            </a:r>
          </a:p>
        </p:txBody>
      </p:sp>
      <p:sp>
        <p:nvSpPr>
          <p:cNvPr id="37" name="Rectangle 36"/>
          <p:cNvSpPr/>
          <p:nvPr/>
        </p:nvSpPr>
        <p:spPr>
          <a:xfrm>
            <a:off x="8037576" y="3314700"/>
            <a:ext cx="3374136" cy="12847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37576" y="3314700"/>
            <a:ext cx="82296" cy="12847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257032" y="3497580"/>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57032"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6</a:t>
            </a:r>
          </a:p>
        </p:txBody>
      </p:sp>
      <p:sp>
        <p:nvSpPr>
          <p:cNvPr id="41" name="TextBox 40"/>
          <p:cNvSpPr txBox="1"/>
          <p:nvPr/>
        </p:nvSpPr>
        <p:spPr>
          <a:xfrm>
            <a:off x="8750808" y="3461004"/>
            <a:ext cx="2478024"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Design Thinking</a:t>
            </a:r>
          </a:p>
        </p:txBody>
      </p:sp>
      <p:sp>
        <p:nvSpPr>
          <p:cNvPr id="42" name="TextBox 41"/>
          <p:cNvSpPr txBox="1"/>
          <p:nvPr/>
        </p:nvSpPr>
        <p:spPr>
          <a:xfrm>
            <a:off x="8275320" y="4009644"/>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Empathising with customers to shape the product vision (Activity 1)
https://alfredang.github.io/designthinking/</a:t>
            </a:r>
          </a:p>
        </p:txBody>
      </p:sp>
      <p:sp>
        <p:nvSpPr>
          <p:cNvPr id="43" name="Rectangle 42"/>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4864608"/>
            <a:ext cx="91440"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0B981"/>
                </a:solidFill>
                <a:latin typeface="Arial"/>
              </a:rPr>
              <a:t>HOW WE WORK</a:t>
            </a:r>
          </a:p>
        </p:txBody>
      </p:sp>
      <p:sp>
        <p:nvSpPr>
          <p:cNvPr id="46" name="TextBox 45"/>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Every activity uses a real browser-based tool on a single running case study — HarbourFront Logistics, a Singapore 3PL whose customer portal failed as a waterfall project.</a:t>
            </a:r>
          </a:p>
        </p:txBody>
      </p:sp>
      <p:sp>
        <p:nvSpPr>
          <p:cNvPr id="47" name="TextBox 4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8" name="TextBox 4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Aft>
                <a:spcPts val="400"/>
              </a:spcAft>
            </a:pPr>
            <a:r>
              <a:rPr sz="1600" b="1">
                <a:solidFill>
                  <a:srgbClr val="7C3AED"/>
                </a:solidFill>
                <a:latin typeface="Arial"/>
              </a:rPr>
              <a:t>THE RUNNING CASE</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Aft>
                <a:spcPts val="400"/>
              </a:spcAft>
            </a:pPr>
            <a:r>
              <a:rPr sz="3600" b="1">
                <a:solidFill>
                  <a:srgbClr val="161B26"/>
                </a:solidFill>
                <a:latin typeface="Arial"/>
              </a:rPr>
              <a:t>One case study runs through all 8 activities.</a:t>
            </a:r>
          </a:p>
        </p:txBody>
      </p:sp>
      <p:sp>
        <p:nvSpPr>
          <p:cNvPr id="6" name="TextBox 5"/>
          <p:cNvSpPr txBox="1"/>
          <p:nvPr/>
        </p:nvSpPr>
        <p:spPr>
          <a:xfrm>
            <a:off x="1024128" y="4526280"/>
            <a:ext cx="10058400" cy="1188720"/>
          </a:xfrm>
          <a:prstGeom prst="rect">
            <a:avLst/>
          </a:prstGeom>
          <a:noFill/>
        </p:spPr>
        <p:txBody>
          <a:bodyPr wrap="square" anchor="t" lIns="0" rIns="0" tIns="0" bIns="0">
            <a:spAutoFit/>
          </a:bodyPr>
          <a:lstStyle/>
          <a:p>
            <a:pPr algn="l">
              <a:spcAft>
                <a:spcPts val="400"/>
              </a:spcAft>
            </a:pPr>
            <a:r>
              <a:rPr sz="1900" b="0">
                <a:solidFill>
                  <a:srgbClr val="5B6372"/>
                </a:solidFill>
                <a:latin typeface="Arial"/>
              </a:rPr>
              <a:t>HarbourFront Logistics Pte Ltd — a 140-staff Singapore third-party logistics provider whose 'CustomerConnect' portal shipped 4 months late with 62% of its features unused. You will diagnose it, restart it with Agile, run its sprints, and forecast its release.</a:t>
            </a:r>
          </a:p>
        </p:txBody>
      </p:sp>
      <p:sp>
        <p:nvSpPr>
          <p:cNvPr id="7" name="TextBox 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8" name="TextBox 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mc:Choice xmlns:p14="http://schemas.microsoft.com/office/powerpoint/2010/main" Requires="p14">
      <p:transition spd="med" p14:dur="900">
        <p:push dir="u"/>
      </p:transition>
    </mc:Choice>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ASSESSMENT · BRIEFING</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Clear your table</a:t>
            </a:r>
          </a:p>
          <a:p>
            <a:pPr algn="l">
              <a:spcAft>
                <a:spcPts val="300"/>
              </a:spcAft>
            </a:pPr>
            <a:r>
              <a:rPr sz="115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No photos or recording</a:t>
            </a:r>
          </a:p>
          <a:p>
            <a:pPr algn="l">
              <a:spcAft>
                <a:spcPts val="300"/>
              </a:spcAft>
            </a:pPr>
            <a:r>
              <a:rPr sz="1150" b="0">
                <a:solidFill>
                  <a:srgbClr val="5B6372"/>
                </a:solidFill>
                <a:latin typeface="Arial"/>
              </a:rPr>
              <a:t>Assessment scripts must not be photographed or recorded.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No discussion</a:t>
            </a:r>
          </a:p>
          <a:p>
            <a:pPr algn="l">
              <a:spcAft>
                <a:spcPts val="300"/>
              </a:spcAft>
            </a:pPr>
            <a:r>
              <a:rPr sz="1150" b="0">
                <a:solidFill>
                  <a:srgbClr val="5B6372"/>
                </a:solidFill>
                <a:latin typeface="Arial"/>
              </a:rPr>
              <a:t>Work individually once the assessment starts.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Black or blue pen</a:t>
            </a:r>
          </a:p>
          <a:p>
            <a:pPr algn="l">
              <a:spcAft>
                <a:spcPts val="300"/>
              </a:spcAft>
            </a:pPr>
            <a:r>
              <a:rPr sz="1150" b="0">
                <a:solidFill>
                  <a:srgbClr val="5B6372"/>
                </a:solidFill>
                <a:latin typeface="Arial"/>
              </a:rPr>
              <a:t>Use a black or blue pen for hard-copy scripts.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No correction fluid</a:t>
            </a:r>
          </a:p>
          <a:p>
            <a:pPr algn="l">
              <a:spcAft>
                <a:spcPts val="300"/>
              </a:spcAft>
            </a:pPr>
            <a:r>
              <a:rPr sz="1150" b="0">
                <a:solidFill>
                  <a:srgbClr val="5B6372"/>
                </a:solidFill>
                <a:latin typeface="Arial"/>
              </a:rPr>
              <a:t>Do not use liquid paper or correction tape.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Scripts collected</a:t>
            </a:r>
          </a:p>
          <a:p>
            <a:pPr algn="l">
              <a:spcAft>
                <a:spcPts val="300"/>
              </a:spcAft>
            </a:pPr>
            <a:r>
              <a:rPr sz="1150" b="0">
                <a:solidFill>
                  <a:srgbClr val="5B6372"/>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ASSESSMENT · WHAT TO EXPECT</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842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749808"/>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Written Assessment (WA)</a:t>
            </a:r>
          </a:p>
          <a:p>
            <a:pPr algn="l">
              <a:spcAft>
                <a:spcPts val="300"/>
              </a:spcAft>
            </a:pPr>
            <a:r>
              <a:rPr sz="1200" b="0">
                <a:solidFill>
                  <a:srgbClr val="5B6372"/>
                </a:solidFill>
                <a:latin typeface="Arial"/>
              </a:rPr>
              <a:t>Written Assessment (WA) — Short-Answer Questions (SAQ), 1 hour, open book.</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1363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044952"/>
            <a:ext cx="9482328" cy="749808"/>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Case Study (CS)</a:t>
            </a:r>
          </a:p>
          <a:p>
            <a:pPr algn="l">
              <a:spcAft>
                <a:spcPts val="300"/>
              </a:spcAft>
            </a:pPr>
            <a:r>
              <a:rPr sz="1200" b="0">
                <a:solidFill>
                  <a:srgbClr val="5B6372"/>
                </a:solidFill>
                <a:latin typeface="Arial"/>
              </a:rPr>
              <a:t>Case Study (CS) — an applied business scenario with structured tasks, 1 hour, open book.</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2885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9482328" cy="749808"/>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Open book</a:t>
            </a:r>
          </a:p>
          <a:p>
            <a:pPr algn="l">
              <a:spcAft>
                <a:spcPts val="300"/>
              </a:spcAft>
            </a:pPr>
            <a:r>
              <a:rPr sz="1200" b="0">
                <a:solidFill>
                  <a:srgbClr val="5B6372"/>
                </a:solidFill>
                <a:latin typeface="Arial"/>
              </a:rPr>
              <a:t>Open book: slides, Learner Guide and approved course materials only.</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5440680"/>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5349240"/>
            <a:ext cx="9482328" cy="749808"/>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Competency</a:t>
            </a:r>
          </a:p>
          <a:p>
            <a:pPr algn="l">
              <a:spcAft>
                <a:spcPts val="300"/>
              </a:spcAft>
            </a:pPr>
            <a:r>
              <a:rPr sz="1200" b="0">
                <a:solidFill>
                  <a:srgbClr val="5B6372"/>
                </a:solidFill>
                <a:latin typeface="Arial"/>
              </a:rPr>
              <a:t>A minimum of 75% attendance is required to be eligible for assessment and funding. Learners must be assessed Competent in both instruments.</a:t>
            </a:r>
          </a:p>
        </p:txBody>
      </p:sp>
      <p:sp>
        <p:nvSpPr>
          <p:cNvPr id="27" name="TextBox 2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8" name="TextBox 2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ASSESSMENT · END-TO-END FLOW</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792327" y="1810512"/>
            <a:ext cx="10607040" cy="3253353"/>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Briefing → Written Assessment → Case Study → marking → result, with an appeal route at every stage.</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27A3E"/>
                </a:solidFill>
                <a:latin typeface="Arial"/>
              </a:rPr>
              <a:t>ADMIN · FUNDING ELIGIBILITY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75% attendance</a:t>
            </a:r>
          </a:p>
          <a:p>
            <a:pPr algn="l">
              <a:spcAft>
                <a:spcPts val="300"/>
              </a:spcAft>
            </a:pPr>
            <a:r>
              <a:rPr sz="1200" b="0">
                <a:solidFill>
                  <a:srgbClr val="5B6372"/>
                </a:solidFill>
                <a:latin typeface="Arial"/>
              </a:rPr>
              <a:t>Minimum attendance rate of 75%, based on the SSG digital attendance record.</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71246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429000"/>
            <a:ext cx="9482328"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Assessed Competent</a:t>
            </a:r>
          </a:p>
          <a:p>
            <a:pPr algn="l">
              <a:spcAft>
                <a:spcPts val="300"/>
              </a:spcAft>
            </a:pPr>
            <a:r>
              <a:rPr sz="1200" b="0">
                <a:solidFill>
                  <a:srgbClr val="5B6372"/>
                </a:solidFill>
                <a:latin typeface="Arial"/>
              </a:rPr>
              <a:t>Complete both assessment instruments and be assessed as 'Competent'.</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524865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965192"/>
            <a:ext cx="9482328"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TRAQOM survey</a:t>
            </a:r>
          </a:p>
          <a:p>
            <a:pPr algn="l">
              <a:spcAft>
                <a:spcPts val="300"/>
              </a:spcAft>
            </a:pPr>
            <a:r>
              <a:rPr sz="1200" b="0">
                <a:solidFill>
                  <a:srgbClr val="5B6372"/>
                </a:solidFill>
                <a:latin typeface="Arial"/>
              </a:rPr>
              <a:t>Complete the mandatory course feedback and TRAQOM survey.</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10058400" cy="457200"/>
          </a:xfrm>
          <a:prstGeom prst="rect">
            <a:avLst/>
          </a:prstGeom>
          <a:noFill/>
        </p:spPr>
        <p:txBody>
          <a:bodyPr wrap="square" anchor="t" lIns="0" rIns="0" tIns="0" bIns="0">
            <a:spAutoFit/>
          </a:bodyPr>
          <a:lstStyle/>
          <a:p>
            <a:pPr algn="l">
              <a:spcAft>
                <a:spcPts val="400"/>
              </a:spcAft>
            </a:pPr>
            <a:r>
              <a:rPr sz="1500" b="1">
                <a:solidFill>
                  <a:srgbClr val="1F6FEB"/>
                </a:solidFill>
                <a:latin typeface="Arial"/>
              </a:rPr>
              <a:t>TOPIC 01</a:t>
            </a:r>
          </a:p>
        </p:txBody>
      </p:sp>
      <p:sp>
        <p:nvSpPr>
          <p:cNvPr id="6" name="TextBox 5"/>
          <p:cNvSpPr txBox="1"/>
          <p:nvPr/>
        </p:nvSpPr>
        <p:spPr>
          <a:xfrm>
            <a:off x="1280160" y="2606040"/>
            <a:ext cx="10058400" cy="960120"/>
          </a:xfrm>
          <a:prstGeom prst="rect">
            <a:avLst/>
          </a:prstGeom>
          <a:noFill/>
        </p:spPr>
        <p:txBody>
          <a:bodyPr wrap="square" anchor="t" lIns="0" rIns="0" tIns="0" bIns="0">
            <a:spAutoFit/>
          </a:bodyPr>
          <a:lstStyle/>
          <a:p>
            <a:pPr algn="l">
              <a:spcAft>
                <a:spcPts val="400"/>
              </a:spcAft>
            </a:pPr>
            <a:r>
              <a:rPr sz="3400" b="1">
                <a:solidFill>
                  <a:srgbClr val="161B26"/>
                </a:solidFill>
                <a:latin typeface="Arial"/>
              </a:rPr>
              <a:t>Introduction to Agile Project Management</a:t>
            </a:r>
          </a:p>
        </p:txBody>
      </p:sp>
      <p:sp>
        <p:nvSpPr>
          <p:cNvPr id="7" name="TextBox 6"/>
          <p:cNvSpPr txBox="1"/>
          <p:nvPr/>
        </p:nvSpPr>
        <p:spPr>
          <a:xfrm>
            <a:off x="1280160" y="3611880"/>
            <a:ext cx="9875520" cy="1097280"/>
          </a:xfrm>
          <a:prstGeom prst="rect">
            <a:avLst/>
          </a:prstGeom>
          <a:noFill/>
        </p:spPr>
        <p:txBody>
          <a:bodyPr wrap="square" anchor="t" lIns="0" rIns="0" tIns="0" bIns="0">
            <a:spAutoFit/>
          </a:bodyPr>
          <a:lstStyle/>
          <a:p>
            <a:pPr algn="l">
              <a:spcAft>
                <a:spcPts val="400"/>
              </a:spcAft>
            </a:pPr>
            <a:r>
              <a:rPr sz="1500" b="0">
                <a:solidFill>
                  <a:srgbClr val="5B6372"/>
                </a:solidFill>
                <a:latin typeface="Arial"/>
              </a:rPr>
              <a:t>Business landscape · Waterfall · Agile overview · The paradigm shift   ·   LO1   ·   K1, K2, K3, A2, A5</a:t>
            </a:r>
          </a:p>
        </p:txBody>
      </p:sp>
      <p:sp>
        <p:nvSpPr>
          <p:cNvPr id="8" name="TextBox 7"/>
          <p:cNvSpPr txBox="1"/>
          <p:nvPr/>
        </p:nvSpPr>
        <p:spPr>
          <a:xfrm>
            <a:off x="9144000" y="502920"/>
            <a:ext cx="2377440" cy="1371600"/>
          </a:xfrm>
          <a:prstGeom prst="rect">
            <a:avLst/>
          </a:prstGeom>
          <a:noFill/>
        </p:spPr>
        <p:txBody>
          <a:bodyPr wrap="square" anchor="t" lIns="0" rIns="0" tIns="0" bIns="0">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0" name="TextBox 9"/>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Aft>
                <a:spcPts val="400"/>
              </a:spcAft>
            </a:pPr>
            <a:r>
              <a:rPr sz="1600" b="1">
                <a:solidFill>
                  <a:srgbClr val="1F6FEB"/>
                </a:solidFill>
                <a:latin typeface="Arial"/>
              </a:rPr>
              <a:t>TOPIC 01 · THE CENTRAL QUESTION</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Aft>
                <a:spcPts val="400"/>
              </a:spcAft>
            </a:pPr>
            <a:r>
              <a:rPr sz="3600" b="1">
                <a:solidFill>
                  <a:srgbClr val="161B26"/>
                </a:solidFill>
                <a:latin typeface="Arial"/>
              </a:rPr>
              <a:t>Are we building the right thing?</a:t>
            </a:r>
          </a:p>
        </p:txBody>
      </p:sp>
      <p:sp>
        <p:nvSpPr>
          <p:cNvPr id="6" name="TextBox 5"/>
          <p:cNvSpPr txBox="1"/>
          <p:nvPr/>
        </p:nvSpPr>
        <p:spPr>
          <a:xfrm>
            <a:off x="1024128" y="4526280"/>
            <a:ext cx="10058400" cy="1188720"/>
          </a:xfrm>
          <a:prstGeom prst="rect">
            <a:avLst/>
          </a:prstGeom>
          <a:noFill/>
        </p:spPr>
        <p:txBody>
          <a:bodyPr wrap="square" anchor="t" lIns="0" rIns="0" tIns="0" bIns="0">
            <a:spAutoFit/>
          </a:bodyPr>
          <a:lstStyle/>
          <a:p>
            <a:pPr algn="l">
              <a:spcAft>
                <a:spcPts val="400"/>
              </a:spcAft>
            </a:pPr>
            <a:r>
              <a:rPr sz="1900" b="0">
                <a:solidFill>
                  <a:srgbClr val="5B6372"/>
                </a:solidFill>
                <a:latin typeface="Arial"/>
              </a:rPr>
              <a:t>Traditional project management asks whether we are building the thing right — on time, on budget, to specification. Agile asks the prior question first, and keeps asking it.</a:t>
            </a:r>
          </a:p>
        </p:txBody>
      </p:sp>
      <p:sp>
        <p:nvSpPr>
          <p:cNvPr id="7" name="TextBox 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8" name="TextBox 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mc:Choice xmlns:p14="http://schemas.microsoft.com/office/powerpoint/2010/main" Requires="p14">
      <p:transition spd="med" p14:dur="900">
        <p:push dir="u"/>
      </p:transition>
    </mc:Choice>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01 · WHERE WE ARE COMING FROM</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Traditional Project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lIns="0" rIns="0" tIns="0" bIns="0">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538728"/>
            <a:ext cx="1585569" cy="566928"/>
          </a:xfrm>
          <a:prstGeom prst="rect">
            <a:avLst/>
          </a:prstGeom>
          <a:noFill/>
        </p:spPr>
        <p:txBody>
          <a:bodyPr wrap="square" anchor="t" lIns="0" rIns="0" tIns="0" bIns="0">
            <a:spAutoFit/>
          </a:bodyPr>
          <a:lstStyle/>
          <a:p>
            <a:pPr algn="ctr">
              <a:spcAft>
                <a:spcPts val="400"/>
              </a:spcAft>
            </a:pPr>
            <a:r>
              <a:rPr sz="1350" b="1">
                <a:solidFill>
                  <a:srgbClr val="161B26"/>
                </a:solidFill>
                <a:latin typeface="Arial"/>
              </a:rPr>
              <a:t>Initiate</a:t>
            </a:r>
          </a:p>
        </p:txBody>
      </p:sp>
      <p:sp>
        <p:nvSpPr>
          <p:cNvPr id="12" name="TextBox 11"/>
          <p:cNvSpPr txBox="1"/>
          <p:nvPr/>
        </p:nvSpPr>
        <p:spPr>
          <a:xfrm>
            <a:off x="923544" y="4087368"/>
            <a:ext cx="1585569" cy="685800"/>
          </a:xfrm>
          <a:prstGeom prst="rect">
            <a:avLst/>
          </a:prstGeom>
          <a:noFill/>
        </p:spPr>
        <p:txBody>
          <a:bodyPr wrap="square" anchor="t" lIns="0" rIns="0" tIns="0" bIns="0">
            <a:spAutoFit/>
          </a:bodyPr>
          <a:lstStyle/>
          <a:p>
            <a:pPr algn="ctr">
              <a:spcAft>
                <a:spcPts val="400"/>
              </a:spcAft>
            </a:pPr>
            <a:r>
              <a:rPr sz="1100" b="0">
                <a:solidFill>
                  <a:srgbClr val="5B6372"/>
                </a:solidFill>
                <a:latin typeface="Arial"/>
              </a:rPr>
              <a:t>charter, sponsor,
business case</a:t>
            </a:r>
          </a:p>
        </p:txBody>
      </p:sp>
      <p:sp>
        <p:nvSpPr>
          <p:cNvPr id="13" name="TextBox 12"/>
          <p:cNvSpPr txBox="1"/>
          <p:nvPr/>
        </p:nvSpPr>
        <p:spPr>
          <a:xfrm>
            <a:off x="2655417" y="3291840"/>
            <a:ext cx="310896" cy="548640"/>
          </a:xfrm>
          <a:prstGeom prst="rect">
            <a:avLst/>
          </a:prstGeom>
          <a:noFill/>
        </p:spPr>
        <p:txBody>
          <a:bodyPr wrap="square" anchor="ctr" lIns="0" rIns="0" tIns="0" bIns="0">
            <a:spAutoFit/>
          </a:bodyPr>
          <a:lstStyle/>
          <a:p>
            <a:pPr algn="ctr">
              <a:spcAft>
                <a:spcPts val="400"/>
              </a:spcAft>
            </a:pPr>
            <a:r>
              <a:rPr sz="1500" b="1">
                <a:solidFill>
                  <a:srgbClr val="1F6FEB"/>
                </a:solidFill>
                <a:latin typeface="Arial"/>
              </a:rPr>
              <a:t>▶</a:t>
            </a:r>
          </a:p>
        </p:txBody>
      </p:sp>
      <p:sp>
        <p:nvSpPr>
          <p:cNvPr id="14" name="Rectangle 13"/>
          <p:cNvSpPr/>
          <p:nvPr/>
        </p:nvSpPr>
        <p:spPr>
          <a:xfrm>
            <a:off x="2966313" y="2240280"/>
            <a:ext cx="1878177"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0497" y="2624328"/>
            <a:ext cx="749808" cy="749808"/>
          </a:xfrm>
          <a:prstGeom prst="rect">
            <a:avLst/>
          </a:prstGeom>
          <a:noFill/>
        </p:spPr>
        <p:txBody>
          <a:bodyPr wrap="square" anchor="ctr" lIns="0" rIns="0" tIns="0" bIns="0">
            <a:spAutoFit/>
          </a:bodyPr>
          <a:lstStyle/>
          <a:p>
            <a:pPr algn="ctr">
              <a:spcAft>
                <a:spcPts val="400"/>
              </a:spcAft>
            </a:pPr>
            <a:r>
              <a:rPr sz="3000" b="1">
                <a:solidFill>
                  <a:srgbClr val="FFFFFF"/>
                </a:solidFill>
                <a:latin typeface="Arial"/>
              </a:rPr>
              <a:t>2</a:t>
            </a:r>
          </a:p>
        </p:txBody>
      </p:sp>
      <p:sp>
        <p:nvSpPr>
          <p:cNvPr id="18" name="TextBox 17"/>
          <p:cNvSpPr txBox="1"/>
          <p:nvPr/>
        </p:nvSpPr>
        <p:spPr>
          <a:xfrm>
            <a:off x="3112617" y="3538728"/>
            <a:ext cx="1585569" cy="566928"/>
          </a:xfrm>
          <a:prstGeom prst="rect">
            <a:avLst/>
          </a:prstGeom>
          <a:noFill/>
        </p:spPr>
        <p:txBody>
          <a:bodyPr wrap="square" anchor="t" lIns="0" rIns="0" tIns="0" bIns="0">
            <a:spAutoFit/>
          </a:bodyPr>
          <a:lstStyle/>
          <a:p>
            <a:pPr algn="ctr">
              <a:spcAft>
                <a:spcPts val="400"/>
              </a:spcAft>
            </a:pPr>
            <a:r>
              <a:rPr sz="1350" b="1">
                <a:solidFill>
                  <a:srgbClr val="161B26"/>
                </a:solidFill>
                <a:latin typeface="Arial"/>
              </a:rPr>
              <a:t>Plan</a:t>
            </a:r>
          </a:p>
        </p:txBody>
      </p:sp>
      <p:sp>
        <p:nvSpPr>
          <p:cNvPr id="19" name="TextBox 18"/>
          <p:cNvSpPr txBox="1"/>
          <p:nvPr/>
        </p:nvSpPr>
        <p:spPr>
          <a:xfrm>
            <a:off x="3112617" y="4087368"/>
            <a:ext cx="1585569" cy="685800"/>
          </a:xfrm>
          <a:prstGeom prst="rect">
            <a:avLst/>
          </a:prstGeom>
          <a:noFill/>
        </p:spPr>
        <p:txBody>
          <a:bodyPr wrap="square" anchor="t" lIns="0" rIns="0" tIns="0" bIns="0">
            <a:spAutoFit/>
          </a:bodyPr>
          <a:lstStyle/>
          <a:p>
            <a:pPr algn="ctr">
              <a:spcAft>
                <a:spcPts val="400"/>
              </a:spcAft>
            </a:pPr>
            <a:r>
              <a:rPr sz="1100" b="0">
                <a:solidFill>
                  <a:srgbClr val="5B6372"/>
                </a:solidFill>
                <a:latin typeface="Arial"/>
              </a:rPr>
              <a:t>scope, WBS,
schedule, budget</a:t>
            </a:r>
          </a:p>
        </p:txBody>
      </p:sp>
      <p:sp>
        <p:nvSpPr>
          <p:cNvPr id="20" name="TextBox 19"/>
          <p:cNvSpPr txBox="1"/>
          <p:nvPr/>
        </p:nvSpPr>
        <p:spPr>
          <a:xfrm>
            <a:off x="4844490" y="3291840"/>
            <a:ext cx="310896" cy="548640"/>
          </a:xfrm>
          <a:prstGeom prst="rect">
            <a:avLst/>
          </a:prstGeom>
          <a:noFill/>
        </p:spPr>
        <p:txBody>
          <a:bodyPr wrap="square" anchor="ctr" lIns="0" rIns="0" tIns="0" bIns="0">
            <a:spAutoFit/>
          </a:bodyPr>
          <a:lstStyle/>
          <a:p>
            <a:pPr algn="ctr">
              <a:spcAft>
                <a:spcPts val="400"/>
              </a:spcAft>
            </a:pPr>
            <a:r>
              <a:rPr sz="1500" b="1">
                <a:solidFill>
                  <a:srgbClr val="1F6FEB"/>
                </a:solidFill>
                <a:latin typeface="Arial"/>
              </a:rPr>
              <a:t>▶</a:t>
            </a:r>
          </a:p>
        </p:txBody>
      </p:sp>
      <p:sp>
        <p:nvSpPr>
          <p:cNvPr id="21" name="Rectangle 20"/>
          <p:cNvSpPr/>
          <p:nvPr/>
        </p:nvSpPr>
        <p:spPr>
          <a:xfrm>
            <a:off x="5155386" y="2240280"/>
            <a:ext cx="1878177"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0" y="2624328"/>
            <a:ext cx="749808" cy="749808"/>
          </a:xfrm>
          <a:prstGeom prst="rect">
            <a:avLst/>
          </a:prstGeom>
          <a:noFill/>
        </p:spPr>
        <p:txBody>
          <a:bodyPr wrap="square" anchor="ctr" lIns="0" rIns="0" tIns="0" bIns="0">
            <a:spAutoFit/>
          </a:bodyPr>
          <a:lstStyle/>
          <a:p>
            <a:pPr algn="ctr">
              <a:spcAft>
                <a:spcPts val="400"/>
              </a:spcAft>
            </a:pPr>
            <a:r>
              <a:rPr sz="3000" b="1">
                <a:solidFill>
                  <a:srgbClr val="FFFFFF"/>
                </a:solidFill>
                <a:latin typeface="Arial"/>
              </a:rPr>
              <a:t>3</a:t>
            </a:r>
          </a:p>
        </p:txBody>
      </p:sp>
      <p:sp>
        <p:nvSpPr>
          <p:cNvPr id="25" name="TextBox 24"/>
          <p:cNvSpPr txBox="1"/>
          <p:nvPr/>
        </p:nvSpPr>
        <p:spPr>
          <a:xfrm>
            <a:off x="5301690" y="3538728"/>
            <a:ext cx="1585569" cy="566928"/>
          </a:xfrm>
          <a:prstGeom prst="rect">
            <a:avLst/>
          </a:prstGeom>
          <a:noFill/>
        </p:spPr>
        <p:txBody>
          <a:bodyPr wrap="square" anchor="t" lIns="0" rIns="0" tIns="0" bIns="0">
            <a:spAutoFit/>
          </a:bodyPr>
          <a:lstStyle/>
          <a:p>
            <a:pPr algn="ctr">
              <a:spcAft>
                <a:spcPts val="400"/>
              </a:spcAft>
            </a:pPr>
            <a:r>
              <a:rPr sz="1350" b="1">
                <a:solidFill>
                  <a:srgbClr val="161B26"/>
                </a:solidFill>
                <a:latin typeface="Arial"/>
              </a:rPr>
              <a:t>Execute</a:t>
            </a:r>
          </a:p>
        </p:txBody>
      </p:sp>
      <p:sp>
        <p:nvSpPr>
          <p:cNvPr id="26" name="TextBox 25"/>
          <p:cNvSpPr txBox="1"/>
          <p:nvPr/>
        </p:nvSpPr>
        <p:spPr>
          <a:xfrm>
            <a:off x="5301690" y="4087368"/>
            <a:ext cx="1585569" cy="685800"/>
          </a:xfrm>
          <a:prstGeom prst="rect">
            <a:avLst/>
          </a:prstGeom>
          <a:noFill/>
        </p:spPr>
        <p:txBody>
          <a:bodyPr wrap="square" anchor="t" lIns="0" rIns="0" tIns="0" bIns="0">
            <a:spAutoFit/>
          </a:bodyPr>
          <a:lstStyle/>
          <a:p>
            <a:pPr algn="ctr">
              <a:spcAft>
                <a:spcPts val="400"/>
              </a:spcAft>
            </a:pPr>
            <a:r>
              <a:rPr sz="1100" b="0">
                <a:solidFill>
                  <a:srgbClr val="5B6372"/>
                </a:solidFill>
                <a:latin typeface="Arial"/>
              </a:rPr>
              <a:t>build to the
approved plan</a:t>
            </a:r>
          </a:p>
        </p:txBody>
      </p:sp>
      <p:sp>
        <p:nvSpPr>
          <p:cNvPr id="27" name="TextBox 26"/>
          <p:cNvSpPr txBox="1"/>
          <p:nvPr/>
        </p:nvSpPr>
        <p:spPr>
          <a:xfrm>
            <a:off x="7033563" y="3291840"/>
            <a:ext cx="310896" cy="548640"/>
          </a:xfrm>
          <a:prstGeom prst="rect">
            <a:avLst/>
          </a:prstGeom>
          <a:noFill/>
        </p:spPr>
        <p:txBody>
          <a:bodyPr wrap="square" anchor="ctr" lIns="0" rIns="0" tIns="0" bIns="0">
            <a:spAutoFit/>
          </a:bodyPr>
          <a:lstStyle/>
          <a:p>
            <a:pPr algn="ctr">
              <a:spcAft>
                <a:spcPts val="400"/>
              </a:spcAft>
            </a:pPr>
            <a:r>
              <a:rPr sz="1500" b="1">
                <a:solidFill>
                  <a:srgbClr val="1F6FEB"/>
                </a:solidFill>
                <a:latin typeface="Arial"/>
              </a:rPr>
              <a:t>▶</a:t>
            </a:r>
          </a:p>
        </p:txBody>
      </p:sp>
      <p:sp>
        <p:nvSpPr>
          <p:cNvPr id="28" name="Rectangle 27"/>
          <p:cNvSpPr/>
          <p:nvPr/>
        </p:nvSpPr>
        <p:spPr>
          <a:xfrm>
            <a:off x="7344459" y="2240280"/>
            <a:ext cx="1878177"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8643" y="2624328"/>
            <a:ext cx="749808" cy="749808"/>
          </a:xfrm>
          <a:prstGeom prst="rect">
            <a:avLst/>
          </a:prstGeom>
          <a:noFill/>
        </p:spPr>
        <p:txBody>
          <a:bodyPr wrap="square" anchor="ctr" lIns="0" rIns="0" tIns="0" bIns="0">
            <a:spAutoFit/>
          </a:bodyPr>
          <a:lstStyle/>
          <a:p>
            <a:pPr algn="ctr">
              <a:spcAft>
                <a:spcPts val="400"/>
              </a:spcAft>
            </a:pPr>
            <a:r>
              <a:rPr sz="3000" b="1">
                <a:solidFill>
                  <a:srgbClr val="FFFFFF"/>
                </a:solidFill>
                <a:latin typeface="Arial"/>
              </a:rPr>
              <a:t>4</a:t>
            </a:r>
          </a:p>
        </p:txBody>
      </p:sp>
      <p:sp>
        <p:nvSpPr>
          <p:cNvPr id="32" name="TextBox 31"/>
          <p:cNvSpPr txBox="1"/>
          <p:nvPr/>
        </p:nvSpPr>
        <p:spPr>
          <a:xfrm>
            <a:off x="7490763" y="3538728"/>
            <a:ext cx="1585569" cy="566928"/>
          </a:xfrm>
          <a:prstGeom prst="rect">
            <a:avLst/>
          </a:prstGeom>
          <a:noFill/>
        </p:spPr>
        <p:txBody>
          <a:bodyPr wrap="square" anchor="t" lIns="0" rIns="0" tIns="0" bIns="0">
            <a:spAutoFit/>
          </a:bodyPr>
          <a:lstStyle/>
          <a:p>
            <a:pPr algn="ctr">
              <a:spcAft>
                <a:spcPts val="400"/>
              </a:spcAft>
            </a:pPr>
            <a:r>
              <a:rPr sz="1350" b="1">
                <a:solidFill>
                  <a:srgbClr val="161B26"/>
                </a:solidFill>
                <a:latin typeface="Arial"/>
              </a:rPr>
              <a:t>Monitor</a:t>
            </a:r>
          </a:p>
        </p:txBody>
      </p:sp>
      <p:sp>
        <p:nvSpPr>
          <p:cNvPr id="33" name="TextBox 32"/>
          <p:cNvSpPr txBox="1"/>
          <p:nvPr/>
        </p:nvSpPr>
        <p:spPr>
          <a:xfrm>
            <a:off x="7490763" y="4087368"/>
            <a:ext cx="1585569" cy="685800"/>
          </a:xfrm>
          <a:prstGeom prst="rect">
            <a:avLst/>
          </a:prstGeom>
          <a:noFill/>
        </p:spPr>
        <p:txBody>
          <a:bodyPr wrap="square" anchor="t" lIns="0" rIns="0" tIns="0" bIns="0">
            <a:spAutoFit/>
          </a:bodyPr>
          <a:lstStyle/>
          <a:p>
            <a:pPr algn="ctr">
              <a:spcAft>
                <a:spcPts val="400"/>
              </a:spcAft>
            </a:pPr>
            <a:r>
              <a:rPr sz="1100" b="0">
                <a:solidFill>
                  <a:srgbClr val="5B6372"/>
                </a:solidFill>
                <a:latin typeface="Arial"/>
              </a:rPr>
              <a:t>variance against
the baseline</a:t>
            </a:r>
          </a:p>
        </p:txBody>
      </p:sp>
      <p:sp>
        <p:nvSpPr>
          <p:cNvPr id="34" name="TextBox 33"/>
          <p:cNvSpPr txBox="1"/>
          <p:nvPr/>
        </p:nvSpPr>
        <p:spPr>
          <a:xfrm>
            <a:off x="9222636" y="3291840"/>
            <a:ext cx="310896" cy="548640"/>
          </a:xfrm>
          <a:prstGeom prst="rect">
            <a:avLst/>
          </a:prstGeom>
          <a:noFill/>
        </p:spPr>
        <p:txBody>
          <a:bodyPr wrap="square" anchor="ctr" lIns="0" rIns="0" tIns="0" bIns="0">
            <a:spAutoFit/>
          </a:bodyPr>
          <a:lstStyle/>
          <a:p>
            <a:pPr algn="ctr">
              <a:spcAft>
                <a:spcPts val="400"/>
              </a:spcAft>
            </a:pPr>
            <a:r>
              <a:rPr sz="1500" b="1">
                <a:solidFill>
                  <a:srgbClr val="1F6FEB"/>
                </a:solidFill>
                <a:latin typeface="Arial"/>
              </a:rPr>
              <a:t>▶</a:t>
            </a:r>
          </a:p>
        </p:txBody>
      </p:sp>
      <p:sp>
        <p:nvSpPr>
          <p:cNvPr id="35" name="Rectangle 34"/>
          <p:cNvSpPr/>
          <p:nvPr/>
        </p:nvSpPr>
        <p:spPr>
          <a:xfrm>
            <a:off x="9533532" y="2240280"/>
            <a:ext cx="1878177"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7716" y="2624328"/>
            <a:ext cx="749808" cy="749808"/>
          </a:xfrm>
          <a:prstGeom prst="rect">
            <a:avLst/>
          </a:prstGeom>
          <a:noFill/>
        </p:spPr>
        <p:txBody>
          <a:bodyPr wrap="square" anchor="ctr" lIns="0" rIns="0" tIns="0" bIns="0">
            <a:spAutoFit/>
          </a:bodyPr>
          <a:lstStyle/>
          <a:p>
            <a:pPr algn="ctr">
              <a:spcAft>
                <a:spcPts val="400"/>
              </a:spcAft>
            </a:pPr>
            <a:r>
              <a:rPr sz="3000" b="1">
                <a:solidFill>
                  <a:srgbClr val="FFFFFF"/>
                </a:solidFill>
                <a:latin typeface="Arial"/>
              </a:rPr>
              <a:t>5</a:t>
            </a:r>
          </a:p>
        </p:txBody>
      </p:sp>
      <p:sp>
        <p:nvSpPr>
          <p:cNvPr id="39" name="TextBox 38"/>
          <p:cNvSpPr txBox="1"/>
          <p:nvPr/>
        </p:nvSpPr>
        <p:spPr>
          <a:xfrm>
            <a:off x="9679836" y="3538728"/>
            <a:ext cx="1585569" cy="566928"/>
          </a:xfrm>
          <a:prstGeom prst="rect">
            <a:avLst/>
          </a:prstGeom>
          <a:noFill/>
        </p:spPr>
        <p:txBody>
          <a:bodyPr wrap="square" anchor="t" lIns="0" rIns="0" tIns="0" bIns="0">
            <a:spAutoFit/>
          </a:bodyPr>
          <a:lstStyle/>
          <a:p>
            <a:pPr algn="ctr">
              <a:spcAft>
                <a:spcPts val="400"/>
              </a:spcAft>
            </a:pPr>
            <a:r>
              <a:rPr sz="1350" b="1">
                <a:solidFill>
                  <a:srgbClr val="161B26"/>
                </a:solidFill>
                <a:latin typeface="Arial"/>
              </a:rPr>
              <a:t>Close</a:t>
            </a:r>
          </a:p>
        </p:txBody>
      </p:sp>
      <p:sp>
        <p:nvSpPr>
          <p:cNvPr id="40" name="TextBox 39"/>
          <p:cNvSpPr txBox="1"/>
          <p:nvPr/>
        </p:nvSpPr>
        <p:spPr>
          <a:xfrm>
            <a:off x="9679836" y="4087368"/>
            <a:ext cx="1585569" cy="685800"/>
          </a:xfrm>
          <a:prstGeom prst="rect">
            <a:avLst/>
          </a:prstGeom>
          <a:noFill/>
        </p:spPr>
        <p:txBody>
          <a:bodyPr wrap="square" anchor="t" lIns="0" rIns="0" tIns="0" bIns="0">
            <a:spAutoFit/>
          </a:bodyPr>
          <a:lstStyle/>
          <a:p>
            <a:pPr algn="ctr">
              <a:spcAft>
                <a:spcPts val="400"/>
              </a:spcAft>
            </a:pPr>
            <a:r>
              <a:rPr sz="1100" b="0">
                <a:solidFill>
                  <a:srgbClr val="5B6372"/>
                </a:solidFill>
                <a:latin typeface="Arial"/>
              </a:rPr>
              <a:t>handover and
lessons learned</a:t>
            </a:r>
          </a:p>
        </p:txBody>
      </p:sp>
      <p:sp>
        <p:nvSpPr>
          <p:cNvPr id="41" name="Rectangle 40"/>
          <p:cNvSpPr/>
          <p:nvPr/>
        </p:nvSpPr>
        <p:spPr>
          <a:xfrm>
            <a:off x="777240" y="5138928"/>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38928"/>
            <a:ext cx="91440"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138928"/>
            <a:ext cx="10241280" cy="96012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Nothing here is wrong. It is simply built on an assumption: that the plan written at the start remains a good description of reality until the end.</a:t>
            </a:r>
          </a:p>
        </p:txBody>
      </p:sp>
      <p:sp>
        <p:nvSpPr>
          <p:cNvPr id="44" name="TextBox 43"/>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5" name="TextBox 44"/>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TOPIC 01 · THE PROBLEM SPACE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Challenges Every Project Manager Recognises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842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749808"/>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Scope creep</a:t>
            </a:r>
          </a:p>
          <a:p>
            <a:pPr algn="l">
              <a:spcAft>
                <a:spcPts val="300"/>
              </a:spcAft>
            </a:pPr>
            <a:r>
              <a:rPr sz="1150" b="0">
                <a:solidFill>
                  <a:srgbClr val="5B6372"/>
                </a:solidFill>
                <a:latin typeface="Arial"/>
              </a:rPr>
              <a:t>Requirements change after sign-off, and every change costs a variation order.</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8424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749808"/>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Resource constraints</a:t>
            </a:r>
          </a:p>
          <a:p>
            <a:pPr algn="l">
              <a:spcAft>
                <a:spcPts val="300"/>
              </a:spcAft>
            </a:pPr>
            <a:r>
              <a:rPr sz="1150" b="0">
                <a:solidFill>
                  <a:srgbClr val="5B6372"/>
                </a:solidFill>
                <a:latin typeface="Arial"/>
              </a:rPr>
              <a:t>Not enough people, or not enough of the right people at the right time.</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639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44952"/>
            <a:ext cx="4027932" cy="749808"/>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Unrealistic schedules</a:t>
            </a:r>
          </a:p>
          <a:p>
            <a:pPr algn="l">
              <a:spcAft>
                <a:spcPts val="300"/>
              </a:spcAft>
            </a:pPr>
            <a:r>
              <a:rPr sz="1150" b="0">
                <a:solidFill>
                  <a:srgbClr val="5B6372"/>
                </a:solidFill>
                <a:latin typeface="Arial"/>
              </a:rPr>
              <a:t>Dates set by commitment or hope rather than by capacity.</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639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44952"/>
            <a:ext cx="4027932" cy="749808"/>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Unproven technology</a:t>
            </a:r>
          </a:p>
          <a:p>
            <a:pPr algn="l">
              <a:spcAft>
                <a:spcPts val="300"/>
              </a:spcAft>
            </a:pPr>
            <a:r>
              <a:rPr sz="1150" b="0">
                <a:solidFill>
                  <a:srgbClr val="5B6372"/>
                </a:solidFill>
                <a:latin typeface="Arial"/>
              </a:rPr>
              <a:t>Platforms chosen early and validated far too late.</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85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97096"/>
            <a:ext cx="4027932" cy="749808"/>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Documentation burden</a:t>
            </a:r>
          </a:p>
          <a:p>
            <a:pPr algn="l">
              <a:spcAft>
                <a:spcPts val="300"/>
              </a:spcAft>
            </a:pPr>
            <a:r>
              <a:rPr sz="1150" b="0">
                <a:solidFill>
                  <a:srgbClr val="5B6372"/>
                </a:solidFill>
                <a:latin typeface="Arial"/>
              </a:rPr>
              <a:t>Reporting effort that grows faster than delivery effort.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853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97096"/>
            <a:ext cx="4027932" cy="749808"/>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Too many dependencies</a:t>
            </a:r>
          </a:p>
          <a:p>
            <a:pPr algn="l">
              <a:spcAft>
                <a:spcPts val="300"/>
              </a:spcAft>
            </a:pPr>
            <a:r>
              <a:rPr sz="1150" b="0">
                <a:solidFill>
                  <a:srgbClr val="5B6372"/>
                </a:solidFill>
                <a:latin typeface="Arial"/>
              </a:rPr>
              <a:t>One late input stalls a whole chain of work.</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4068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49240"/>
            <a:ext cx="4027932" cy="749808"/>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Stakeholder expectations</a:t>
            </a:r>
          </a:p>
          <a:p>
            <a:pPr algn="l">
              <a:spcAft>
                <a:spcPts val="300"/>
              </a:spcAft>
            </a:pPr>
            <a:r>
              <a:rPr sz="1150" b="0">
                <a:solidFill>
                  <a:srgbClr val="5B6372"/>
                </a:solidFill>
                <a:latin typeface="Arial"/>
              </a:rPr>
              <a:t>Different stakeholders holding different pictures of 'done'.</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40680"/>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49240"/>
            <a:ext cx="4027932" cy="749808"/>
          </a:xfrm>
          <a:prstGeom prst="rect">
            <a:avLst/>
          </a:prstGeom>
          <a:noFill/>
        </p:spPr>
        <p:txBody>
          <a:bodyPr wrap="square" anchor="ctr" lIns="0" rIns="0" tIns="0" bIns="0">
            <a:spAutoFit/>
          </a:bodyPr>
          <a:lstStyle/>
          <a:p>
            <a:pPr algn="l">
              <a:spcAft>
                <a:spcPts val="300"/>
              </a:spcAft>
            </a:pPr>
            <a:r>
              <a:rPr sz="1450" b="1">
                <a:solidFill>
                  <a:srgbClr val="161B26"/>
                </a:solidFill>
                <a:latin typeface="Arial"/>
              </a:rPr>
              <a:t>Late discovery</a:t>
            </a:r>
          </a:p>
          <a:p>
            <a:pPr algn="l">
              <a:spcAft>
                <a:spcPts val="300"/>
              </a:spcAft>
            </a:pPr>
            <a:r>
              <a:rPr sz="1150" b="0">
                <a:solidFill>
                  <a:srgbClr val="5B6372"/>
                </a:solidFill>
                <a:latin typeface="Arial"/>
              </a:rPr>
              <a:t>The biggest problems surface in the final third, when change is most expensive.</a:t>
            </a:r>
          </a:p>
        </p:txBody>
      </p:sp>
      <p:sp>
        <p:nvSpPr>
          <p:cNvPr id="47" name="TextBox 4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8" name="TextBox 4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DC2626"/>
                </a:solidFill>
                <a:latin typeface="Arial"/>
              </a:rPr>
              <a:t>TOPIC 01 · THE WATERFALL MODEL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Understanding the Waterfall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aterfall-vs-agile.png"/>
          <p:cNvPicPr>
            <a:picLocks noChangeAspect="1"/>
          </p:cNvPicPr>
          <p:nvPr/>
        </p:nvPicPr>
        <p:blipFill>
          <a:blip r:embed="rId2"/>
          <a:stretch>
            <a:fillRect/>
          </a:stretch>
        </p:blipFill>
        <p:spPr>
          <a:xfrm>
            <a:off x="777240" y="1828800"/>
            <a:ext cx="6400800" cy="2697857"/>
          </a:xfrm>
          <a:prstGeom prst="rect">
            <a:avLst/>
          </a:prstGeom>
        </p:spPr>
      </p:pic>
      <p:sp>
        <p:nvSpPr>
          <p:cNvPr id="8" name="Rectangle 7"/>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Scope frozen at the start</a:t>
            </a:r>
          </a:p>
          <a:p>
            <a:pPr algn="l">
              <a:spcAft>
                <a:spcPts val="400"/>
              </a:spcAft>
            </a:pPr>
            <a:r>
              <a:rPr sz="1150" b="0">
                <a:solidFill>
                  <a:srgbClr val="161B26"/>
                </a:solidFill>
                <a:latin typeface="Arial"/>
              </a:rPr>
              <a:t>The end product is fixed in all respects when the project begins.</a:t>
            </a:r>
          </a:p>
        </p:txBody>
      </p:sp>
      <p:sp>
        <p:nvSpPr>
          <p:cNvPr id="11" name="Rectangle 10"/>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Detailed upfront estimation</a:t>
            </a:r>
          </a:p>
          <a:p>
            <a:pPr algn="l">
              <a:spcAft>
                <a:spcPts val="400"/>
              </a:spcAft>
            </a:pPr>
            <a:r>
              <a:rPr sz="1150" b="0">
                <a:solidFill>
                  <a:srgbClr val="161B26"/>
                </a:solidFill>
                <a:latin typeface="Arial"/>
              </a:rPr>
              <a:t>Requires complete estimation and planning before any build.</a:t>
            </a:r>
          </a:p>
        </p:txBody>
      </p:sp>
      <p:sp>
        <p:nvSpPr>
          <p:cNvPr id="14" name="Rectangle 13"/>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Change is a cost event</a:t>
            </a:r>
          </a:p>
          <a:p>
            <a:pPr algn="l">
              <a:spcAft>
                <a:spcPts val="400"/>
              </a:spcAft>
            </a:pPr>
            <a:r>
              <a:rPr sz="1150" b="0">
                <a:solidFill>
                  <a:srgbClr val="161B26"/>
                </a:solidFill>
                <a:latin typeface="Arial"/>
              </a:rPr>
              <a:t>Mid-course changes cause delays and formal variation orders.</a:t>
            </a:r>
          </a:p>
        </p:txBody>
      </p:sp>
      <p:sp>
        <p:nvSpPr>
          <p:cNvPr id="17" name="Rectangle 16"/>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One integration point</a:t>
            </a:r>
          </a:p>
          <a:p>
            <a:pPr algn="l">
              <a:spcAft>
                <a:spcPts val="400"/>
              </a:spcAft>
            </a:pPr>
            <a:r>
              <a:rPr sz="1150" b="0">
                <a:solidFill>
                  <a:srgbClr val="161B26"/>
                </a:solidFill>
                <a:latin typeface="Arial"/>
              </a:rPr>
              <a:t>The parts meet late, so integration risk peaks at the worst moment.</a:t>
            </a:r>
          </a:p>
        </p:txBody>
      </p:sp>
      <p:sp>
        <p:nvSpPr>
          <p:cNvPr id="20" name="TextBox 1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1" name="TextBox 2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DC2626"/>
                </a:solidFill>
                <a:latin typeface="Arial"/>
              </a:rPr>
              <a:t>TOPIC 01 · WHY IT STRUGGLES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Challenges with the Waterfall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032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032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Change is hostile</a:t>
            </a:r>
          </a:p>
          <a:p>
            <a:pPr algn="l">
              <a:spcAft>
                <a:spcPts val="300"/>
              </a:spcAft>
            </a:pPr>
            <a:r>
              <a:rPr sz="1200" b="0">
                <a:solidFill>
                  <a:srgbClr val="5B6372"/>
                </a:solidFill>
                <a:latin typeface="Arial"/>
              </a:rPr>
              <a:t>Managing changing requirements mid-lifecycle fights the model rather than using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032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032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Late visibility</a:t>
            </a:r>
          </a:p>
          <a:p>
            <a:pPr algn="l">
              <a:spcAft>
                <a:spcPts val="300"/>
              </a:spcAft>
            </a:pPr>
            <a:r>
              <a:rPr sz="1200" b="0">
                <a:solidFill>
                  <a:srgbClr val="5B6372"/>
                </a:solidFill>
                <a:latin typeface="Arial"/>
              </a:rPr>
              <a:t>Nobody sees the end product until the end of the lifecycle.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460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460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Risk loading</a:t>
            </a:r>
          </a:p>
          <a:p>
            <a:pPr algn="l">
              <a:spcAft>
                <a:spcPts val="300"/>
              </a:spcAft>
            </a:pPr>
            <a:r>
              <a:rPr sz="1200" b="0">
                <a:solidFill>
                  <a:srgbClr val="5B6372"/>
                </a:solidFill>
                <a:latin typeface="Arial"/>
              </a:rPr>
              <a:t>Risk and uncertainty concentrate at the point where they are most expensive to fix.</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460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460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Complexity upfront</a:t>
            </a:r>
          </a:p>
          <a:p>
            <a:pPr algn="l">
              <a:spcAft>
                <a:spcPts val="300"/>
              </a:spcAft>
            </a:pPr>
            <a:r>
              <a:rPr sz="1200" b="0">
                <a:solidFill>
                  <a:srgbClr val="5B6372"/>
                </a:solidFill>
                <a:latin typeface="Arial"/>
              </a:rPr>
              <a:t>The model asks you to fully understand a complex problem before you have built anything.</a:t>
            </a:r>
          </a:p>
        </p:txBody>
      </p:sp>
      <p:sp>
        <p:nvSpPr>
          <p:cNvPr id="27" name="TextBox 2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8" name="TextBox 2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DC2626"/>
                </a:solidFill>
                <a:latin typeface="Arial"/>
              </a:rPr>
              <a:t>TOPIC 01 · WHY LATE DISCOVERY IS EXPENSIVE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Cost of Change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st-of-change.png"/>
          <p:cNvPicPr>
            <a:picLocks noChangeAspect="1"/>
          </p:cNvPicPr>
          <p:nvPr/>
        </p:nvPicPr>
        <p:blipFill>
          <a:blip r:embed="rId2"/>
          <a:stretch>
            <a:fillRect/>
          </a:stretch>
        </p:blipFill>
        <p:spPr>
          <a:xfrm>
            <a:off x="2667064" y="1810512"/>
            <a:ext cx="6857566" cy="3931920"/>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This single curve is the economic argument for short iterations — it is not about speed, it is about the price of being wrong.</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01 · DEFINING AGILE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What Agile Actually 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2466594"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An umbrella term</a:t>
            </a:r>
          </a:p>
        </p:txBody>
      </p:sp>
      <p:sp>
        <p:nvSpPr>
          <p:cNvPr id="12" name="TextBox 11"/>
          <p:cNvSpPr txBox="1"/>
          <p:nvPr/>
        </p:nvSpPr>
        <p:spPr>
          <a:xfrm>
            <a:off x="1014984"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Agile covers many iterative, incremental methods — it is not one process.</a:t>
            </a:r>
          </a:p>
        </p:txBody>
      </p:sp>
      <p:sp>
        <p:nvSpPr>
          <p:cNvPr id="13" name="Rectangle 12"/>
          <p:cNvSpPr/>
          <p:nvPr/>
        </p:nvSpPr>
        <p:spPr>
          <a:xfrm>
            <a:off x="3499866" y="1810512"/>
            <a:ext cx="2466594"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19322"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32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4213098" y="1956816"/>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Iterative delivery</a:t>
            </a:r>
          </a:p>
        </p:txBody>
      </p:sp>
      <p:sp>
        <p:nvSpPr>
          <p:cNvPr id="18" name="TextBox 17"/>
          <p:cNvSpPr txBox="1"/>
          <p:nvPr/>
        </p:nvSpPr>
        <p:spPr>
          <a:xfrm>
            <a:off x="3737610"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APM: 'an iterative approach to delivering a project throughout its life cycle'.</a:t>
            </a:r>
          </a:p>
        </p:txBody>
      </p:sp>
      <p:sp>
        <p:nvSpPr>
          <p:cNvPr id="19" name="Rectangle 18"/>
          <p:cNvSpPr/>
          <p:nvPr/>
        </p:nvSpPr>
        <p:spPr>
          <a:xfrm>
            <a:off x="6222492" y="1810512"/>
            <a:ext cx="2466594"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1948"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6935724" y="1956816"/>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Built for software, used everywhere</a:t>
            </a:r>
          </a:p>
        </p:txBody>
      </p:sp>
      <p:sp>
        <p:nvSpPr>
          <p:cNvPr id="24" name="TextBox 23"/>
          <p:cNvSpPr txBox="1"/>
          <p:nvPr/>
        </p:nvSpPr>
        <p:spPr>
          <a:xfrm>
            <a:off x="6460236"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Now standard in marketing, finance, HR, construction and biotech.</a:t>
            </a:r>
          </a:p>
        </p:txBody>
      </p:sp>
      <p:sp>
        <p:nvSpPr>
          <p:cNvPr id="25" name="Rectangle 24"/>
          <p:cNvSpPr/>
          <p:nvPr/>
        </p:nvSpPr>
        <p:spPr>
          <a:xfrm>
            <a:off x="8945118" y="1810512"/>
            <a:ext cx="2466594" cy="278892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1810512"/>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4574"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457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58350" y="1956816"/>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A mindset, not a ceremony</a:t>
            </a:r>
          </a:p>
        </p:txBody>
      </p:sp>
      <p:sp>
        <p:nvSpPr>
          <p:cNvPr id="30" name="TextBox 29"/>
          <p:cNvSpPr txBox="1"/>
          <p:nvPr/>
        </p:nvSpPr>
        <p:spPr>
          <a:xfrm>
            <a:off x="9182862"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Running stand-ups without changing how decisions are made is not Agile.</a:t>
            </a:r>
          </a:p>
        </p:txBody>
      </p:sp>
      <p:sp>
        <p:nvSpPr>
          <p:cNvPr id="31" name="Rectangle 30"/>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64608"/>
            <a:ext cx="91440"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0B981"/>
                </a:solidFill>
                <a:latin typeface="Arial"/>
              </a:rPr>
              <a:t>THE CORE IDEA</a:t>
            </a:r>
          </a:p>
        </p:txBody>
      </p:sp>
      <p:sp>
        <p:nvSpPr>
          <p:cNvPr id="34" name="TextBox 33"/>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Deliver in small increments, get feedback from real users, and let what you learn change what you build next. Everything else in this course is machinery for doing that reliably.</a:t>
            </a:r>
          </a:p>
        </p:txBody>
      </p:sp>
      <p:sp>
        <p:nvSpPr>
          <p:cNvPr id="35" name="TextBox 3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6" name="TextBox 3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01 · THE SHIFT</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Agile vs Traditional Project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alue-delivery.png"/>
          <p:cNvPicPr>
            <a:picLocks noChangeAspect="1"/>
          </p:cNvPicPr>
          <p:nvPr/>
        </p:nvPicPr>
        <p:blipFill>
          <a:blip r:embed="rId2"/>
          <a:stretch>
            <a:fillRect/>
          </a:stretch>
        </p:blipFill>
        <p:spPr>
          <a:xfrm>
            <a:off x="777240" y="1828800"/>
            <a:ext cx="6400800" cy="3538296"/>
          </a:xfrm>
          <a:prstGeom prst="rect">
            <a:avLst/>
          </a:prstGeom>
        </p:spPr>
      </p:pic>
      <p:sp>
        <p:nvSpPr>
          <p:cNvPr id="8" name="Rectangle 7"/>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Builds in increments</a:t>
            </a:r>
          </a:p>
          <a:p>
            <a:pPr algn="l">
              <a:spcAft>
                <a:spcPts val="400"/>
              </a:spcAft>
            </a:pPr>
            <a:r>
              <a:rPr sz="1150" b="0">
                <a:solidFill>
                  <a:srgbClr val="161B26"/>
                </a:solidFill>
                <a:latin typeface="Arial"/>
              </a:rPr>
              <a:t>Rather than delivering the whole product as one event.</a:t>
            </a:r>
          </a:p>
        </p:txBody>
      </p:sp>
      <p:sp>
        <p:nvSpPr>
          <p:cNvPr id="11" name="Rectangle 10"/>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Plans continuously</a:t>
            </a:r>
          </a:p>
          <a:p>
            <a:pPr algn="l">
              <a:spcAft>
                <a:spcPts val="400"/>
              </a:spcAft>
            </a:pPr>
            <a:r>
              <a:rPr sz="1150" b="0">
                <a:solidFill>
                  <a:srgbClr val="161B26"/>
                </a:solidFill>
                <a:latin typeface="Arial"/>
              </a:rPr>
              <a:t>Planning happens throughout, not only at the start.</a:t>
            </a:r>
          </a:p>
        </p:txBody>
      </p:sp>
      <p:sp>
        <p:nvSpPr>
          <p:cNvPr id="14" name="Rectangle 13"/>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Customer sees value faster</a:t>
            </a:r>
          </a:p>
          <a:p>
            <a:pPr algn="l">
              <a:spcAft>
                <a:spcPts val="400"/>
              </a:spcAft>
            </a:pPr>
            <a:r>
              <a:rPr sz="1150" b="0">
                <a:solidFill>
                  <a:srgbClr val="161B26"/>
                </a:solidFill>
                <a:latin typeface="Arial"/>
              </a:rPr>
              <a:t>Benefit is released during the project, not after it.</a:t>
            </a:r>
          </a:p>
        </p:txBody>
      </p:sp>
      <p:sp>
        <p:nvSpPr>
          <p:cNvPr id="17" name="Rectangle 16"/>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Change is welcomed</a:t>
            </a:r>
          </a:p>
          <a:p>
            <a:pPr algn="l">
              <a:spcAft>
                <a:spcPts val="400"/>
              </a:spcAft>
            </a:pPr>
            <a:r>
              <a:rPr sz="1150" b="0">
                <a:solidFill>
                  <a:srgbClr val="161B26"/>
                </a:solidFill>
                <a:latin typeface="Arial"/>
              </a:rPr>
              <a:t>Change is expected and priced in, not resisted.</a:t>
            </a:r>
          </a:p>
        </p:txBody>
      </p:sp>
      <p:sp>
        <p:nvSpPr>
          <p:cNvPr id="20" name="TextBox 1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1" name="TextBox 2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01 · SIDE BY SIDE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Comparison of Agile and Waterfall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1810512"/>
            <a:ext cx="2545506"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Aspect</a:t>
            </a:r>
          </a:p>
        </p:txBody>
      </p:sp>
      <p:sp>
        <p:nvSpPr>
          <p:cNvPr id="9" name="TextBox 8"/>
          <p:cNvSpPr txBox="1"/>
          <p:nvPr/>
        </p:nvSpPr>
        <p:spPr>
          <a:xfrm>
            <a:off x="3688506" y="1810512"/>
            <a:ext cx="3715298"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Waterfall / Traditional</a:t>
            </a:r>
          </a:p>
        </p:txBody>
      </p:sp>
      <p:sp>
        <p:nvSpPr>
          <p:cNvPr id="10" name="TextBox 9"/>
          <p:cNvSpPr txBox="1"/>
          <p:nvPr/>
        </p:nvSpPr>
        <p:spPr>
          <a:xfrm>
            <a:off x="7623260" y="1810512"/>
            <a:ext cx="3715298"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Agile</a:t>
            </a:r>
          </a:p>
        </p:txBody>
      </p:sp>
      <p:sp>
        <p:nvSpPr>
          <p:cNvPr id="11" name="Rectangle 10"/>
          <p:cNvSpPr/>
          <p:nvPr/>
        </p:nvSpPr>
        <p:spPr>
          <a:xfrm>
            <a:off x="777240" y="2267712"/>
            <a:ext cx="10634472" cy="39662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2267712"/>
            <a:ext cx="2545506" cy="39662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Approach</a:t>
            </a:r>
          </a:p>
        </p:txBody>
      </p:sp>
      <p:sp>
        <p:nvSpPr>
          <p:cNvPr id="13" name="TextBox 12"/>
          <p:cNvSpPr txBox="1"/>
          <p:nvPr/>
        </p:nvSpPr>
        <p:spPr>
          <a:xfrm>
            <a:off x="3688506" y="2267712"/>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Sequential phases, one pass</a:t>
            </a:r>
          </a:p>
        </p:txBody>
      </p:sp>
      <p:sp>
        <p:nvSpPr>
          <p:cNvPr id="14" name="TextBox 13"/>
          <p:cNvSpPr txBox="1"/>
          <p:nvPr/>
        </p:nvSpPr>
        <p:spPr>
          <a:xfrm>
            <a:off x="7623260" y="2267712"/>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Iterative and incremental</a:t>
            </a:r>
          </a:p>
        </p:txBody>
      </p:sp>
      <p:sp>
        <p:nvSpPr>
          <p:cNvPr id="15" name="Rectangle 14"/>
          <p:cNvSpPr/>
          <p:nvPr/>
        </p:nvSpPr>
        <p:spPr>
          <a:xfrm>
            <a:off x="777240" y="2664333"/>
            <a:ext cx="10634472" cy="39662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 y="2664333"/>
            <a:ext cx="2545506" cy="39662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Requirements</a:t>
            </a:r>
          </a:p>
        </p:txBody>
      </p:sp>
      <p:sp>
        <p:nvSpPr>
          <p:cNvPr id="17" name="TextBox 16"/>
          <p:cNvSpPr txBox="1"/>
          <p:nvPr/>
        </p:nvSpPr>
        <p:spPr>
          <a:xfrm>
            <a:off x="3688506" y="2664333"/>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Fixed and signed off upfront</a:t>
            </a:r>
          </a:p>
        </p:txBody>
      </p:sp>
      <p:sp>
        <p:nvSpPr>
          <p:cNvPr id="18" name="TextBox 17"/>
          <p:cNvSpPr txBox="1"/>
          <p:nvPr/>
        </p:nvSpPr>
        <p:spPr>
          <a:xfrm>
            <a:off x="7623260" y="2664333"/>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Emerge and are re-ordered continuously</a:t>
            </a:r>
          </a:p>
        </p:txBody>
      </p:sp>
      <p:sp>
        <p:nvSpPr>
          <p:cNvPr id="19" name="Rectangle 18"/>
          <p:cNvSpPr/>
          <p:nvPr/>
        </p:nvSpPr>
        <p:spPr>
          <a:xfrm>
            <a:off x="777240" y="3060954"/>
            <a:ext cx="10634472" cy="39662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 y="3060954"/>
            <a:ext cx="2545506" cy="39662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Flexibility</a:t>
            </a:r>
          </a:p>
        </p:txBody>
      </p:sp>
      <p:sp>
        <p:nvSpPr>
          <p:cNvPr id="21" name="TextBox 20"/>
          <p:cNvSpPr txBox="1"/>
          <p:nvPr/>
        </p:nvSpPr>
        <p:spPr>
          <a:xfrm>
            <a:off x="3688506" y="3060954"/>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Resists change after planning</a:t>
            </a:r>
          </a:p>
        </p:txBody>
      </p:sp>
      <p:sp>
        <p:nvSpPr>
          <p:cNvPr id="22" name="TextBox 21"/>
          <p:cNvSpPr txBox="1"/>
          <p:nvPr/>
        </p:nvSpPr>
        <p:spPr>
          <a:xfrm>
            <a:off x="7623260" y="3060954"/>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Adapts throughout</a:t>
            </a:r>
          </a:p>
        </p:txBody>
      </p:sp>
      <p:sp>
        <p:nvSpPr>
          <p:cNvPr id="23" name="Rectangle 22"/>
          <p:cNvSpPr/>
          <p:nvPr/>
        </p:nvSpPr>
        <p:spPr>
          <a:xfrm>
            <a:off x="777240" y="3457575"/>
            <a:ext cx="10634472" cy="39662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 y="3457575"/>
            <a:ext cx="2545506" cy="39662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Customer role</a:t>
            </a:r>
          </a:p>
        </p:txBody>
      </p:sp>
      <p:sp>
        <p:nvSpPr>
          <p:cNvPr id="25" name="TextBox 24"/>
          <p:cNvSpPr txBox="1"/>
          <p:nvPr/>
        </p:nvSpPr>
        <p:spPr>
          <a:xfrm>
            <a:off x="3688506" y="3457575"/>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Consulted at start and at UAT</a:t>
            </a:r>
          </a:p>
        </p:txBody>
      </p:sp>
      <p:sp>
        <p:nvSpPr>
          <p:cNvPr id="26" name="TextBox 25"/>
          <p:cNvSpPr txBox="1"/>
          <p:nvPr/>
        </p:nvSpPr>
        <p:spPr>
          <a:xfrm>
            <a:off x="7623260" y="3457575"/>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Continuous collaboration</a:t>
            </a:r>
          </a:p>
        </p:txBody>
      </p:sp>
      <p:sp>
        <p:nvSpPr>
          <p:cNvPr id="27" name="Rectangle 26"/>
          <p:cNvSpPr/>
          <p:nvPr/>
        </p:nvSpPr>
        <p:spPr>
          <a:xfrm>
            <a:off x="777240" y="3854196"/>
            <a:ext cx="10634472" cy="39662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 y="3854196"/>
            <a:ext cx="2545506" cy="39662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Delivery</a:t>
            </a:r>
          </a:p>
        </p:txBody>
      </p:sp>
      <p:sp>
        <p:nvSpPr>
          <p:cNvPr id="29" name="TextBox 28"/>
          <p:cNvSpPr txBox="1"/>
          <p:nvPr/>
        </p:nvSpPr>
        <p:spPr>
          <a:xfrm>
            <a:off x="3688506" y="3854196"/>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One release at the end</a:t>
            </a:r>
          </a:p>
        </p:txBody>
      </p:sp>
      <p:sp>
        <p:nvSpPr>
          <p:cNvPr id="30" name="TextBox 29"/>
          <p:cNvSpPr txBox="1"/>
          <p:nvPr/>
        </p:nvSpPr>
        <p:spPr>
          <a:xfrm>
            <a:off x="7623260" y="3854196"/>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A usable increment every sprint</a:t>
            </a:r>
          </a:p>
        </p:txBody>
      </p:sp>
      <p:sp>
        <p:nvSpPr>
          <p:cNvPr id="31" name="Rectangle 30"/>
          <p:cNvSpPr/>
          <p:nvPr/>
        </p:nvSpPr>
        <p:spPr>
          <a:xfrm>
            <a:off x="777240" y="4250817"/>
            <a:ext cx="10634472" cy="39662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3544" y="4250817"/>
            <a:ext cx="2545506" cy="39662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Risk</a:t>
            </a:r>
          </a:p>
        </p:txBody>
      </p:sp>
      <p:sp>
        <p:nvSpPr>
          <p:cNvPr id="33" name="TextBox 32"/>
          <p:cNvSpPr txBox="1"/>
          <p:nvPr/>
        </p:nvSpPr>
        <p:spPr>
          <a:xfrm>
            <a:off x="3688506" y="4250817"/>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Addressed upfront, realised late</a:t>
            </a:r>
          </a:p>
        </p:txBody>
      </p:sp>
      <p:sp>
        <p:nvSpPr>
          <p:cNvPr id="34" name="TextBox 33"/>
          <p:cNvSpPr txBox="1"/>
          <p:nvPr/>
        </p:nvSpPr>
        <p:spPr>
          <a:xfrm>
            <a:off x="7623260" y="4250817"/>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Retired continuously</a:t>
            </a:r>
          </a:p>
        </p:txBody>
      </p:sp>
      <p:sp>
        <p:nvSpPr>
          <p:cNvPr id="35" name="Rectangle 34"/>
          <p:cNvSpPr/>
          <p:nvPr/>
        </p:nvSpPr>
        <p:spPr>
          <a:xfrm>
            <a:off x="777240" y="4647438"/>
            <a:ext cx="10634472" cy="396621"/>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3544" y="4647438"/>
            <a:ext cx="2545506" cy="39662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Documentation</a:t>
            </a:r>
          </a:p>
        </p:txBody>
      </p:sp>
      <p:sp>
        <p:nvSpPr>
          <p:cNvPr id="37" name="TextBox 36"/>
          <p:cNvSpPr txBox="1"/>
          <p:nvPr/>
        </p:nvSpPr>
        <p:spPr>
          <a:xfrm>
            <a:off x="3688506" y="4647438"/>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Comprehensive by mandate</a:t>
            </a:r>
          </a:p>
        </p:txBody>
      </p:sp>
      <p:sp>
        <p:nvSpPr>
          <p:cNvPr id="38" name="TextBox 37"/>
          <p:cNvSpPr txBox="1"/>
          <p:nvPr/>
        </p:nvSpPr>
        <p:spPr>
          <a:xfrm>
            <a:off x="7623260" y="4647438"/>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Barely sufficient, just in time</a:t>
            </a:r>
          </a:p>
        </p:txBody>
      </p:sp>
      <p:sp>
        <p:nvSpPr>
          <p:cNvPr id="39" name="Rectangle 38"/>
          <p:cNvSpPr/>
          <p:nvPr/>
        </p:nvSpPr>
        <p:spPr>
          <a:xfrm>
            <a:off x="777240" y="5044059"/>
            <a:ext cx="10634472" cy="39662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3544" y="5044059"/>
            <a:ext cx="2545506" cy="396621"/>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Team structure</a:t>
            </a:r>
          </a:p>
        </p:txBody>
      </p:sp>
      <p:sp>
        <p:nvSpPr>
          <p:cNvPr id="41" name="TextBox 40"/>
          <p:cNvSpPr txBox="1"/>
          <p:nvPr/>
        </p:nvSpPr>
        <p:spPr>
          <a:xfrm>
            <a:off x="3688506" y="5044059"/>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Hierarchical, specialised roles</a:t>
            </a:r>
          </a:p>
        </p:txBody>
      </p:sp>
      <p:sp>
        <p:nvSpPr>
          <p:cNvPr id="42" name="TextBox 41"/>
          <p:cNvSpPr txBox="1"/>
          <p:nvPr/>
        </p:nvSpPr>
        <p:spPr>
          <a:xfrm>
            <a:off x="7623260" y="5044059"/>
            <a:ext cx="3715298" cy="396621"/>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Self-organising, cross-functional</a:t>
            </a:r>
          </a:p>
        </p:txBody>
      </p:sp>
      <p:sp>
        <p:nvSpPr>
          <p:cNvPr id="43" name="Rectangle 42"/>
          <p:cNvSpPr/>
          <p:nvPr/>
        </p:nvSpPr>
        <p:spPr>
          <a:xfrm>
            <a:off x="777240" y="5605272"/>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605272"/>
            <a:ext cx="91440"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605272"/>
            <a:ext cx="10177272" cy="621792"/>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Neither column is 'better'. The right question is which column matches the uncertainty of YOUR work.</a:t>
            </a:r>
          </a:p>
        </p:txBody>
      </p:sp>
      <p:sp>
        <p:nvSpPr>
          <p:cNvPr id="46" name="TextBox 45"/>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7" name="TextBox 46"/>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01 · THE PARADIGM SHIFT</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Inverting the Triangle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ron-triangle.png"/>
          <p:cNvPicPr>
            <a:picLocks noChangeAspect="1"/>
          </p:cNvPicPr>
          <p:nvPr/>
        </p:nvPicPr>
        <p:blipFill>
          <a:blip r:embed="rId2"/>
          <a:stretch>
            <a:fillRect/>
          </a:stretch>
        </p:blipFill>
        <p:spPr>
          <a:xfrm>
            <a:off x="777240" y="1828800"/>
            <a:ext cx="6400800" cy="2647603"/>
          </a:xfrm>
          <a:prstGeom prst="rect">
            <a:avLst/>
          </a:prstGeom>
        </p:spPr>
      </p:pic>
      <p:sp>
        <p:nvSpPr>
          <p:cNvPr id="8" name="Rectangle 7"/>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Waterfall fixes scope</a:t>
            </a:r>
          </a:p>
          <a:p>
            <a:pPr algn="l">
              <a:spcAft>
                <a:spcPts val="400"/>
              </a:spcAft>
            </a:pPr>
            <a:r>
              <a:rPr sz="1150" b="0">
                <a:solidFill>
                  <a:srgbClr val="161B26"/>
                </a:solidFill>
                <a:latin typeface="Arial"/>
              </a:rPr>
              <a:t>Time and cost flex to deliver the agreed feature list.</a:t>
            </a:r>
          </a:p>
        </p:txBody>
      </p:sp>
      <p:sp>
        <p:nvSpPr>
          <p:cNvPr id="11" name="Rectangle 10"/>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Agile fixes time and cost</a:t>
            </a:r>
          </a:p>
          <a:p>
            <a:pPr algn="l">
              <a:spcAft>
                <a:spcPts val="400"/>
              </a:spcAft>
            </a:pPr>
            <a:r>
              <a:rPr sz="1150" b="0">
                <a:solidFill>
                  <a:srgbClr val="161B26"/>
                </a:solidFill>
                <a:latin typeface="Arial"/>
              </a:rPr>
              <a:t>You buy a stable team and a timebox; scope is the variable.</a:t>
            </a:r>
          </a:p>
        </p:txBody>
      </p:sp>
      <p:sp>
        <p:nvSpPr>
          <p:cNvPr id="14" name="Rectangle 13"/>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This is the real trade</a:t>
            </a:r>
          </a:p>
          <a:p>
            <a:pPr algn="l">
              <a:spcAft>
                <a:spcPts val="400"/>
              </a:spcAft>
            </a:pPr>
            <a:r>
              <a:rPr sz="1150" b="0">
                <a:solidFill>
                  <a:srgbClr val="161B26"/>
                </a:solidFill>
                <a:latin typeface="Arial"/>
              </a:rPr>
              <a:t>You cannot fix all three and still respond to what you learn.</a:t>
            </a:r>
          </a:p>
        </p:txBody>
      </p:sp>
      <p:sp>
        <p:nvSpPr>
          <p:cNvPr id="17" name="Rectangle 16"/>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Implication for governance</a:t>
            </a:r>
          </a:p>
          <a:p>
            <a:pPr algn="l">
              <a:spcAft>
                <a:spcPts val="400"/>
              </a:spcAft>
            </a:pPr>
            <a:r>
              <a:rPr sz="1150" b="0">
                <a:solidFill>
                  <a:srgbClr val="161B26"/>
                </a:solidFill>
                <a:latin typeface="Arial"/>
              </a:rPr>
              <a:t>Funding shifts from one big approval to incremental funding decisions.</a:t>
            </a:r>
          </a:p>
        </p:txBody>
      </p:sp>
      <p:sp>
        <p:nvSpPr>
          <p:cNvPr id="20" name="TextBox 1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1" name="TextBox 2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01 · K1 · METHODS AND TOOLS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Analysing the Business Operating Landscape (K1)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PESTLE</a:t>
            </a:r>
          </a:p>
          <a:p>
            <a:pPr algn="l">
              <a:spcAft>
                <a:spcPts val="300"/>
              </a:spcAft>
            </a:pPr>
            <a:r>
              <a:rPr sz="1100" b="0">
                <a:solidFill>
                  <a:srgbClr val="5B6372"/>
                </a:solidFill>
                <a:latin typeface="Arial"/>
              </a:rPr>
              <a:t>Political, economic, social, technological, legal and environmental forces reshaping the market.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SWOT</a:t>
            </a:r>
          </a:p>
          <a:p>
            <a:pPr algn="l">
              <a:spcAft>
                <a:spcPts val="300"/>
              </a:spcAft>
            </a:pPr>
            <a:r>
              <a:rPr sz="1100" b="0">
                <a:solidFill>
                  <a:srgbClr val="5B6372"/>
                </a:solidFill>
                <a:latin typeface="Arial"/>
              </a:rPr>
              <a:t>Internal strengths and weaknesses against external opportunities and threats.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Porter's Five Forces</a:t>
            </a:r>
          </a:p>
          <a:p>
            <a:pPr algn="l">
              <a:spcAft>
                <a:spcPts val="300"/>
              </a:spcAft>
            </a:pPr>
            <a:r>
              <a:rPr sz="1100" b="0">
                <a:solidFill>
                  <a:srgbClr val="5B6372"/>
                </a:solidFill>
                <a:latin typeface="Arial"/>
              </a:rPr>
              <a:t>Competitive rivalry, supplier and buyer power, substitutes and new entrants.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Scenario planning</a:t>
            </a:r>
          </a:p>
          <a:p>
            <a:pPr algn="l">
              <a:spcAft>
                <a:spcPts val="300"/>
              </a:spcAft>
            </a:pPr>
            <a:r>
              <a:rPr sz="1100" b="0">
                <a:solidFill>
                  <a:srgbClr val="5B6372"/>
                </a:solidFill>
                <a:latin typeface="Arial"/>
              </a:rPr>
              <a:t>Several plausible futures rather than one forecast, each with a response.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VUCA framing</a:t>
            </a:r>
          </a:p>
          <a:p>
            <a:pPr algn="l">
              <a:spcAft>
                <a:spcPts val="300"/>
              </a:spcAft>
            </a:pPr>
            <a:r>
              <a:rPr sz="1100" b="0">
                <a:solidFill>
                  <a:srgbClr val="5B6372"/>
                </a:solidFill>
                <a:latin typeface="Arial"/>
              </a:rPr>
              <a:t>Volatility, uncertainty, complexity and ambiguity — name which one you actually face.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Re-run the analysis</a:t>
            </a:r>
          </a:p>
          <a:p>
            <a:pPr algn="l">
              <a:spcAft>
                <a:spcPts val="300"/>
              </a:spcAft>
            </a:pPr>
            <a:r>
              <a:rPr sz="1100" b="0">
                <a:solidFill>
                  <a:srgbClr val="5B6372"/>
                </a:solidFill>
                <a:latin typeface="Arial"/>
              </a:rPr>
              <a:t>The Agile difference: quarterly, not once per project.</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01 · K2 · METHODS AND TOOLS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Analysing Customer Needs and Preferences (K2)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Personas &amp; empathy maps</a:t>
            </a:r>
          </a:p>
          <a:p>
            <a:pPr algn="l">
              <a:spcAft>
                <a:spcPts val="300"/>
              </a:spcAft>
            </a:pPr>
            <a:r>
              <a:rPr sz="1100" b="0">
                <a:solidFill>
                  <a:srgbClr val="5B6372"/>
                </a:solidFill>
                <a:latin typeface="Arial"/>
              </a:rPr>
              <a:t>What the customer says, thinks, does and feels — used in Activity 1.</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Journey maps</a:t>
            </a:r>
          </a:p>
          <a:p>
            <a:pPr algn="l">
              <a:spcAft>
                <a:spcPts val="300"/>
              </a:spcAft>
            </a:pPr>
            <a:r>
              <a:rPr sz="1100" b="0">
                <a:solidFill>
                  <a:srgbClr val="5B6372"/>
                </a:solidFill>
                <a:latin typeface="Arial"/>
              </a:rPr>
              <a:t>The end-to-end experience, exposing where the pain actually sits.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Jobs to be done</a:t>
            </a:r>
          </a:p>
          <a:p>
            <a:pPr algn="l">
              <a:spcAft>
                <a:spcPts val="300"/>
              </a:spcAft>
            </a:pPr>
            <a:r>
              <a:rPr sz="1100" b="0">
                <a:solidFill>
                  <a:srgbClr val="5B6372"/>
                </a:solidFill>
                <a:latin typeface="Arial"/>
              </a:rPr>
              <a:t>The progress the customer is trying to make, not the feature they requested.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Kano analysis</a:t>
            </a:r>
          </a:p>
          <a:p>
            <a:pPr algn="l">
              <a:spcAft>
                <a:spcPts val="300"/>
              </a:spcAft>
            </a:pPr>
            <a:r>
              <a:rPr sz="1100" b="0">
                <a:solidFill>
                  <a:srgbClr val="5B6372"/>
                </a:solidFill>
                <a:latin typeface="Arial"/>
              </a:rPr>
              <a:t>Sorting delighters, satisfiers, must-haves and indifferent features.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A/B experiments</a:t>
            </a:r>
          </a:p>
          <a:p>
            <a:pPr algn="l">
              <a:spcAft>
                <a:spcPts val="300"/>
              </a:spcAft>
            </a:pPr>
            <a:r>
              <a:rPr sz="1100" b="0">
                <a:solidFill>
                  <a:srgbClr val="5B6372"/>
                </a:solidFill>
                <a:latin typeface="Arial"/>
              </a:rPr>
              <a:t>Testing a preference with real behaviour instead of asking an opinion.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Continuous feedback</a:t>
            </a:r>
          </a:p>
          <a:p>
            <a:pPr algn="l">
              <a:spcAft>
                <a:spcPts val="300"/>
              </a:spcAft>
            </a:pPr>
            <a:r>
              <a:rPr sz="1100" b="0">
                <a:solidFill>
                  <a:srgbClr val="5B6372"/>
                </a:solidFill>
                <a:latin typeface="Arial"/>
              </a:rPr>
              <a:t>Sprint reviews turn customer contact into a rhythm, not an event.</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01 · IT IS NOT JUST FOR SOFTWARE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Agile Beyond Software — Business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Adobe · marketing</a:t>
            </a:r>
          </a:p>
          <a:p>
            <a:pPr algn="l">
              <a:spcAft>
                <a:spcPts val="300"/>
              </a:spcAft>
            </a:pPr>
            <a:r>
              <a:rPr sz="1100" b="0">
                <a:solidFill>
                  <a:srgbClr val="5B6372"/>
                </a:solidFill>
                <a:latin typeface="Arial"/>
              </a:rPr>
              <a:t>Campaign teams run sprints and retrospectives to adapt messaging to live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Toyota · manufacturing</a:t>
            </a:r>
          </a:p>
          <a:p>
            <a:pPr algn="l">
              <a:spcAft>
                <a:spcPts val="300"/>
              </a:spcAft>
            </a:pPr>
            <a:r>
              <a:rPr sz="1100" b="0">
                <a:solidFill>
                  <a:srgbClr val="5B6372"/>
                </a:solidFill>
                <a:latin typeface="Arial"/>
              </a:rPr>
              <a:t>The origin of Lean and Kanban — flow, WIP limits and waste elimination.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Spotify · product delivery</a:t>
            </a:r>
          </a:p>
          <a:p>
            <a:pPr algn="l">
              <a:spcAft>
                <a:spcPts val="300"/>
              </a:spcAft>
            </a:pPr>
            <a:r>
              <a:rPr sz="1100" b="0">
                <a:solidFill>
                  <a:srgbClr val="5B6372"/>
                </a:solidFill>
                <a:latin typeface="Arial"/>
              </a:rPr>
              <a:t>Autonomous squads optimised for delivery speed and learning.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PayPal · workforce alignment</a:t>
            </a:r>
          </a:p>
          <a:p>
            <a:pPr algn="l">
              <a:spcAft>
                <a:spcPts val="300"/>
              </a:spcAft>
            </a:pPr>
            <a:r>
              <a:rPr sz="1100" b="0">
                <a:solidFill>
                  <a:srgbClr val="5B6372"/>
                </a:solidFill>
                <a:latin typeface="Arial"/>
              </a:rPr>
              <a:t>Agile used to align large distributed teams on shared outcomes.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Banking · compliance delivery</a:t>
            </a:r>
          </a:p>
          <a:p>
            <a:pPr algn="l">
              <a:spcAft>
                <a:spcPts val="300"/>
              </a:spcAft>
            </a:pPr>
            <a:r>
              <a:rPr sz="1100" b="0">
                <a:solidFill>
                  <a:srgbClr val="5B6372"/>
                </a:solidFill>
                <a:latin typeface="Arial"/>
              </a:rPr>
              <a:t>Hybrid Agile inside regulated stage-gate governance.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Construction &amp; biotech</a:t>
            </a:r>
          </a:p>
          <a:p>
            <a:pPr algn="l">
              <a:spcAft>
                <a:spcPts val="300"/>
              </a:spcAft>
            </a:pPr>
            <a:r>
              <a:rPr sz="1100" b="0">
                <a:solidFill>
                  <a:srgbClr val="5B6372"/>
                </a:solidFill>
                <a:latin typeface="Arial"/>
              </a:rPr>
              <a:t>Iterative design and staged validation where rework is costly.</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01 · HOW AGILE PEOPLE THINK</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Agile Mindset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842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768096"/>
          </a:xfrm>
          <a:prstGeom prst="rect">
            <a:avLst/>
          </a:prstGeom>
          <a:noFill/>
        </p:spPr>
        <p:txBody>
          <a:bodyPr wrap="square" anchor="ctr" lIns="0" rIns="0" tIns="0" bIns="0">
            <a:spAutoFit/>
          </a:bodyPr>
          <a:lstStyle/>
          <a:p>
            <a:pPr algn="l">
              <a:spcAft>
                <a:spcPts val="400"/>
              </a:spcAft>
            </a:pPr>
            <a:r>
              <a:rPr sz="1400" b="0">
                <a:solidFill>
                  <a:srgbClr val="161B26"/>
                </a:solidFill>
                <a:latin typeface="Arial"/>
              </a:rPr>
              <a:t>Welcoming change rather than resisting it</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8424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768096"/>
          </a:xfrm>
          <a:prstGeom prst="rect">
            <a:avLst/>
          </a:prstGeom>
          <a:noFill/>
        </p:spPr>
        <p:txBody>
          <a:bodyPr wrap="square" anchor="ctr" lIns="0" rIns="0" tIns="0" bIns="0">
            <a:spAutoFit/>
          </a:bodyPr>
          <a:lstStyle/>
          <a:p>
            <a:pPr algn="l">
              <a:spcAft>
                <a:spcPts val="400"/>
              </a:spcAft>
            </a:pPr>
            <a:r>
              <a:rPr sz="1400" b="0">
                <a:solidFill>
                  <a:srgbClr val="161B26"/>
                </a:solidFill>
                <a:latin typeface="Arial"/>
              </a:rPr>
              <a:t>Working in small increments of real value</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639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26664"/>
            <a:ext cx="4027932" cy="768096"/>
          </a:xfrm>
          <a:prstGeom prst="rect">
            <a:avLst/>
          </a:prstGeom>
          <a:noFill/>
        </p:spPr>
        <p:txBody>
          <a:bodyPr wrap="square" anchor="ctr" lIns="0" rIns="0" tIns="0" bIns="0">
            <a:spAutoFit/>
          </a:bodyPr>
          <a:lstStyle/>
          <a:p>
            <a:pPr algn="l">
              <a:spcAft>
                <a:spcPts val="400"/>
              </a:spcAft>
            </a:pPr>
            <a:r>
              <a:rPr sz="1400" b="0">
                <a:solidFill>
                  <a:srgbClr val="161B26"/>
                </a:solidFill>
                <a:latin typeface="Arial"/>
              </a:rPr>
              <a:t>Using build-and-feedback loops to learn</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639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26664"/>
            <a:ext cx="4027932" cy="768096"/>
          </a:xfrm>
          <a:prstGeom prst="rect">
            <a:avLst/>
          </a:prstGeom>
          <a:noFill/>
        </p:spPr>
        <p:txBody>
          <a:bodyPr wrap="square" anchor="ctr" lIns="0" rIns="0" tIns="0" bIns="0">
            <a:spAutoFit/>
          </a:bodyPr>
          <a:lstStyle/>
          <a:p>
            <a:pPr algn="l">
              <a:spcAft>
                <a:spcPts val="400"/>
              </a:spcAft>
            </a:pPr>
            <a:r>
              <a:rPr sz="1400" b="0">
                <a:solidFill>
                  <a:srgbClr val="161B26"/>
                </a:solidFill>
                <a:latin typeface="Arial"/>
              </a:rPr>
              <a:t>Learning through discovery instead of assumption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85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78808"/>
            <a:ext cx="4027932" cy="768096"/>
          </a:xfrm>
          <a:prstGeom prst="rect">
            <a:avLst/>
          </a:prstGeom>
          <a:noFill/>
        </p:spPr>
        <p:txBody>
          <a:bodyPr wrap="square" anchor="ctr" lIns="0" rIns="0" tIns="0" bIns="0">
            <a:spAutoFit/>
          </a:bodyPr>
          <a:lstStyle/>
          <a:p>
            <a:pPr algn="l">
              <a:spcAft>
                <a:spcPts val="400"/>
              </a:spcAft>
            </a:pPr>
            <a:r>
              <a:rPr sz="1400" b="0">
                <a:solidFill>
                  <a:srgbClr val="161B26"/>
                </a:solidFill>
                <a:latin typeface="Arial"/>
              </a:rPr>
              <a:t>Value-driven development, not activity-driven</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853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78808"/>
            <a:ext cx="4027932" cy="768096"/>
          </a:xfrm>
          <a:prstGeom prst="rect">
            <a:avLst/>
          </a:prstGeom>
          <a:noFill/>
        </p:spPr>
        <p:txBody>
          <a:bodyPr wrap="square" anchor="ctr" lIns="0" rIns="0" tIns="0" bIns="0">
            <a:spAutoFit/>
          </a:bodyPr>
          <a:lstStyle/>
          <a:p>
            <a:pPr algn="l">
              <a:spcAft>
                <a:spcPts val="400"/>
              </a:spcAft>
            </a:pPr>
            <a:r>
              <a:rPr sz="1400" b="0">
                <a:solidFill>
                  <a:srgbClr val="161B26"/>
                </a:solidFill>
                <a:latin typeface="Arial"/>
              </a:rPr>
              <a:t>Failing fast, and extracting the lesson</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4068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30952"/>
            <a:ext cx="4027932" cy="768096"/>
          </a:xfrm>
          <a:prstGeom prst="rect">
            <a:avLst/>
          </a:prstGeom>
          <a:noFill/>
        </p:spPr>
        <p:txBody>
          <a:bodyPr wrap="square" anchor="ctr" lIns="0" rIns="0" tIns="0" bIns="0">
            <a:spAutoFit/>
          </a:bodyPr>
          <a:lstStyle/>
          <a:p>
            <a:pPr algn="l">
              <a:spcAft>
                <a:spcPts val="400"/>
              </a:spcAft>
            </a:pPr>
            <a:r>
              <a:rPr sz="1400" b="0">
                <a:solidFill>
                  <a:srgbClr val="161B26"/>
                </a:solidFill>
                <a:latin typeface="Arial"/>
              </a:rPr>
              <a:t>Continuous delivery of working outcomes</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40680"/>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30952"/>
            <a:ext cx="4027932" cy="768096"/>
          </a:xfrm>
          <a:prstGeom prst="rect">
            <a:avLst/>
          </a:prstGeom>
          <a:noFill/>
        </p:spPr>
        <p:txBody>
          <a:bodyPr wrap="square" anchor="ctr" lIns="0" rIns="0" tIns="0" bIns="0">
            <a:spAutoFit/>
          </a:bodyPr>
          <a:lstStyle/>
          <a:p>
            <a:pPr algn="l">
              <a:spcAft>
                <a:spcPts val="400"/>
              </a:spcAft>
            </a:pPr>
            <a:r>
              <a:rPr sz="1400" b="0">
                <a:solidFill>
                  <a:srgbClr val="161B26"/>
                </a:solidFill>
                <a:latin typeface="Arial"/>
              </a:rPr>
              <a:t>Continuous improvement of how the team works</a:t>
            </a:r>
          </a:p>
        </p:txBody>
      </p:sp>
      <p:sp>
        <p:nvSpPr>
          <p:cNvPr id="47" name="TextBox 4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8" name="TextBox 4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DC2626"/>
                </a:solidFill>
                <a:latin typeface="Arial"/>
              </a:rPr>
              <a:t>TOPIC 01 · INTELLECTUAL HONESTY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When Agile Is NOT the Right Answer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2466594"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Truly fixed scope</a:t>
            </a:r>
          </a:p>
        </p:txBody>
      </p:sp>
      <p:sp>
        <p:nvSpPr>
          <p:cNvPr id="12" name="TextBox 11"/>
          <p:cNvSpPr txBox="1"/>
          <p:nvPr/>
        </p:nvSpPr>
        <p:spPr>
          <a:xfrm>
            <a:off x="1014984"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A regulatory submission with a legislated, unchangeable specification.</a:t>
            </a:r>
          </a:p>
        </p:txBody>
      </p:sp>
      <p:sp>
        <p:nvSpPr>
          <p:cNvPr id="13" name="Rectangle 12"/>
          <p:cNvSpPr/>
          <p:nvPr/>
        </p:nvSpPr>
        <p:spPr>
          <a:xfrm>
            <a:off x="3499866" y="1810512"/>
            <a:ext cx="2466594"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19322"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32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4213098" y="1956816"/>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No customer access</a:t>
            </a:r>
          </a:p>
        </p:txBody>
      </p:sp>
      <p:sp>
        <p:nvSpPr>
          <p:cNvPr id="18" name="TextBox 17"/>
          <p:cNvSpPr txBox="1"/>
          <p:nvPr/>
        </p:nvSpPr>
        <p:spPr>
          <a:xfrm>
            <a:off x="3737610"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If nobody can give feedback each sprint, the feedback loop is theatre.</a:t>
            </a:r>
          </a:p>
        </p:txBody>
      </p:sp>
      <p:sp>
        <p:nvSpPr>
          <p:cNvPr id="19" name="Rectangle 18"/>
          <p:cNvSpPr/>
          <p:nvPr/>
        </p:nvSpPr>
        <p:spPr>
          <a:xfrm>
            <a:off x="6222492" y="1810512"/>
            <a:ext cx="2466594"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1948"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6935724" y="1956816"/>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Physical irreversibility</a:t>
            </a:r>
          </a:p>
        </p:txBody>
      </p:sp>
      <p:sp>
        <p:nvSpPr>
          <p:cNvPr id="24" name="TextBox 23"/>
          <p:cNvSpPr txBox="1"/>
          <p:nvPr/>
        </p:nvSpPr>
        <p:spPr>
          <a:xfrm>
            <a:off x="6460236"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Where an increment cannot be built and changed cheaply.</a:t>
            </a:r>
          </a:p>
        </p:txBody>
      </p:sp>
      <p:sp>
        <p:nvSpPr>
          <p:cNvPr id="25" name="Rectangle 24"/>
          <p:cNvSpPr/>
          <p:nvPr/>
        </p:nvSpPr>
        <p:spPr>
          <a:xfrm>
            <a:off x="8945118" y="1810512"/>
            <a:ext cx="2466594" cy="278892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1810512"/>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4574"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457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58350" y="1956816"/>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No mandate to change governance</a:t>
            </a:r>
          </a:p>
        </p:txBody>
      </p:sp>
      <p:sp>
        <p:nvSpPr>
          <p:cNvPr id="30" name="TextBox 29"/>
          <p:cNvSpPr txBox="1"/>
          <p:nvPr/>
        </p:nvSpPr>
        <p:spPr>
          <a:xfrm>
            <a:off x="9182862"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Agile teams inside stage-gate funding produce reports, not agility.</a:t>
            </a:r>
          </a:p>
        </p:txBody>
      </p:sp>
      <p:sp>
        <p:nvSpPr>
          <p:cNvPr id="31" name="Rectangle 30"/>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64608"/>
            <a:ext cx="91440" cy="1234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DC2626"/>
                </a:solidFill>
                <a:latin typeface="Arial"/>
              </a:rPr>
              <a:t>CHOOSE DELIBERATELY</a:t>
            </a:r>
          </a:p>
        </p:txBody>
      </p:sp>
      <p:sp>
        <p:nvSpPr>
          <p:cNvPr id="34" name="TextBox 33"/>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Stable requirements and a documentation mandate favour waterfall; evolving requirements and high novelty favour Agile. Most real organisations run a considered hybrid.</a:t>
            </a:r>
          </a:p>
        </p:txBody>
      </p:sp>
      <p:sp>
        <p:nvSpPr>
          <p:cNvPr id="35" name="TextBox 3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6" name="TextBox 3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500" b="1">
                <a:solidFill>
                  <a:srgbClr val="161B26"/>
                </a:solidFill>
                <a:latin typeface="Arial"/>
              </a:rPr>
              <a:t>Hands-On Activities — Introduction to Agile Project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189220"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4293108"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Activity 1 · Empathise with the Customer to Reframe a Failing Project</a:t>
            </a:r>
          </a:p>
        </p:txBody>
      </p:sp>
      <p:sp>
        <p:nvSpPr>
          <p:cNvPr id="12" name="TextBox 11"/>
          <p:cNvSpPr txBox="1"/>
          <p:nvPr/>
        </p:nvSpPr>
        <p:spPr>
          <a:xfrm>
            <a:off x="1014984" y="2505456"/>
            <a:ext cx="4732020"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Tool: Design Thinking
45 minutes  ·  LO1</a:t>
            </a:r>
          </a:p>
        </p:txBody>
      </p:sp>
      <p:sp>
        <p:nvSpPr>
          <p:cNvPr id="13" name="Rectangle 12"/>
          <p:cNvSpPr/>
          <p:nvPr/>
        </p:nvSpPr>
        <p:spPr>
          <a:xfrm>
            <a:off x="6222492" y="1810512"/>
            <a:ext cx="5189220"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22492"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41948"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6935724" y="1956816"/>
            <a:ext cx="4293108"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Activity 2 · Diagnose the Waterfall Failure with a Fishbone Analysis</a:t>
            </a:r>
          </a:p>
        </p:txBody>
      </p:sp>
      <p:sp>
        <p:nvSpPr>
          <p:cNvPr id="18" name="TextBox 17"/>
          <p:cNvSpPr txBox="1"/>
          <p:nvPr/>
        </p:nvSpPr>
        <p:spPr>
          <a:xfrm>
            <a:off x="6460236" y="2505456"/>
            <a:ext cx="4732020"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Tool: Fishbone
45 minutes  ·  LO1</a:t>
            </a:r>
          </a:p>
        </p:txBody>
      </p:sp>
      <p:sp>
        <p:nvSpPr>
          <p:cNvPr id="19" name="Rectangle 18"/>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864608"/>
            <a:ext cx="91440"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0B981"/>
                </a:solidFill>
                <a:latin typeface="Arial"/>
              </a:rPr>
              <a:t>ALL ON ONE CASE</a:t>
            </a:r>
          </a:p>
        </p:txBody>
      </p:sp>
      <p:sp>
        <p:nvSpPr>
          <p:cNvPr id="22" name="TextBox 21"/>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Every activity in this topic advances the same HarbourFront CustomerConnect case, so the artefacts you build compound.</a:t>
            </a:r>
          </a:p>
        </p:txBody>
      </p:sp>
      <p:sp>
        <p:nvSpPr>
          <p:cNvPr id="23" name="TextBox 22"/>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4" name="TextBox 23"/>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ACTIVITY 1 · TOOL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Tool —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ol-designthinking.png"/>
          <p:cNvPicPr>
            <a:picLocks noChangeAspect="1"/>
          </p:cNvPicPr>
          <p:nvPr/>
        </p:nvPicPr>
        <p:blipFill>
          <a:blip r:embed="rId2"/>
          <a:stretch>
            <a:fillRect/>
          </a:stretch>
        </p:blipFill>
        <p:spPr>
          <a:xfrm>
            <a:off x="777240" y="1828800"/>
            <a:ext cx="6071616" cy="3794760"/>
          </a:xfrm>
          <a:prstGeom prst="rect">
            <a:avLst/>
          </a:prstGeom>
        </p:spPr>
      </p:pic>
      <p:sp>
        <p:nvSpPr>
          <p:cNvPr id="8" name="Rectangle 7"/>
          <p:cNvSpPr/>
          <p:nvPr/>
        </p:nvSpPr>
        <p:spPr>
          <a:xfrm>
            <a:off x="777240" y="5742432"/>
            <a:ext cx="6400800"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6126480" cy="384048"/>
          </a:xfrm>
          <a:prstGeom prst="rect">
            <a:avLst/>
          </a:prstGeom>
          <a:noFill/>
        </p:spPr>
        <p:txBody>
          <a:bodyPr wrap="square" anchor="ctr" lIns="0" rIns="0" tIns="0" bIns="0">
            <a:spAutoFit/>
          </a:bodyPr>
          <a:lstStyle/>
          <a:p>
            <a:pPr algn="l">
              <a:spcAft>
                <a:spcPts val="400"/>
              </a:spcAft>
            </a:pPr>
            <a:r>
              <a:rPr sz="1100" b="0">
                <a:solidFill>
                  <a:srgbClr val="5B6372"/>
                </a:solidFill>
                <a:latin typeface="Arial"/>
              </a:rPr>
              <a:t>Activity 1 · 45 minutes · full step-by-step: Learner Guide, Activity 1</a:t>
            </a:r>
          </a:p>
        </p:txBody>
      </p:sp>
      <p:sp>
        <p:nvSpPr>
          <p:cNvPr id="10" name="Rectangle 9"/>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Open it in your browser</a:t>
            </a:r>
          </a:p>
          <a:p>
            <a:pPr algn="l">
              <a:spcAft>
                <a:spcPts val="400"/>
              </a:spcAft>
            </a:pPr>
            <a:r>
              <a:rPr sz="1150" b="0">
                <a:solidFill>
                  <a:srgbClr val="161B26"/>
                </a:solidFill>
                <a:latin typeface="Arial"/>
              </a:rPr>
              <a:t>https://alfredang.github.io/designthinking/</a:t>
            </a:r>
          </a:p>
        </p:txBody>
      </p:sp>
      <p:sp>
        <p:nvSpPr>
          <p:cNvPr id="13" name="Rectangle 12"/>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No install, no login</a:t>
            </a:r>
          </a:p>
          <a:p>
            <a:pPr algn="l">
              <a:spcAft>
                <a:spcPts val="400"/>
              </a:spcAft>
            </a:pPr>
            <a:r>
              <a:rPr sz="1150" b="0">
                <a:solidFill>
                  <a:srgbClr val="161B26"/>
                </a:solidFill>
                <a:latin typeface="Arial"/>
              </a:rPr>
              <a:t>It runs in the browser. Work on one shared screen as a team.</a:t>
            </a:r>
          </a:p>
        </p:txBody>
      </p:sp>
      <p:sp>
        <p:nvSpPr>
          <p:cNvPr id="16" name="Rectangle 15"/>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Build the artefact</a:t>
            </a:r>
          </a:p>
          <a:p>
            <a:pPr algn="l">
              <a:spcAft>
                <a:spcPts val="400"/>
              </a:spcAft>
            </a:pPr>
            <a:r>
              <a:rPr sz="1150" b="0">
                <a:solidFill>
                  <a:srgbClr val="161B26"/>
                </a:solidFill>
                <a:latin typeface="Arial"/>
              </a:rPr>
              <a:t>The deliverable named on the next slide.</a:t>
            </a:r>
          </a:p>
        </p:txBody>
      </p:sp>
      <p:sp>
        <p:nvSpPr>
          <p:cNvPr id="19" name="Rectangle 18"/>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Export it</a:t>
            </a:r>
          </a:p>
          <a:p>
            <a:pPr algn="l">
              <a:spcAft>
                <a:spcPts val="400"/>
              </a:spcAft>
            </a:pPr>
            <a:r>
              <a:rPr sz="1150" b="0">
                <a:solidFill>
                  <a:srgbClr val="161B26"/>
                </a:solidFill>
                <a:latin typeface="Arial"/>
              </a:rPr>
              <a:t>Screenshot or export into your Activity worksheet.</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500" b="1">
                <a:solidFill>
                  <a:srgbClr val="161B26"/>
                </a:solidFill>
                <a:latin typeface="Arial"/>
              </a:rPr>
              <a:t>Empathise with the Customer to Reframe a Failing Project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52560" y="457200"/>
            <a:ext cx="2359152"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457200"/>
            <a:ext cx="2359152" cy="420624"/>
          </a:xfrm>
          <a:prstGeom prst="rect">
            <a:avLst/>
          </a:prstGeom>
          <a:noFill/>
        </p:spPr>
        <p:txBody>
          <a:bodyPr wrap="square" anchor="ctr" lIns="0" rIns="0" tIns="0" bIns="0">
            <a:spAutoFit/>
          </a:bodyPr>
          <a:lstStyle/>
          <a:p>
            <a:pPr algn="ctr">
              <a:spcAft>
                <a:spcPts val="400"/>
              </a:spcAft>
            </a:pPr>
            <a:r>
              <a:rPr sz="1150" b="1">
                <a:solidFill>
                  <a:srgbClr val="FFFFFF"/>
                </a:solidFill>
                <a:latin typeface="Arial"/>
              </a:rPr>
              <a:t>ACTIVITY 1  ·  45 MIN</a:t>
            </a:r>
          </a:p>
        </p:txBody>
      </p:sp>
      <p:sp>
        <p:nvSpPr>
          <p:cNvPr id="9" name="Rectangle 8"/>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83664"/>
            <a:ext cx="10241280" cy="256032"/>
          </a:xfrm>
          <a:prstGeom prst="rect">
            <a:avLst/>
          </a:prstGeom>
          <a:noFill/>
        </p:spPr>
        <p:txBody>
          <a:bodyPr wrap="square" anchor="t" lIns="0" rIns="0" tIns="0" bIns="0">
            <a:spAutoFit/>
          </a:bodyPr>
          <a:lstStyle/>
          <a:p>
            <a:pPr algn="l">
              <a:spcAft>
                <a:spcPts val="400"/>
              </a:spcAft>
            </a:pPr>
            <a:r>
              <a:rPr sz="1100" b="1">
                <a:solidFill>
                  <a:srgbClr val="7C3AED"/>
                </a:solidFill>
                <a:latin typeface="Arial"/>
              </a:rPr>
              <a:t>THE SITUATION</a:t>
            </a:r>
          </a:p>
        </p:txBody>
      </p:sp>
      <p:sp>
        <p:nvSpPr>
          <p:cNvPr id="12" name="TextBox 11"/>
          <p:cNvSpPr txBox="1"/>
          <p:nvPr/>
        </p:nvSpPr>
        <p:spPr>
          <a:xfrm>
            <a:off x="1060704" y="2139696"/>
            <a:ext cx="10195560" cy="905256"/>
          </a:xfrm>
          <a:prstGeom prst="rect">
            <a:avLst/>
          </a:prstGeom>
          <a:noFill/>
        </p:spPr>
        <p:txBody>
          <a:bodyPr wrap="square" anchor="t" lIns="0" rIns="0" tIns="0" bIns="0">
            <a:spAutoFit/>
          </a:bodyPr>
          <a:lstStyle/>
          <a:p>
            <a:pPr algn="l">
              <a:spcAft>
                <a:spcPts val="400"/>
              </a:spcAft>
            </a:pPr>
            <a:r>
              <a:rPr sz="1200" b="0">
                <a:solidFill>
                  <a:srgbClr val="161B26"/>
                </a:solidFill>
                <a:latin typeface="Arial"/>
              </a:rPr>
              <a:t>HarbourFront Logistics spent 11 months building the CustomerConnect portal from a signed-off 96-page requirements document. Six months after launch, only 3 of 24 features are used weekly. The top customer complaint to the call centre is still "where is my shipment right now?" — a question the portal was supposed to answer. You are the newly appointed Agile project lead. Before writing a single new requirement, you must understand the customer.</a:t>
            </a:r>
          </a:p>
        </p:txBody>
      </p:sp>
      <p:sp>
        <p:nvSpPr>
          <p:cNvPr id="13" name="Rectangle 12"/>
          <p:cNvSpPr/>
          <p:nvPr/>
        </p:nvSpPr>
        <p:spPr>
          <a:xfrm>
            <a:off x="777240"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2461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401568"/>
            <a:ext cx="2980944" cy="292608"/>
          </a:xfrm>
          <a:prstGeom prst="rect">
            <a:avLst/>
          </a:prstGeom>
          <a:noFill/>
        </p:spPr>
        <p:txBody>
          <a:bodyPr wrap="square" anchor="t" lIns="0" rIns="0" tIns="0" bIns="0">
            <a:spAutoFit/>
          </a:bodyPr>
          <a:lstStyle/>
          <a:p>
            <a:pPr algn="l">
              <a:spcAft>
                <a:spcPts val="400"/>
              </a:spcAft>
            </a:pPr>
            <a:r>
              <a:rPr sz="1100" b="1">
                <a:solidFill>
                  <a:srgbClr val="1F6FEB"/>
                </a:solidFill>
                <a:latin typeface="Arial"/>
              </a:rPr>
              <a:t>WHAT YOU'LL DO</a:t>
            </a:r>
          </a:p>
        </p:txBody>
      </p:sp>
      <p:sp>
        <p:nvSpPr>
          <p:cNvPr id="16" name="TextBox 15"/>
          <p:cNvSpPr txBox="1"/>
          <p:nvPr/>
        </p:nvSpPr>
        <p:spPr>
          <a:xfrm>
            <a:off x="996696" y="3712463"/>
            <a:ext cx="2980944" cy="1572768"/>
          </a:xfrm>
          <a:prstGeom prst="rect">
            <a:avLst/>
          </a:prstGeom>
          <a:noFill/>
        </p:spPr>
        <p:txBody>
          <a:bodyPr wrap="square" anchor="t" lIns="0" rIns="0" tIns="0" bIns="0">
            <a:spAutoFit/>
          </a:bodyPr>
          <a:lstStyle/>
          <a:p>
            <a:pPr algn="l">
              <a:spcAft>
                <a:spcPts val="400"/>
              </a:spcAft>
            </a:pPr>
            <a:r>
              <a:rPr sz="1000" b="0">
                <a:solidFill>
                  <a:srgbClr val="161B26"/>
                </a:solidFill>
                <a:latin typeface="Arial"/>
              </a:rPr>
              <a:t>Working in teams of 3–4 as the CustomerConnect project team, you use the Design Thinking tool to build an empathy map and a persona for Priya Menon, a warehouse operations executive at a HarbourFront customer who tracks 40–60 inbound shipments a week. You then reframe the original requirement statement into a customer-value problem statement and identify the three highest-value features to deliver first.</a:t>
            </a:r>
          </a:p>
        </p:txBody>
      </p:sp>
      <p:sp>
        <p:nvSpPr>
          <p:cNvPr id="17" name="Rectangle 16"/>
          <p:cNvSpPr/>
          <p:nvPr/>
        </p:nvSpPr>
        <p:spPr>
          <a:xfrm>
            <a:off x="4398264"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32461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3401568"/>
            <a:ext cx="2980944" cy="292608"/>
          </a:xfrm>
          <a:prstGeom prst="rect">
            <a:avLst/>
          </a:prstGeom>
          <a:noFill/>
        </p:spPr>
        <p:txBody>
          <a:bodyPr wrap="square" anchor="t" lIns="0" rIns="0" tIns="0" bIns="0">
            <a:spAutoFit/>
          </a:bodyPr>
          <a:lstStyle/>
          <a:p>
            <a:pPr algn="l">
              <a:spcAft>
                <a:spcPts val="400"/>
              </a:spcAft>
            </a:pPr>
            <a:r>
              <a:rPr sz="1100" b="1">
                <a:solidFill>
                  <a:srgbClr val="10B981"/>
                </a:solidFill>
                <a:latin typeface="Arial"/>
              </a:rPr>
              <a:t>YOU'LL PRODUCE</a:t>
            </a:r>
          </a:p>
        </p:txBody>
      </p:sp>
      <p:sp>
        <p:nvSpPr>
          <p:cNvPr id="20" name="TextBox 19"/>
          <p:cNvSpPr txBox="1"/>
          <p:nvPr/>
        </p:nvSpPr>
        <p:spPr>
          <a:xfrm>
            <a:off x="4617720"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A completed empathy map and persona for Priya Menon, a reframed problem statement, and a ranked list of the top 3 customer-value features with the reasoning for each.</a:t>
            </a:r>
          </a:p>
        </p:txBody>
      </p:sp>
      <p:sp>
        <p:nvSpPr>
          <p:cNvPr id="21" name="Rectangle 20"/>
          <p:cNvSpPr/>
          <p:nvPr/>
        </p:nvSpPr>
        <p:spPr>
          <a:xfrm>
            <a:off x="8019288"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3246120"/>
            <a:ext cx="339242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3401568"/>
            <a:ext cx="2980944" cy="292608"/>
          </a:xfrm>
          <a:prstGeom prst="rect">
            <a:avLst/>
          </a:prstGeom>
          <a:noFill/>
        </p:spPr>
        <p:txBody>
          <a:bodyPr wrap="square" anchor="t" lIns="0" rIns="0" tIns="0" bIns="0">
            <a:spAutoFit/>
          </a:bodyPr>
          <a:lstStyle/>
          <a:p>
            <a:pPr algn="l">
              <a:spcAft>
                <a:spcPts val="400"/>
              </a:spcAft>
            </a:pPr>
            <a:r>
              <a:rPr sz="1100" b="1">
                <a:solidFill>
                  <a:srgbClr val="F59E0B"/>
                </a:solidFill>
                <a:latin typeface="Arial"/>
              </a:rPr>
              <a:t>DONE WHEN</a:t>
            </a:r>
          </a:p>
        </p:txBody>
      </p:sp>
      <p:sp>
        <p:nvSpPr>
          <p:cNvPr id="24" name="TextBox 23"/>
          <p:cNvSpPr txBox="1"/>
          <p:nvPr/>
        </p:nvSpPr>
        <p:spPr>
          <a:xfrm>
            <a:off x="8238744"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reframed problem statement names a specific user, a specific need and a specific consequence — and contains no solution or technology. Your top 3 features each state a customer benefit. If any 'feature' is a module name or a format, it is still a requirement, not a value statement — rewrite it.</a:t>
            </a:r>
          </a:p>
        </p:txBody>
      </p:sp>
      <p:sp>
        <p:nvSpPr>
          <p:cNvPr id="25" name="Rectangle 24"/>
          <p:cNvSpPr/>
          <p:nvPr/>
        </p:nvSpPr>
        <p:spPr>
          <a:xfrm>
            <a:off x="777240" y="5504688"/>
            <a:ext cx="10634472" cy="7132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5577840"/>
            <a:ext cx="118872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577840"/>
            <a:ext cx="1188720" cy="566928"/>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ACT 1</a:t>
            </a:r>
          </a:p>
        </p:txBody>
      </p:sp>
      <p:sp>
        <p:nvSpPr>
          <p:cNvPr id="28" name="TextBox 27"/>
          <p:cNvSpPr txBox="1"/>
          <p:nvPr/>
        </p:nvSpPr>
        <p:spPr>
          <a:xfrm>
            <a:off x="2148840" y="5577840"/>
            <a:ext cx="9052560" cy="310896"/>
          </a:xfrm>
          <a:prstGeom prst="rect">
            <a:avLst/>
          </a:prstGeom>
          <a:noFill/>
        </p:spPr>
        <p:txBody>
          <a:bodyPr wrap="square" anchor="t" lIns="0" rIns="0" tIns="0" bIns="0">
            <a:spAutoFit/>
          </a:bodyPr>
          <a:lstStyle/>
          <a:p>
            <a:pPr algn="l">
              <a:spcAft>
                <a:spcPts val="400"/>
              </a:spcAft>
            </a:pPr>
            <a:r>
              <a:rPr sz="1200" b="1">
                <a:solidFill>
                  <a:srgbClr val="161B26"/>
                </a:solidFill>
                <a:latin typeface="Arial"/>
              </a:rPr>
              <a:t>Tool: Design Thinking — https://alfredang.github.io/designthinking/</a:t>
            </a:r>
          </a:p>
        </p:txBody>
      </p:sp>
      <p:sp>
        <p:nvSpPr>
          <p:cNvPr id="29" name="TextBox 28"/>
          <p:cNvSpPr txBox="1"/>
          <p:nvPr/>
        </p:nvSpPr>
        <p:spPr>
          <a:xfrm>
            <a:off x="2148840" y="5870448"/>
            <a:ext cx="9098280" cy="329184"/>
          </a:xfrm>
          <a:prstGeom prst="rect">
            <a:avLst/>
          </a:prstGeom>
          <a:noFill/>
        </p:spPr>
        <p:txBody>
          <a:bodyPr wrap="square" anchor="t" lIns="0" rIns="0" tIns="0" bIns="0">
            <a:spAutoFit/>
          </a:bodyPr>
          <a:lstStyle/>
          <a:p>
            <a:pPr algn="l">
              <a:spcAft>
                <a:spcPts val="400"/>
              </a:spcAft>
            </a:pPr>
            <a:r>
              <a:rPr sz="1000" b="0">
                <a:solidFill>
                  <a:srgbClr val="5B6372"/>
                </a:solidFill>
                <a:latin typeface="Arial"/>
              </a:rPr>
              <a:t>LO 1  ·  Analyse current and future customer needs and preferences using Design Thinking to reframe requirements around customer value (K2, A5).  ·  Full step-by-step: Learner Guide, Activity 1</a:t>
            </a:r>
          </a:p>
        </p:txBody>
      </p:sp>
      <p:sp>
        <p:nvSpPr>
          <p:cNvPr id="30" name="TextBox 2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1" name="TextBox 3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01 · ACTIVITY 1 DEBRIEF</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Debrief — Activity 1: What It Proves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4825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48256"/>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91056" y="1901952"/>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The original project delivered exactly what was signed off, and still failed. Signed-off scope is not the same as delivered value.</a:t>
            </a:r>
          </a:p>
        </p:txBody>
      </p:sp>
      <p:sp>
        <p:nvSpPr>
          <p:cNvPr id="12" name="Rectangle 11"/>
          <p:cNvSpPr/>
          <p:nvPr/>
        </p:nvSpPr>
        <p:spPr>
          <a:xfrm>
            <a:off x="777240" y="2926080"/>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6080"/>
            <a:ext cx="9144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63824"/>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63824"/>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91056" y="3017520"/>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Empathising took 45 minutes. It would have changed 11 months of build.</a:t>
            </a:r>
          </a:p>
        </p:txBody>
      </p:sp>
      <p:sp>
        <p:nvSpPr>
          <p:cNvPr id="17" name="Rectangle 16"/>
          <p:cNvSpPr/>
          <p:nvPr/>
        </p:nvSpPr>
        <p:spPr>
          <a:xfrm>
            <a:off x="777240" y="4041648"/>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41648"/>
            <a:ext cx="9144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9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9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91056" y="4133088"/>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This is K2 in practice: analysing current and future customer needs is a repeatable method, not an intuition.</a:t>
            </a:r>
          </a:p>
        </p:txBody>
      </p:sp>
      <p:sp>
        <p:nvSpPr>
          <p:cNvPr id="22" name="Rectangle 21"/>
          <p:cNvSpPr/>
          <p:nvPr/>
        </p:nvSpPr>
        <p:spPr>
          <a:xfrm>
            <a:off x="777240" y="5074920"/>
            <a:ext cx="10634472" cy="1078992"/>
          </a:xfrm>
          <a:prstGeom prst="rect">
            <a:avLst/>
          </a:prstGeom>
          <a:solidFill>
            <a:srgbClr val="FFFFFF"/>
          </a:solidFill>
          <a:ln w="12700">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157216"/>
            <a:ext cx="10241280" cy="274320"/>
          </a:xfrm>
          <a:prstGeom prst="rect">
            <a:avLst/>
          </a:prstGeom>
          <a:noFill/>
        </p:spPr>
        <p:txBody>
          <a:bodyPr wrap="square" anchor="t" lIns="0" rIns="0" tIns="0" bIns="0">
            <a:spAutoFit/>
          </a:bodyPr>
          <a:lstStyle/>
          <a:p>
            <a:pPr algn="l">
              <a:spcAft>
                <a:spcPts val="400"/>
              </a:spcAft>
            </a:pPr>
            <a:r>
              <a:rPr sz="1100" b="1">
                <a:solidFill>
                  <a:srgbClr val="127A3E"/>
                </a:solidFill>
                <a:latin typeface="Arial"/>
              </a:rPr>
              <a:t>SUCCESS CRITERION</a:t>
            </a:r>
          </a:p>
        </p:txBody>
      </p:sp>
      <p:sp>
        <p:nvSpPr>
          <p:cNvPr id="24" name="TextBox 23"/>
          <p:cNvSpPr txBox="1"/>
          <p:nvPr/>
        </p:nvSpPr>
        <p:spPr>
          <a:xfrm>
            <a:off x="1051560" y="5440680"/>
            <a:ext cx="10241280" cy="658368"/>
          </a:xfrm>
          <a:prstGeom prst="rect">
            <a:avLst/>
          </a:prstGeom>
          <a:noFill/>
        </p:spPr>
        <p:txBody>
          <a:bodyPr wrap="square" anchor="t" lIns="0" rIns="0" tIns="0" bIns="0">
            <a:spAutoFit/>
          </a:bodyPr>
          <a:lstStyle/>
          <a:p>
            <a:pPr algn="l">
              <a:spcAft>
                <a:spcPts val="400"/>
              </a:spcAft>
            </a:pPr>
            <a:r>
              <a:rPr sz="1150" b="0">
                <a:solidFill>
                  <a:srgbClr val="161B26"/>
                </a:solidFill>
                <a:latin typeface="Arial"/>
              </a:rPr>
              <a:t>Your reframed problem statement names a specific user, a specific need and a specific consequence — and contains no solution or technology. Your top 3 features each state a customer benefit. If any 'feature' is a module name or a format, it is still a requirement, not a value statement — rewrite it.</a:t>
            </a:r>
          </a:p>
        </p:txBody>
      </p:sp>
      <p:sp>
        <p:nvSpPr>
          <p:cNvPr id="25" name="TextBox 2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6" name="TextBox 2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ACTIVITY 2 · TOOL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Tool — Fishbone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ol-fishbone.png"/>
          <p:cNvPicPr>
            <a:picLocks noChangeAspect="1"/>
          </p:cNvPicPr>
          <p:nvPr/>
        </p:nvPicPr>
        <p:blipFill>
          <a:blip r:embed="rId2"/>
          <a:stretch>
            <a:fillRect/>
          </a:stretch>
        </p:blipFill>
        <p:spPr>
          <a:xfrm>
            <a:off x="777240" y="1828800"/>
            <a:ext cx="6071616" cy="3794760"/>
          </a:xfrm>
          <a:prstGeom prst="rect">
            <a:avLst/>
          </a:prstGeom>
        </p:spPr>
      </p:pic>
      <p:sp>
        <p:nvSpPr>
          <p:cNvPr id="8" name="Rectangle 7"/>
          <p:cNvSpPr/>
          <p:nvPr/>
        </p:nvSpPr>
        <p:spPr>
          <a:xfrm>
            <a:off x="777240" y="5742432"/>
            <a:ext cx="6400800"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6126480" cy="384048"/>
          </a:xfrm>
          <a:prstGeom prst="rect">
            <a:avLst/>
          </a:prstGeom>
          <a:noFill/>
        </p:spPr>
        <p:txBody>
          <a:bodyPr wrap="square" anchor="ctr" lIns="0" rIns="0" tIns="0" bIns="0">
            <a:spAutoFit/>
          </a:bodyPr>
          <a:lstStyle/>
          <a:p>
            <a:pPr algn="l">
              <a:spcAft>
                <a:spcPts val="400"/>
              </a:spcAft>
            </a:pPr>
            <a:r>
              <a:rPr sz="1100" b="0">
                <a:solidFill>
                  <a:srgbClr val="5B6372"/>
                </a:solidFill>
                <a:latin typeface="Arial"/>
              </a:rPr>
              <a:t>Activity 2 · 45 minutes · full step-by-step: Learner Guide, Activity 2</a:t>
            </a:r>
          </a:p>
        </p:txBody>
      </p:sp>
      <p:sp>
        <p:nvSpPr>
          <p:cNvPr id="10" name="Rectangle 9"/>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Open it in your browser</a:t>
            </a:r>
          </a:p>
          <a:p>
            <a:pPr algn="l">
              <a:spcAft>
                <a:spcPts val="400"/>
              </a:spcAft>
            </a:pPr>
            <a:r>
              <a:rPr sz="1150" b="0">
                <a:solidFill>
                  <a:srgbClr val="161B26"/>
                </a:solidFill>
                <a:latin typeface="Arial"/>
              </a:rPr>
              <a:t>https://alfredang.github.io/fishbone/</a:t>
            </a:r>
          </a:p>
        </p:txBody>
      </p:sp>
      <p:sp>
        <p:nvSpPr>
          <p:cNvPr id="13" name="Rectangle 12"/>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No install, no login</a:t>
            </a:r>
          </a:p>
          <a:p>
            <a:pPr algn="l">
              <a:spcAft>
                <a:spcPts val="400"/>
              </a:spcAft>
            </a:pPr>
            <a:r>
              <a:rPr sz="1150" b="0">
                <a:solidFill>
                  <a:srgbClr val="161B26"/>
                </a:solidFill>
                <a:latin typeface="Arial"/>
              </a:rPr>
              <a:t>It runs in the browser. Work on one shared screen as a team.</a:t>
            </a:r>
          </a:p>
        </p:txBody>
      </p:sp>
      <p:sp>
        <p:nvSpPr>
          <p:cNvPr id="16" name="Rectangle 15"/>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Build the artefact</a:t>
            </a:r>
          </a:p>
          <a:p>
            <a:pPr algn="l">
              <a:spcAft>
                <a:spcPts val="400"/>
              </a:spcAft>
            </a:pPr>
            <a:r>
              <a:rPr sz="1150" b="0">
                <a:solidFill>
                  <a:srgbClr val="161B26"/>
                </a:solidFill>
                <a:latin typeface="Arial"/>
              </a:rPr>
              <a:t>The deliverable named on the next slide.</a:t>
            </a:r>
          </a:p>
        </p:txBody>
      </p:sp>
      <p:sp>
        <p:nvSpPr>
          <p:cNvPr id="19" name="Rectangle 18"/>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Export it</a:t>
            </a:r>
          </a:p>
          <a:p>
            <a:pPr algn="l">
              <a:spcAft>
                <a:spcPts val="400"/>
              </a:spcAft>
            </a:pPr>
            <a:r>
              <a:rPr sz="1150" b="0">
                <a:solidFill>
                  <a:srgbClr val="161B26"/>
                </a:solidFill>
                <a:latin typeface="Arial"/>
              </a:rPr>
              <a:t>Screenshot or export into your Activity worksheet.</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500" b="1">
                <a:solidFill>
                  <a:srgbClr val="161B26"/>
                </a:solidFill>
                <a:latin typeface="Arial"/>
              </a:rPr>
              <a:t>Diagnose the Waterfall Failure with a Fishbone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52560" y="457200"/>
            <a:ext cx="2359152"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457200"/>
            <a:ext cx="2359152" cy="420624"/>
          </a:xfrm>
          <a:prstGeom prst="rect">
            <a:avLst/>
          </a:prstGeom>
          <a:noFill/>
        </p:spPr>
        <p:txBody>
          <a:bodyPr wrap="square" anchor="ctr" lIns="0" rIns="0" tIns="0" bIns="0">
            <a:spAutoFit/>
          </a:bodyPr>
          <a:lstStyle/>
          <a:p>
            <a:pPr algn="ctr">
              <a:spcAft>
                <a:spcPts val="400"/>
              </a:spcAft>
            </a:pPr>
            <a:r>
              <a:rPr sz="1150" b="1">
                <a:solidFill>
                  <a:srgbClr val="FFFFFF"/>
                </a:solidFill>
                <a:latin typeface="Arial"/>
              </a:rPr>
              <a:t>ACTIVITY 2  ·  45 MIN</a:t>
            </a:r>
          </a:p>
        </p:txBody>
      </p:sp>
      <p:sp>
        <p:nvSpPr>
          <p:cNvPr id="9" name="Rectangle 8"/>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83664"/>
            <a:ext cx="10241280" cy="256032"/>
          </a:xfrm>
          <a:prstGeom prst="rect">
            <a:avLst/>
          </a:prstGeom>
          <a:noFill/>
        </p:spPr>
        <p:txBody>
          <a:bodyPr wrap="square" anchor="t" lIns="0" rIns="0" tIns="0" bIns="0">
            <a:spAutoFit/>
          </a:bodyPr>
          <a:lstStyle/>
          <a:p>
            <a:pPr algn="l">
              <a:spcAft>
                <a:spcPts val="400"/>
              </a:spcAft>
            </a:pPr>
            <a:r>
              <a:rPr sz="1100" b="1">
                <a:solidFill>
                  <a:srgbClr val="7C3AED"/>
                </a:solidFill>
                <a:latin typeface="Arial"/>
              </a:rPr>
              <a:t>THE SITUATION</a:t>
            </a:r>
          </a:p>
        </p:txBody>
      </p:sp>
      <p:sp>
        <p:nvSpPr>
          <p:cNvPr id="12" name="TextBox 11"/>
          <p:cNvSpPr txBox="1"/>
          <p:nvPr/>
        </p:nvSpPr>
        <p:spPr>
          <a:xfrm>
            <a:off x="1060704" y="2139696"/>
            <a:ext cx="10195560" cy="905256"/>
          </a:xfrm>
          <a:prstGeom prst="rect">
            <a:avLst/>
          </a:prstGeom>
          <a:noFill/>
        </p:spPr>
        <p:txBody>
          <a:bodyPr wrap="square" anchor="t" lIns="0" rIns="0" tIns="0" bIns="0">
            <a:spAutoFit/>
          </a:bodyPr>
          <a:lstStyle/>
          <a:p>
            <a:pPr algn="l">
              <a:spcAft>
                <a:spcPts val="400"/>
              </a:spcAft>
            </a:pPr>
            <a:r>
              <a:rPr sz="1200" b="0">
                <a:solidFill>
                  <a:srgbClr val="161B26"/>
                </a:solidFill>
                <a:latin typeface="Arial"/>
              </a:rPr>
              <a:t>The HarbourFront management committee wants to know why CustomerConnect was 4 months late and 62% unused before it approves any new funding. The programme director's explanation was "the team underestimated". The CEO is not satisfied with that answer and has asked your team for a structured diagnosis by Friday.</a:t>
            </a:r>
          </a:p>
        </p:txBody>
      </p:sp>
      <p:sp>
        <p:nvSpPr>
          <p:cNvPr id="13" name="Rectangle 12"/>
          <p:cNvSpPr/>
          <p:nvPr/>
        </p:nvSpPr>
        <p:spPr>
          <a:xfrm>
            <a:off x="777240"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2461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401568"/>
            <a:ext cx="2980944" cy="292608"/>
          </a:xfrm>
          <a:prstGeom prst="rect">
            <a:avLst/>
          </a:prstGeom>
          <a:noFill/>
        </p:spPr>
        <p:txBody>
          <a:bodyPr wrap="square" anchor="t" lIns="0" rIns="0" tIns="0" bIns="0">
            <a:spAutoFit/>
          </a:bodyPr>
          <a:lstStyle/>
          <a:p>
            <a:pPr algn="l">
              <a:spcAft>
                <a:spcPts val="400"/>
              </a:spcAft>
            </a:pPr>
            <a:r>
              <a:rPr sz="1100" b="1">
                <a:solidFill>
                  <a:srgbClr val="1F6FEB"/>
                </a:solidFill>
                <a:latin typeface="Arial"/>
              </a:rPr>
              <a:t>WHAT YOU'LL DO</a:t>
            </a:r>
          </a:p>
        </p:txBody>
      </p:sp>
      <p:sp>
        <p:nvSpPr>
          <p:cNvPr id="16" name="TextBox 15"/>
          <p:cNvSpPr txBox="1"/>
          <p:nvPr/>
        </p:nvSpPr>
        <p:spPr>
          <a:xfrm>
            <a:off x="996696"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team uses the Fishbone (Ishikawa) tool to analyse the problem statement 'CustomerConnect delivered late and mostly unused'. You populate six cause categories, identify which causes are structural to the waterfall approach rather than failures of individual effort, and mark which ones an Agile approach would actually address. You then write a one-page recommendation to the committee.</a:t>
            </a:r>
          </a:p>
        </p:txBody>
      </p:sp>
      <p:sp>
        <p:nvSpPr>
          <p:cNvPr id="17" name="Rectangle 16"/>
          <p:cNvSpPr/>
          <p:nvPr/>
        </p:nvSpPr>
        <p:spPr>
          <a:xfrm>
            <a:off x="4398264"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32461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3401568"/>
            <a:ext cx="2980944" cy="292608"/>
          </a:xfrm>
          <a:prstGeom prst="rect">
            <a:avLst/>
          </a:prstGeom>
          <a:noFill/>
        </p:spPr>
        <p:txBody>
          <a:bodyPr wrap="square" anchor="t" lIns="0" rIns="0" tIns="0" bIns="0">
            <a:spAutoFit/>
          </a:bodyPr>
          <a:lstStyle/>
          <a:p>
            <a:pPr algn="l">
              <a:spcAft>
                <a:spcPts val="400"/>
              </a:spcAft>
            </a:pPr>
            <a:r>
              <a:rPr sz="1100" b="1">
                <a:solidFill>
                  <a:srgbClr val="10B981"/>
                </a:solidFill>
                <a:latin typeface="Arial"/>
              </a:rPr>
              <a:t>YOU'LL PRODUCE</a:t>
            </a:r>
          </a:p>
        </p:txBody>
      </p:sp>
      <p:sp>
        <p:nvSpPr>
          <p:cNvPr id="20" name="TextBox 19"/>
          <p:cNvSpPr txBox="1"/>
          <p:nvPr/>
        </p:nvSpPr>
        <p:spPr>
          <a:xfrm>
            <a:off x="4617720"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A completed fishbone diagram with 6 categories and at least 18 causes, each tagged as structural or behavioural, plus a one-page recommendation identifying which causes Agile addresses and which it does not.</a:t>
            </a:r>
          </a:p>
        </p:txBody>
      </p:sp>
      <p:sp>
        <p:nvSpPr>
          <p:cNvPr id="21" name="Rectangle 20"/>
          <p:cNvSpPr/>
          <p:nvPr/>
        </p:nvSpPr>
        <p:spPr>
          <a:xfrm>
            <a:off x="8019288"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3246120"/>
            <a:ext cx="339242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3401568"/>
            <a:ext cx="2980944" cy="292608"/>
          </a:xfrm>
          <a:prstGeom prst="rect">
            <a:avLst/>
          </a:prstGeom>
          <a:noFill/>
        </p:spPr>
        <p:txBody>
          <a:bodyPr wrap="square" anchor="t" lIns="0" rIns="0" tIns="0" bIns="0">
            <a:spAutoFit/>
          </a:bodyPr>
          <a:lstStyle/>
          <a:p>
            <a:pPr algn="l">
              <a:spcAft>
                <a:spcPts val="400"/>
              </a:spcAft>
            </a:pPr>
            <a:r>
              <a:rPr sz="1100" b="1">
                <a:solidFill>
                  <a:srgbClr val="F59E0B"/>
                </a:solidFill>
                <a:latin typeface="Arial"/>
              </a:rPr>
              <a:t>DONE WHEN</a:t>
            </a:r>
          </a:p>
        </p:txBody>
      </p:sp>
      <p:sp>
        <p:nvSpPr>
          <p:cNvPr id="24" name="TextBox 23"/>
          <p:cNvSpPr txBox="1"/>
          <p:nvPr/>
        </p:nvSpPr>
        <p:spPr>
          <a:xfrm>
            <a:off x="8238744"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diagram carries at least 18 causes across all 6 categories, every cause is tagged S or B, and each structural cause is paired with a named Agile practice. Your recommendation honestly identifies at least two causes Agile will not fix — a diagnosis that concludes 'Agile solves everything' has not been done properly.</a:t>
            </a:r>
          </a:p>
        </p:txBody>
      </p:sp>
      <p:sp>
        <p:nvSpPr>
          <p:cNvPr id="25" name="Rectangle 24"/>
          <p:cNvSpPr/>
          <p:nvPr/>
        </p:nvSpPr>
        <p:spPr>
          <a:xfrm>
            <a:off x="777240" y="5504688"/>
            <a:ext cx="10634472" cy="7132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5577840"/>
            <a:ext cx="118872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577840"/>
            <a:ext cx="1188720" cy="566928"/>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ACT 2</a:t>
            </a:r>
          </a:p>
        </p:txBody>
      </p:sp>
      <p:sp>
        <p:nvSpPr>
          <p:cNvPr id="28" name="TextBox 27"/>
          <p:cNvSpPr txBox="1"/>
          <p:nvPr/>
        </p:nvSpPr>
        <p:spPr>
          <a:xfrm>
            <a:off x="2148840" y="5577840"/>
            <a:ext cx="9052560" cy="310896"/>
          </a:xfrm>
          <a:prstGeom prst="rect">
            <a:avLst/>
          </a:prstGeom>
          <a:noFill/>
        </p:spPr>
        <p:txBody>
          <a:bodyPr wrap="square" anchor="t" lIns="0" rIns="0" tIns="0" bIns="0">
            <a:spAutoFit/>
          </a:bodyPr>
          <a:lstStyle/>
          <a:p>
            <a:pPr algn="l">
              <a:spcAft>
                <a:spcPts val="400"/>
              </a:spcAft>
            </a:pPr>
            <a:r>
              <a:rPr sz="1200" b="1">
                <a:solidFill>
                  <a:srgbClr val="161B26"/>
                </a:solidFill>
                <a:latin typeface="Arial"/>
              </a:rPr>
              <a:t>Tool: Fishbone — https://alfredang.github.io/fishbone/</a:t>
            </a:r>
          </a:p>
        </p:txBody>
      </p:sp>
      <p:sp>
        <p:nvSpPr>
          <p:cNvPr id="29" name="TextBox 28"/>
          <p:cNvSpPr txBox="1"/>
          <p:nvPr/>
        </p:nvSpPr>
        <p:spPr>
          <a:xfrm>
            <a:off x="2148840" y="5870448"/>
            <a:ext cx="9098280" cy="329184"/>
          </a:xfrm>
          <a:prstGeom prst="rect">
            <a:avLst/>
          </a:prstGeom>
          <a:noFill/>
        </p:spPr>
        <p:txBody>
          <a:bodyPr wrap="square" anchor="t" lIns="0" rIns="0" tIns="0" bIns="0">
            <a:spAutoFit/>
          </a:bodyPr>
          <a:lstStyle/>
          <a:p>
            <a:pPr algn="l">
              <a:spcAft>
                <a:spcPts val="400"/>
              </a:spcAft>
            </a:pPr>
            <a:r>
              <a:rPr sz="1000" b="0">
                <a:solidFill>
                  <a:srgbClr val="5B6372"/>
                </a:solidFill>
                <a:latin typeface="Arial"/>
              </a:rPr>
              <a:t>LO 1  ·  Analyse the current business operating landscape and diagnose why a waterfall delivery failed, using cause-and-effect analysis (K1, K3, A2).  ·  Full step-by-step: Learner Guide, Activity 2</a:t>
            </a:r>
          </a:p>
        </p:txBody>
      </p:sp>
      <p:sp>
        <p:nvSpPr>
          <p:cNvPr id="30" name="TextBox 2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1" name="TextBox 3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01 · ACTIVITY 2 DEBRIEF</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Debrief — Activity 2: What It Proves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4825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48256"/>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91056" y="1901952"/>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Most causes tag as structural. The team did not fail; the approach concentrated all risk at the end.</a:t>
            </a:r>
          </a:p>
        </p:txBody>
      </p:sp>
      <p:sp>
        <p:nvSpPr>
          <p:cNvPr id="12" name="Rectangle 11"/>
          <p:cNvSpPr/>
          <p:nvPr/>
        </p:nvSpPr>
        <p:spPr>
          <a:xfrm>
            <a:off x="777240" y="2926080"/>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6080"/>
            <a:ext cx="9144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63824"/>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63824"/>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91056" y="3017520"/>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This is why the cost-of-change curve matters: every one of these causes became expensive because it was discovered late.</a:t>
            </a:r>
          </a:p>
        </p:txBody>
      </p:sp>
      <p:sp>
        <p:nvSpPr>
          <p:cNvPr id="17" name="Rectangle 16"/>
          <p:cNvSpPr/>
          <p:nvPr/>
        </p:nvSpPr>
        <p:spPr>
          <a:xfrm>
            <a:off x="777240" y="4041648"/>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41648"/>
            <a:ext cx="9144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9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9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91056" y="4133088"/>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K3 in practice: organisational policies and governance had to change too. Adopting Agile inside a stage-gate funding model produces theatre, not agility.</a:t>
            </a:r>
          </a:p>
        </p:txBody>
      </p:sp>
      <p:sp>
        <p:nvSpPr>
          <p:cNvPr id="22" name="Rectangle 21"/>
          <p:cNvSpPr/>
          <p:nvPr/>
        </p:nvSpPr>
        <p:spPr>
          <a:xfrm>
            <a:off x="777240" y="5074920"/>
            <a:ext cx="10634472" cy="1078992"/>
          </a:xfrm>
          <a:prstGeom prst="rect">
            <a:avLst/>
          </a:prstGeom>
          <a:solidFill>
            <a:srgbClr val="FFFFFF"/>
          </a:solidFill>
          <a:ln w="12700">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157216"/>
            <a:ext cx="10241280" cy="274320"/>
          </a:xfrm>
          <a:prstGeom prst="rect">
            <a:avLst/>
          </a:prstGeom>
          <a:noFill/>
        </p:spPr>
        <p:txBody>
          <a:bodyPr wrap="square" anchor="t" lIns="0" rIns="0" tIns="0" bIns="0">
            <a:spAutoFit/>
          </a:bodyPr>
          <a:lstStyle/>
          <a:p>
            <a:pPr algn="l">
              <a:spcAft>
                <a:spcPts val="400"/>
              </a:spcAft>
            </a:pPr>
            <a:r>
              <a:rPr sz="1100" b="1">
                <a:solidFill>
                  <a:srgbClr val="127A3E"/>
                </a:solidFill>
                <a:latin typeface="Arial"/>
              </a:rPr>
              <a:t>SUCCESS CRITERION</a:t>
            </a:r>
          </a:p>
        </p:txBody>
      </p:sp>
      <p:sp>
        <p:nvSpPr>
          <p:cNvPr id="24" name="TextBox 23"/>
          <p:cNvSpPr txBox="1"/>
          <p:nvPr/>
        </p:nvSpPr>
        <p:spPr>
          <a:xfrm>
            <a:off x="1051560" y="5440680"/>
            <a:ext cx="10241280" cy="658368"/>
          </a:xfrm>
          <a:prstGeom prst="rect">
            <a:avLst/>
          </a:prstGeom>
          <a:noFill/>
        </p:spPr>
        <p:txBody>
          <a:bodyPr wrap="square" anchor="t" lIns="0" rIns="0" tIns="0" bIns="0">
            <a:spAutoFit/>
          </a:bodyPr>
          <a:lstStyle/>
          <a:p>
            <a:pPr algn="l">
              <a:spcAft>
                <a:spcPts val="400"/>
              </a:spcAft>
            </a:pPr>
            <a:r>
              <a:rPr sz="1150" b="0">
                <a:solidFill>
                  <a:srgbClr val="161B26"/>
                </a:solidFill>
                <a:latin typeface="Arial"/>
              </a:rPr>
              <a:t>Your diagram carries at least 18 causes across all 6 categories, every cause is tagged S or B, and each structural cause is paired with a named Agile practice. Your recommendation honestly identifies at least two causes Agile will not fix — a diagnosis that concludes 'Agile solves everything' has not been done properly.</a:t>
            </a:r>
          </a:p>
        </p:txBody>
      </p:sp>
      <p:sp>
        <p:nvSpPr>
          <p:cNvPr id="25" name="TextBox 2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6" name="TextBox 2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RECAP  ·  LO1  ·  K1, K2, K3, A2, A5</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Recap — Introduction to Agile Project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032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032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Activity 1 · Empathise with the Customer to Reframe a Failing Project</a:t>
            </a:r>
          </a:p>
          <a:p>
            <a:pPr algn="l">
              <a:spcAft>
                <a:spcPts val="300"/>
              </a:spcAft>
            </a:pPr>
            <a:r>
              <a:rPr sz="1200" b="0">
                <a:solidFill>
                  <a:srgbClr val="5B6372"/>
                </a:solidFill>
                <a:latin typeface="Arial"/>
              </a:rPr>
              <a:t>Analyse current and future customer needs and preferences using Design Thinking to reframe requirements around customer value (K2, A5).</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486460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486460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4197096"/>
            <a:ext cx="9482328"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Activity 2 · Diagnose the Waterfall Failure with a Fishbone Analysis</a:t>
            </a:r>
          </a:p>
          <a:p>
            <a:pPr algn="l">
              <a:spcAft>
                <a:spcPts val="300"/>
              </a:spcAft>
            </a:pPr>
            <a:r>
              <a:rPr sz="1200" b="0">
                <a:solidFill>
                  <a:srgbClr val="5B6372"/>
                </a:solidFill>
                <a:latin typeface="Arial"/>
              </a:rPr>
              <a:t>Analyse the current business operating landscape and diagnose why a waterfall delivery failed, using cause-and-effect analysis (K1, K3, A2).</a:t>
            </a:r>
          </a:p>
        </p:txBody>
      </p:sp>
      <p:sp>
        <p:nvSpPr>
          <p:cNvPr id="17" name="TextBox 1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8" name="TextBox 1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Aft>
                <a:spcPts val="400"/>
              </a:spcAft>
            </a:pPr>
            <a:r>
              <a:rPr sz="46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Aft>
                <a:spcPts val="400"/>
              </a:spcAft>
            </a:pPr>
            <a:r>
              <a:rPr sz="2200" b="1">
                <a:solidFill>
                  <a:srgbClr val="F59E0B"/>
                </a:solidFill>
                <a:latin typeface="Arial"/>
              </a:rPr>
              <a:t>1 hour  ·  Digital attendance (PM) when you return</a:t>
            </a:r>
          </a:p>
        </p:txBody>
      </p:sp>
    </p:spTree>
  </p:cSld>
  <p:clrMapOvr>
    <a:masterClrMapping/>
  </p:clrMapOvr>
  <mc:AlternateContent xmlns:mc="http://schemas.openxmlformats.org/markup-compatibility/2006">
    <mc:Choice xmlns:p14="http://schemas.microsoft.com/office/powerpoint/2010/main" Requires="p14">
      <p:transition spd="med" p14:dur="900">
        <p:push dir="u"/>
      </p:transition>
    </mc:Choice>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10058400" cy="457200"/>
          </a:xfrm>
          <a:prstGeom prst="rect">
            <a:avLst/>
          </a:prstGeom>
          <a:noFill/>
        </p:spPr>
        <p:txBody>
          <a:bodyPr wrap="square" anchor="t" lIns="0" rIns="0" tIns="0" bIns="0">
            <a:spAutoFit/>
          </a:bodyPr>
          <a:lstStyle/>
          <a:p>
            <a:pPr algn="l">
              <a:spcAft>
                <a:spcPts val="400"/>
              </a:spcAft>
            </a:pPr>
            <a:r>
              <a:rPr sz="1500" b="1">
                <a:solidFill>
                  <a:srgbClr val="1F6FEB"/>
                </a:solidFill>
                <a:latin typeface="Arial"/>
              </a:rPr>
              <a:t>TOPIC 02</a:t>
            </a:r>
          </a:p>
        </p:txBody>
      </p:sp>
      <p:sp>
        <p:nvSpPr>
          <p:cNvPr id="6" name="TextBox 5"/>
          <p:cNvSpPr txBox="1"/>
          <p:nvPr/>
        </p:nvSpPr>
        <p:spPr>
          <a:xfrm>
            <a:off x="1280160" y="2606040"/>
            <a:ext cx="10058400" cy="960120"/>
          </a:xfrm>
          <a:prstGeom prst="rect">
            <a:avLst/>
          </a:prstGeom>
          <a:noFill/>
        </p:spPr>
        <p:txBody>
          <a:bodyPr wrap="square" anchor="t" lIns="0" rIns="0" tIns="0" bIns="0">
            <a:spAutoFit/>
          </a:bodyPr>
          <a:lstStyle/>
          <a:p>
            <a:pPr algn="l">
              <a:spcAft>
                <a:spcPts val="400"/>
              </a:spcAft>
            </a:pPr>
            <a:r>
              <a:rPr sz="3400" b="1">
                <a:solidFill>
                  <a:srgbClr val="161B26"/>
                </a:solidFill>
                <a:latin typeface="Arial"/>
              </a:rPr>
              <a:t>Agile Essentials</a:t>
            </a:r>
          </a:p>
        </p:txBody>
      </p:sp>
      <p:sp>
        <p:nvSpPr>
          <p:cNvPr id="7" name="TextBox 6"/>
          <p:cNvSpPr txBox="1"/>
          <p:nvPr/>
        </p:nvSpPr>
        <p:spPr>
          <a:xfrm>
            <a:off x="1280160" y="3611880"/>
            <a:ext cx="9875520" cy="1097280"/>
          </a:xfrm>
          <a:prstGeom prst="rect">
            <a:avLst/>
          </a:prstGeom>
          <a:noFill/>
        </p:spPr>
        <p:txBody>
          <a:bodyPr wrap="square" anchor="t" lIns="0" rIns="0" tIns="0" bIns="0">
            <a:spAutoFit/>
          </a:bodyPr>
          <a:lstStyle/>
          <a:p>
            <a:pPr algn="l">
              <a:spcAft>
                <a:spcPts val="400"/>
              </a:spcAft>
            </a:pPr>
            <a:r>
              <a:rPr sz="1500" b="0">
                <a:solidFill>
                  <a:srgbClr val="5B6372"/>
                </a:solidFill>
                <a:latin typeface="Arial"/>
              </a:rPr>
              <a:t>Manifesto values &amp; principles · Scrum · Lean · Kanban · XP · Overcoming resistance   ·   LO2   ·   K4, K6, K7, A1, A3</a:t>
            </a:r>
          </a:p>
        </p:txBody>
      </p:sp>
      <p:sp>
        <p:nvSpPr>
          <p:cNvPr id="8" name="TextBox 7"/>
          <p:cNvSpPr txBox="1"/>
          <p:nvPr/>
        </p:nvSpPr>
        <p:spPr>
          <a:xfrm>
            <a:off x="9144000" y="502920"/>
            <a:ext cx="2377440" cy="1371600"/>
          </a:xfrm>
          <a:prstGeom prst="rect">
            <a:avLst/>
          </a:prstGeom>
          <a:noFill/>
        </p:spPr>
        <p:txBody>
          <a:bodyPr wrap="square" anchor="t" lIns="0" rIns="0" tIns="0" bIns="0">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0" name="TextBox 9"/>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Aft>
                <a:spcPts val="400"/>
              </a:spcAft>
            </a:pPr>
            <a:r>
              <a:rPr sz="1600" b="1">
                <a:solidFill>
                  <a:srgbClr val="10B981"/>
                </a:solidFill>
                <a:latin typeface="Arial"/>
              </a:rPr>
              <a:t>TOPIC 02 · THE FOUNDATION</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Aft>
                <a:spcPts val="400"/>
              </a:spcAft>
            </a:pPr>
            <a:r>
              <a:rPr sz="3600" b="1">
                <a:solidFill>
                  <a:srgbClr val="161B26"/>
                </a:solidFill>
                <a:latin typeface="Arial"/>
              </a:rPr>
              <a:t>Four values. Twelve principles. Everything else is machinery.</a:t>
            </a:r>
          </a:p>
        </p:txBody>
      </p:sp>
      <p:sp>
        <p:nvSpPr>
          <p:cNvPr id="6" name="TextBox 5"/>
          <p:cNvSpPr txBox="1"/>
          <p:nvPr/>
        </p:nvSpPr>
        <p:spPr>
          <a:xfrm>
            <a:off x="1024128" y="4526280"/>
            <a:ext cx="10058400" cy="1188720"/>
          </a:xfrm>
          <a:prstGeom prst="rect">
            <a:avLst/>
          </a:prstGeom>
          <a:noFill/>
        </p:spPr>
        <p:txBody>
          <a:bodyPr wrap="square" anchor="t" lIns="0" rIns="0" tIns="0" bIns="0">
            <a:spAutoFit/>
          </a:bodyPr>
          <a:lstStyle/>
          <a:p>
            <a:pPr algn="l">
              <a:spcAft>
                <a:spcPts val="400"/>
              </a:spcAft>
            </a:pPr>
            <a:r>
              <a:rPr sz="1900" b="0">
                <a:solidFill>
                  <a:srgbClr val="5B6372"/>
                </a:solidFill>
                <a:latin typeface="Arial"/>
              </a:rPr>
              <a:t>The Agile Manifesto was written in 2001 by 17 practitioners. It is one page long, and it is the reference every framework in this topic is derived from.</a:t>
            </a:r>
          </a:p>
        </p:txBody>
      </p:sp>
      <p:sp>
        <p:nvSpPr>
          <p:cNvPr id="7" name="TextBox 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8" name="TextBox 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mc:Choice xmlns:p14="http://schemas.microsoft.com/office/powerpoint/2010/main" Requires="p14">
      <p:transition spd="med" p14:dur="900">
        <p:push dir="u"/>
      </p:transition>
    </mc:Choice>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02 · K6 · THE FOUR VALUES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Agile Manifesto — Four Values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nifesto-values.png"/>
          <p:cNvPicPr>
            <a:picLocks noChangeAspect="1"/>
          </p:cNvPicPr>
          <p:nvPr/>
        </p:nvPicPr>
        <p:blipFill>
          <a:blip r:embed="rId2"/>
          <a:stretch>
            <a:fillRect/>
          </a:stretch>
        </p:blipFill>
        <p:spPr>
          <a:xfrm>
            <a:off x="1014891" y="1810512"/>
            <a:ext cx="10161913" cy="3931920"/>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agilemanifesto.org — 'while there is value in the items on the right, we value the items on the left more'.</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02 · WHAT EACH VALUE MEANS IN PRACTICE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Reading the Four Values Correctly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2466594"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Individuals &amp; interactions</a:t>
            </a:r>
          </a:p>
        </p:txBody>
      </p:sp>
      <p:sp>
        <p:nvSpPr>
          <p:cNvPr id="12" name="TextBox 11"/>
          <p:cNvSpPr txBox="1"/>
          <p:nvPr/>
        </p:nvSpPr>
        <p:spPr>
          <a:xfrm>
            <a:off x="1014984"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Tools are necessary; they never rescue a team that will not talk. Problems are solved by people.</a:t>
            </a:r>
          </a:p>
        </p:txBody>
      </p:sp>
      <p:sp>
        <p:nvSpPr>
          <p:cNvPr id="13" name="Rectangle 12"/>
          <p:cNvSpPr/>
          <p:nvPr/>
        </p:nvSpPr>
        <p:spPr>
          <a:xfrm>
            <a:off x="3499866" y="1810512"/>
            <a:ext cx="2466594"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19322"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32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4213098" y="1956816"/>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Working software</a:t>
            </a:r>
          </a:p>
        </p:txBody>
      </p:sp>
      <p:sp>
        <p:nvSpPr>
          <p:cNvPr id="18" name="TextBox 17"/>
          <p:cNvSpPr txBox="1"/>
          <p:nvPr/>
        </p:nvSpPr>
        <p:spPr>
          <a:xfrm>
            <a:off x="3737610"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Deliver something that works. Keep documents barely sufficient, just in time, and for a stated reason.</a:t>
            </a:r>
          </a:p>
        </p:txBody>
      </p:sp>
      <p:sp>
        <p:nvSpPr>
          <p:cNvPr id="19" name="Rectangle 18"/>
          <p:cNvSpPr/>
          <p:nvPr/>
        </p:nvSpPr>
        <p:spPr>
          <a:xfrm>
            <a:off x="6222492" y="1810512"/>
            <a:ext cx="2466594"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1948"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6935724" y="1956816"/>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Customer collaboration</a:t>
            </a:r>
          </a:p>
        </p:txBody>
      </p:sp>
      <p:sp>
        <p:nvSpPr>
          <p:cNvPr id="24" name="TextBox 23"/>
          <p:cNvSpPr txBox="1"/>
          <p:nvPr/>
        </p:nvSpPr>
        <p:spPr>
          <a:xfrm>
            <a:off x="6460236"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Manage change rather than suppress it. Build a shared, written definition of 'done'.</a:t>
            </a:r>
          </a:p>
        </p:txBody>
      </p:sp>
      <p:sp>
        <p:nvSpPr>
          <p:cNvPr id="25" name="Rectangle 24"/>
          <p:cNvSpPr/>
          <p:nvPr/>
        </p:nvSpPr>
        <p:spPr>
          <a:xfrm>
            <a:off x="8945118" y="1810512"/>
            <a:ext cx="2466594" cy="278892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1810512"/>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4574"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457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58350" y="1956816"/>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Responding to change</a:t>
            </a:r>
          </a:p>
        </p:txBody>
      </p:sp>
      <p:sp>
        <p:nvSpPr>
          <p:cNvPr id="30" name="TextBox 29"/>
          <p:cNvSpPr txBox="1"/>
          <p:nvPr/>
        </p:nvSpPr>
        <p:spPr>
          <a:xfrm>
            <a:off x="9182862"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Energy spent defending the original plan is energy taken from delivering value.</a:t>
            </a:r>
          </a:p>
        </p:txBody>
      </p:sp>
      <p:sp>
        <p:nvSpPr>
          <p:cNvPr id="31" name="Rectangle 30"/>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64608"/>
            <a:ext cx="91440"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F6FEB"/>
                </a:solidFill>
                <a:latin typeface="Arial"/>
              </a:rPr>
              <a:t>THE COMMON MISREADING</a:t>
            </a:r>
          </a:p>
        </p:txBody>
      </p:sp>
      <p:sp>
        <p:nvSpPr>
          <p:cNvPr id="34" name="TextBox 33"/>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'We value the left over the right' does NOT mean the right is worthless. Agile teams still plan, still document, still contract — they just refuse to let those things outrank delivered value.</a:t>
            </a:r>
          </a:p>
        </p:txBody>
      </p:sp>
      <p:sp>
        <p:nvSpPr>
          <p:cNvPr id="35" name="TextBox 3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6" name="TextBox 3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02 · K6 · PRINCIPLES 1–6</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Twelve Principles — 1 to 6</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1 · Satisfy the customer</a:t>
            </a:r>
          </a:p>
          <a:p>
            <a:pPr algn="l">
              <a:spcAft>
                <a:spcPts val="300"/>
              </a:spcAft>
            </a:pPr>
            <a:r>
              <a:rPr sz="1100" b="0">
                <a:solidFill>
                  <a:srgbClr val="5B6372"/>
                </a:solidFill>
                <a:latin typeface="Arial"/>
              </a:rPr>
              <a:t>Through early and continuous delivery of valuable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2 · Welcome change</a:t>
            </a:r>
          </a:p>
          <a:p>
            <a:pPr algn="l">
              <a:spcAft>
                <a:spcPts val="300"/>
              </a:spcAft>
            </a:pPr>
            <a:r>
              <a:rPr sz="1100" b="0">
                <a:solidFill>
                  <a:srgbClr val="5B6372"/>
                </a:solidFill>
                <a:latin typeface="Arial"/>
              </a:rPr>
              <a:t>Even late in development — harness change for competitive advantage.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3 · Deliver frequently</a:t>
            </a:r>
          </a:p>
          <a:p>
            <a:pPr algn="l">
              <a:spcAft>
                <a:spcPts val="300"/>
              </a:spcAft>
            </a:pPr>
            <a:r>
              <a:rPr sz="1100" b="0">
                <a:solidFill>
                  <a:srgbClr val="5B6372"/>
                </a:solidFill>
                <a:latin typeface="Arial"/>
              </a:rPr>
              <a:t>From a couple of weeks to a couple of months; prefer the shorter timescale.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4 · Work together daily</a:t>
            </a:r>
          </a:p>
          <a:p>
            <a:pPr algn="l">
              <a:spcAft>
                <a:spcPts val="300"/>
              </a:spcAft>
            </a:pPr>
            <a:r>
              <a:rPr sz="1100" b="0">
                <a:solidFill>
                  <a:srgbClr val="5B6372"/>
                </a:solidFill>
                <a:latin typeface="Arial"/>
              </a:rPr>
              <a:t>Business people and delivery people, throughout the project.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5 · Motivated individuals</a:t>
            </a:r>
          </a:p>
          <a:p>
            <a:pPr algn="l">
              <a:spcAft>
                <a:spcPts val="300"/>
              </a:spcAft>
            </a:pPr>
            <a:r>
              <a:rPr sz="1100" b="0">
                <a:solidFill>
                  <a:srgbClr val="5B6372"/>
                </a:solidFill>
                <a:latin typeface="Arial"/>
              </a:rPr>
              <a:t>Give them the environment and support they need, and trust them.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6 · Face-to-face conversation</a:t>
            </a:r>
          </a:p>
          <a:p>
            <a:pPr algn="l">
              <a:spcAft>
                <a:spcPts val="300"/>
              </a:spcAft>
            </a:pPr>
            <a:r>
              <a:rPr sz="1100" b="0">
                <a:solidFill>
                  <a:srgbClr val="5B6372"/>
                </a:solidFill>
                <a:latin typeface="Arial"/>
              </a:rPr>
              <a:t>The most efficient and effective way to convey information.</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02 · K6 · PRINCIPLES 7–12</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Twelve Principles — 7 to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7 · Working output measures progress</a:t>
            </a:r>
          </a:p>
          <a:p>
            <a:pPr algn="l">
              <a:spcAft>
                <a:spcPts val="300"/>
              </a:spcAft>
            </a:pPr>
            <a:r>
              <a:rPr sz="1100" b="0">
                <a:solidFill>
                  <a:srgbClr val="5B6372"/>
                </a:solidFill>
                <a:latin typeface="Arial"/>
              </a:rPr>
              <a:t>Not percent-complete of tasks, and not documents produced.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8 · Sustainable pace</a:t>
            </a:r>
          </a:p>
          <a:p>
            <a:pPr algn="l">
              <a:spcAft>
                <a:spcPts val="300"/>
              </a:spcAft>
            </a:pPr>
            <a:r>
              <a:rPr sz="1100" b="0">
                <a:solidFill>
                  <a:srgbClr val="5B6372"/>
                </a:solidFill>
                <a:latin typeface="Arial"/>
              </a:rPr>
              <a:t>Sponsors, developers and users maintain a constant pace indefinitely.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9 · Technical excellence</a:t>
            </a:r>
          </a:p>
          <a:p>
            <a:pPr algn="l">
              <a:spcAft>
                <a:spcPts val="300"/>
              </a:spcAft>
            </a:pPr>
            <a:r>
              <a:rPr sz="1100" b="0">
                <a:solidFill>
                  <a:srgbClr val="5B6372"/>
                </a:solidFill>
                <a:latin typeface="Arial"/>
              </a:rPr>
              <a:t>Continuous attention to quality and good design enhances agility.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10 · Simplicity</a:t>
            </a:r>
          </a:p>
          <a:p>
            <a:pPr algn="l">
              <a:spcAft>
                <a:spcPts val="300"/>
              </a:spcAft>
            </a:pPr>
            <a:r>
              <a:rPr sz="1100" b="0">
                <a:solidFill>
                  <a:srgbClr val="5B6372"/>
                </a:solidFill>
                <a:latin typeface="Arial"/>
              </a:rPr>
              <a:t>Maximising the work NOT done is essential.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11 · Self-organising teams</a:t>
            </a:r>
          </a:p>
          <a:p>
            <a:pPr algn="l">
              <a:spcAft>
                <a:spcPts val="300"/>
              </a:spcAft>
            </a:pPr>
            <a:r>
              <a:rPr sz="1100" b="0">
                <a:solidFill>
                  <a:srgbClr val="5B6372"/>
                </a:solidFill>
                <a:latin typeface="Arial"/>
              </a:rPr>
              <a:t>The best architectures, requirements and designs emerge from them.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12 · Reflect and adjust</a:t>
            </a:r>
          </a:p>
          <a:p>
            <a:pPr algn="l">
              <a:spcAft>
                <a:spcPts val="300"/>
              </a:spcAft>
            </a:pPr>
            <a:r>
              <a:rPr sz="1100" b="0">
                <a:solidFill>
                  <a:srgbClr val="5B6372"/>
                </a:solidFill>
                <a:latin typeface="Arial"/>
              </a:rPr>
              <a:t>At regular intervals, tune and adjust behaviour accordingly.</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02 · K7 · SCRUM END TO END</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Scrum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rum-framework.png"/>
          <p:cNvPicPr>
            <a:picLocks noChangeAspect="1"/>
          </p:cNvPicPr>
          <p:nvPr/>
        </p:nvPicPr>
        <p:blipFill>
          <a:blip r:embed="rId2"/>
          <a:stretch>
            <a:fillRect/>
          </a:stretch>
        </p:blipFill>
        <p:spPr>
          <a:xfrm>
            <a:off x="792327" y="1810512"/>
            <a:ext cx="10607040" cy="3683337"/>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Scrum is built on empiricism: transparency, inspection and adaptation. The loop is the framework.</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02 · FRAMEWORK CHOICE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Why We Teach Scrum in Depth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ramework-adoption.png"/>
          <p:cNvPicPr>
            <a:picLocks noChangeAspect="1"/>
          </p:cNvPicPr>
          <p:nvPr/>
        </p:nvPicPr>
        <p:blipFill>
          <a:blip r:embed="rId2"/>
          <a:stretch>
            <a:fillRect/>
          </a:stretch>
        </p:blipFill>
        <p:spPr>
          <a:xfrm>
            <a:off x="777240" y="1828800"/>
            <a:ext cx="4476646" cy="4160520"/>
          </a:xfrm>
          <a:prstGeom prst="rect">
            <a:avLst/>
          </a:prstGeom>
        </p:spPr>
      </p:pic>
      <p:sp>
        <p:nvSpPr>
          <p:cNvPr id="8" name="Rectangle 7"/>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Scrum dominates adoption</a:t>
            </a:r>
          </a:p>
          <a:p>
            <a:pPr algn="l">
              <a:spcAft>
                <a:spcPts val="400"/>
              </a:spcAft>
            </a:pPr>
            <a:r>
              <a:rPr sz="1150" b="0">
                <a:solidFill>
                  <a:srgbClr val="161B26"/>
                </a:solidFill>
                <a:latin typeface="Arial"/>
              </a:rPr>
              <a:t>Roughly 63% of Agile teams use Scrum, so it is the shared vocabulary.</a:t>
            </a:r>
          </a:p>
        </p:txBody>
      </p:sp>
      <p:sp>
        <p:nvSpPr>
          <p:cNvPr id="11" name="Rectangle 10"/>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It is prescriptive enough to learn</a:t>
            </a:r>
          </a:p>
          <a:p>
            <a:pPr algn="l">
              <a:spcAft>
                <a:spcPts val="400"/>
              </a:spcAft>
            </a:pPr>
            <a:r>
              <a:rPr sz="1150" b="0">
                <a:solidFill>
                  <a:srgbClr val="161B26"/>
                </a:solidFill>
                <a:latin typeface="Arial"/>
              </a:rPr>
              <a:t>Fixed roles, artefacts and events give a new team something to follow.</a:t>
            </a:r>
          </a:p>
        </p:txBody>
      </p:sp>
      <p:sp>
        <p:nvSpPr>
          <p:cNvPr id="14" name="Rectangle 13"/>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It generalises</a:t>
            </a:r>
          </a:p>
          <a:p>
            <a:pPr algn="l">
              <a:spcAft>
                <a:spcPts val="400"/>
              </a:spcAft>
            </a:pPr>
            <a:r>
              <a:rPr sz="1150" b="0">
                <a:solidFill>
                  <a:srgbClr val="161B26"/>
                </a:solidFill>
                <a:latin typeface="Arial"/>
              </a:rPr>
              <a:t>The same cadence works for marketing, operations and product teams.</a:t>
            </a:r>
          </a:p>
        </p:txBody>
      </p:sp>
      <p:sp>
        <p:nvSpPr>
          <p:cNvPr id="17" name="Rectangle 16"/>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Then tailor it</a:t>
            </a:r>
          </a:p>
          <a:p>
            <a:pPr algn="l">
              <a:spcAft>
                <a:spcPts val="400"/>
              </a:spcAft>
            </a:pPr>
            <a:r>
              <a:rPr sz="1150" b="0">
                <a:solidFill>
                  <a:srgbClr val="161B26"/>
                </a:solidFill>
                <a:latin typeface="Arial"/>
              </a:rPr>
              <a:t>Shu-Ha-Ri: follow the framework first, adapt once you understand why.</a:t>
            </a:r>
          </a:p>
        </p:txBody>
      </p:sp>
      <p:sp>
        <p:nvSpPr>
          <p:cNvPr id="20" name="TextBox 1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1" name="TextBox 2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02 · WHO DOES WHAT</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Three Scrum Accountabilities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3374136"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2478024"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Product Owner</a:t>
            </a:r>
          </a:p>
        </p:txBody>
      </p:sp>
      <p:sp>
        <p:nvSpPr>
          <p:cNvPr id="12" name="TextBox 11"/>
          <p:cNvSpPr txBox="1"/>
          <p:nvPr/>
        </p:nvSpPr>
        <p:spPr>
          <a:xfrm>
            <a:off x="1014984" y="2505456"/>
            <a:ext cx="2916936"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Owns value and the ORDER of the product backlog. One person, not a committee. Accepts or rejects each increment.</a:t>
            </a:r>
          </a:p>
        </p:txBody>
      </p:sp>
      <p:sp>
        <p:nvSpPr>
          <p:cNvPr id="13" name="Rectangle 12"/>
          <p:cNvSpPr/>
          <p:nvPr/>
        </p:nvSpPr>
        <p:spPr>
          <a:xfrm>
            <a:off x="4407408" y="1810512"/>
            <a:ext cx="3374136"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07408"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26864"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5120640" y="1956816"/>
            <a:ext cx="2478024"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Scrum Master</a:t>
            </a:r>
          </a:p>
        </p:txBody>
      </p:sp>
      <p:sp>
        <p:nvSpPr>
          <p:cNvPr id="18" name="TextBox 17"/>
          <p:cNvSpPr txBox="1"/>
          <p:nvPr/>
        </p:nvSpPr>
        <p:spPr>
          <a:xfrm>
            <a:off x="4645152" y="2505456"/>
            <a:ext cx="2916936"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Owns the process. A servant leader who removes impediments, coaches the team and shields it from interruption.</a:t>
            </a:r>
          </a:p>
        </p:txBody>
      </p:sp>
      <p:sp>
        <p:nvSpPr>
          <p:cNvPr id="19" name="Rectangle 18"/>
          <p:cNvSpPr/>
          <p:nvPr/>
        </p:nvSpPr>
        <p:spPr>
          <a:xfrm>
            <a:off x="8037576" y="1810512"/>
            <a:ext cx="3374136"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7576"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57032"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8750808" y="1956816"/>
            <a:ext cx="2478024"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Developers</a:t>
            </a:r>
          </a:p>
        </p:txBody>
      </p:sp>
      <p:sp>
        <p:nvSpPr>
          <p:cNvPr id="24" name="TextBox 23"/>
          <p:cNvSpPr txBox="1"/>
          <p:nvPr/>
        </p:nvSpPr>
        <p:spPr>
          <a:xfrm>
            <a:off x="8275320" y="2505456"/>
            <a:ext cx="2916936"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Own HOW the work is done and how much enters the sprint. Cross-functional, self-organising, collectively accountable.</a:t>
            </a:r>
          </a:p>
        </p:txBody>
      </p:sp>
      <p:sp>
        <p:nvSpPr>
          <p:cNvPr id="25" name="Rectangle 24"/>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864608"/>
            <a:ext cx="91440"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7C3AED"/>
                </a:solidFill>
                <a:latin typeface="Arial"/>
              </a:rPr>
              <a:t>THE FAILURE MODE</a:t>
            </a:r>
          </a:p>
        </p:txBody>
      </p:sp>
      <p:sp>
        <p:nvSpPr>
          <p:cNvPr id="28" name="TextBox 27"/>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Almost every 'Scrum doesn't work here' story traces to a Product Owner who cannot decide, or a manager who overrules the sprint. You will map this yourself in Activity 4.</a:t>
            </a:r>
          </a:p>
        </p:txBody>
      </p:sp>
      <p:sp>
        <p:nvSpPr>
          <p:cNvPr id="29" name="TextBox 28"/>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0" name="TextBox 29"/>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02 · THE THREE ARTEFACTS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Scrum Artefacts and Their Commitments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1810512"/>
            <a:ext cx="2545506"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Artefact</a:t>
            </a:r>
          </a:p>
        </p:txBody>
      </p:sp>
      <p:sp>
        <p:nvSpPr>
          <p:cNvPr id="9" name="TextBox 8"/>
          <p:cNvSpPr txBox="1"/>
          <p:nvPr/>
        </p:nvSpPr>
        <p:spPr>
          <a:xfrm>
            <a:off x="3688506" y="1810512"/>
            <a:ext cx="3715298"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What it is</a:t>
            </a:r>
          </a:p>
        </p:txBody>
      </p:sp>
      <p:sp>
        <p:nvSpPr>
          <p:cNvPr id="10" name="TextBox 9"/>
          <p:cNvSpPr txBox="1"/>
          <p:nvPr/>
        </p:nvSpPr>
        <p:spPr>
          <a:xfrm>
            <a:off x="7623260" y="1810512"/>
            <a:ext cx="3715298"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Its commitment</a:t>
            </a:r>
          </a:p>
        </p:txBody>
      </p:sp>
      <p:sp>
        <p:nvSpPr>
          <p:cNvPr id="11" name="Rectangle 10"/>
          <p:cNvSpPr/>
          <p:nvPr/>
        </p:nvSpPr>
        <p:spPr>
          <a:xfrm>
            <a:off x="777240" y="2267712"/>
            <a:ext cx="10634472"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2267712"/>
            <a:ext cx="2545506" cy="658368"/>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Product Backlog</a:t>
            </a:r>
          </a:p>
        </p:txBody>
      </p:sp>
      <p:sp>
        <p:nvSpPr>
          <p:cNvPr id="13" name="TextBox 12"/>
          <p:cNvSpPr txBox="1"/>
          <p:nvPr/>
        </p:nvSpPr>
        <p:spPr>
          <a:xfrm>
            <a:off x="3688506" y="2267712"/>
            <a:ext cx="3715298"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The ordered list of everything known to be needed</a:t>
            </a:r>
          </a:p>
        </p:txBody>
      </p:sp>
      <p:sp>
        <p:nvSpPr>
          <p:cNvPr id="14" name="TextBox 13"/>
          <p:cNvSpPr txBox="1"/>
          <p:nvPr/>
        </p:nvSpPr>
        <p:spPr>
          <a:xfrm>
            <a:off x="7623260" y="2267712"/>
            <a:ext cx="3715298"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The Product Goal</a:t>
            </a:r>
          </a:p>
        </p:txBody>
      </p:sp>
      <p:sp>
        <p:nvSpPr>
          <p:cNvPr id="15" name="Rectangle 14"/>
          <p:cNvSpPr/>
          <p:nvPr/>
        </p:nvSpPr>
        <p:spPr>
          <a:xfrm>
            <a:off x="777240" y="2926080"/>
            <a:ext cx="10634472"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 y="2926080"/>
            <a:ext cx="2545506" cy="658368"/>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Sprint Backlog</a:t>
            </a:r>
          </a:p>
        </p:txBody>
      </p:sp>
      <p:sp>
        <p:nvSpPr>
          <p:cNvPr id="17" name="TextBox 16"/>
          <p:cNvSpPr txBox="1"/>
          <p:nvPr/>
        </p:nvSpPr>
        <p:spPr>
          <a:xfrm>
            <a:off x="3688506" y="2926080"/>
            <a:ext cx="3715298"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The selected items plus the plan to deliver them</a:t>
            </a:r>
          </a:p>
        </p:txBody>
      </p:sp>
      <p:sp>
        <p:nvSpPr>
          <p:cNvPr id="18" name="TextBox 17"/>
          <p:cNvSpPr txBox="1"/>
          <p:nvPr/>
        </p:nvSpPr>
        <p:spPr>
          <a:xfrm>
            <a:off x="7623260" y="2926080"/>
            <a:ext cx="3715298"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The Sprint Goal</a:t>
            </a:r>
          </a:p>
        </p:txBody>
      </p:sp>
      <p:sp>
        <p:nvSpPr>
          <p:cNvPr id="19" name="Rectangle 18"/>
          <p:cNvSpPr/>
          <p:nvPr/>
        </p:nvSpPr>
        <p:spPr>
          <a:xfrm>
            <a:off x="777240" y="3584448"/>
            <a:ext cx="10634472"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 y="3584448"/>
            <a:ext cx="2545506" cy="658368"/>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Increment</a:t>
            </a:r>
          </a:p>
        </p:txBody>
      </p:sp>
      <p:sp>
        <p:nvSpPr>
          <p:cNvPr id="21" name="TextBox 20"/>
          <p:cNvSpPr txBox="1"/>
          <p:nvPr/>
        </p:nvSpPr>
        <p:spPr>
          <a:xfrm>
            <a:off x="3688506" y="3584448"/>
            <a:ext cx="3715298"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A usable, integrated slice of the product</a:t>
            </a:r>
          </a:p>
        </p:txBody>
      </p:sp>
      <p:sp>
        <p:nvSpPr>
          <p:cNvPr id="22" name="TextBox 21"/>
          <p:cNvSpPr txBox="1"/>
          <p:nvPr/>
        </p:nvSpPr>
        <p:spPr>
          <a:xfrm>
            <a:off x="7623260" y="3584448"/>
            <a:ext cx="3715298"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The Definition of Done</a:t>
            </a:r>
          </a:p>
        </p:txBody>
      </p:sp>
      <p:sp>
        <p:nvSpPr>
          <p:cNvPr id="23" name="Rectangle 22"/>
          <p:cNvSpPr/>
          <p:nvPr/>
        </p:nvSpPr>
        <p:spPr>
          <a:xfrm>
            <a:off x="777240" y="4407408"/>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407408"/>
            <a:ext cx="91440"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407408"/>
            <a:ext cx="10177272" cy="621792"/>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Each artefact carries a commitment. An artefact without its commitment becomes a list nobody trusts.</a:t>
            </a:r>
          </a:p>
        </p:txBody>
      </p:sp>
      <p:sp>
        <p:nvSpPr>
          <p:cNvPr id="26" name="TextBox 25"/>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7" name="TextBox 26"/>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02 · THE SPRINT CONTAINER</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Five Scrum Events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lIns="0" rIns="0" tIns="0" bIns="0">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538728"/>
            <a:ext cx="1585569" cy="566928"/>
          </a:xfrm>
          <a:prstGeom prst="rect">
            <a:avLst/>
          </a:prstGeom>
          <a:noFill/>
        </p:spPr>
        <p:txBody>
          <a:bodyPr wrap="square" anchor="t" lIns="0" rIns="0" tIns="0" bIns="0">
            <a:spAutoFit/>
          </a:bodyPr>
          <a:lstStyle/>
          <a:p>
            <a:pPr algn="ctr">
              <a:spcAft>
                <a:spcPts val="400"/>
              </a:spcAft>
            </a:pPr>
            <a:r>
              <a:rPr sz="1350" b="1">
                <a:solidFill>
                  <a:srgbClr val="161B26"/>
                </a:solidFill>
                <a:latin typeface="Arial"/>
              </a:rPr>
              <a:t>Sprint Planning</a:t>
            </a:r>
          </a:p>
        </p:txBody>
      </p:sp>
      <p:sp>
        <p:nvSpPr>
          <p:cNvPr id="12" name="TextBox 11"/>
          <p:cNvSpPr txBox="1"/>
          <p:nvPr/>
        </p:nvSpPr>
        <p:spPr>
          <a:xfrm>
            <a:off x="923544" y="4087368"/>
            <a:ext cx="1585569" cy="685800"/>
          </a:xfrm>
          <a:prstGeom prst="rect">
            <a:avLst/>
          </a:prstGeom>
          <a:noFill/>
        </p:spPr>
        <p:txBody>
          <a:bodyPr wrap="square" anchor="t" lIns="0" rIns="0" tIns="0" bIns="0">
            <a:spAutoFit/>
          </a:bodyPr>
          <a:lstStyle/>
          <a:p>
            <a:pPr algn="ctr">
              <a:spcAft>
                <a:spcPts val="400"/>
              </a:spcAft>
            </a:pPr>
            <a:r>
              <a:rPr sz="1100" b="0">
                <a:solidFill>
                  <a:srgbClr val="5B6372"/>
                </a:solidFill>
                <a:latin typeface="Arial"/>
              </a:rPr>
              <a:t>what and how
· up to 8h</a:t>
            </a:r>
          </a:p>
        </p:txBody>
      </p:sp>
      <p:sp>
        <p:nvSpPr>
          <p:cNvPr id="13" name="TextBox 12"/>
          <p:cNvSpPr txBox="1"/>
          <p:nvPr/>
        </p:nvSpPr>
        <p:spPr>
          <a:xfrm>
            <a:off x="2655417" y="3291840"/>
            <a:ext cx="310896" cy="548640"/>
          </a:xfrm>
          <a:prstGeom prst="rect">
            <a:avLst/>
          </a:prstGeom>
          <a:noFill/>
        </p:spPr>
        <p:txBody>
          <a:bodyPr wrap="square" anchor="ctr" lIns="0" rIns="0" tIns="0" bIns="0">
            <a:spAutoFit/>
          </a:bodyPr>
          <a:lstStyle/>
          <a:p>
            <a:pPr algn="ctr">
              <a:spcAft>
                <a:spcPts val="400"/>
              </a:spcAft>
            </a:pPr>
            <a:r>
              <a:rPr sz="1500" b="1">
                <a:solidFill>
                  <a:srgbClr val="7C3AED"/>
                </a:solidFill>
                <a:latin typeface="Arial"/>
              </a:rPr>
              <a:t>▶</a:t>
            </a:r>
          </a:p>
        </p:txBody>
      </p:sp>
      <p:sp>
        <p:nvSpPr>
          <p:cNvPr id="14" name="Rectangle 13"/>
          <p:cNvSpPr/>
          <p:nvPr/>
        </p:nvSpPr>
        <p:spPr>
          <a:xfrm>
            <a:off x="2966313" y="2240280"/>
            <a:ext cx="1878177"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6313" y="224028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0497"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0497" y="2624328"/>
            <a:ext cx="749808" cy="749808"/>
          </a:xfrm>
          <a:prstGeom prst="rect">
            <a:avLst/>
          </a:prstGeom>
          <a:noFill/>
        </p:spPr>
        <p:txBody>
          <a:bodyPr wrap="square" anchor="ctr" lIns="0" rIns="0" tIns="0" bIns="0">
            <a:spAutoFit/>
          </a:bodyPr>
          <a:lstStyle/>
          <a:p>
            <a:pPr algn="ctr">
              <a:spcAft>
                <a:spcPts val="400"/>
              </a:spcAft>
            </a:pPr>
            <a:r>
              <a:rPr sz="3000" b="1">
                <a:solidFill>
                  <a:srgbClr val="FFFFFF"/>
                </a:solidFill>
                <a:latin typeface="Arial"/>
              </a:rPr>
              <a:t>2</a:t>
            </a:r>
          </a:p>
        </p:txBody>
      </p:sp>
      <p:sp>
        <p:nvSpPr>
          <p:cNvPr id="18" name="TextBox 17"/>
          <p:cNvSpPr txBox="1"/>
          <p:nvPr/>
        </p:nvSpPr>
        <p:spPr>
          <a:xfrm>
            <a:off x="3112617" y="3538728"/>
            <a:ext cx="1585569" cy="566928"/>
          </a:xfrm>
          <a:prstGeom prst="rect">
            <a:avLst/>
          </a:prstGeom>
          <a:noFill/>
        </p:spPr>
        <p:txBody>
          <a:bodyPr wrap="square" anchor="t" lIns="0" rIns="0" tIns="0" bIns="0">
            <a:spAutoFit/>
          </a:bodyPr>
          <a:lstStyle/>
          <a:p>
            <a:pPr algn="ctr">
              <a:spcAft>
                <a:spcPts val="400"/>
              </a:spcAft>
            </a:pPr>
            <a:r>
              <a:rPr sz="1350" b="1">
                <a:solidFill>
                  <a:srgbClr val="161B26"/>
                </a:solidFill>
                <a:latin typeface="Arial"/>
              </a:rPr>
              <a:t>Daily Scrum</a:t>
            </a:r>
          </a:p>
        </p:txBody>
      </p:sp>
      <p:sp>
        <p:nvSpPr>
          <p:cNvPr id="19" name="TextBox 18"/>
          <p:cNvSpPr txBox="1"/>
          <p:nvPr/>
        </p:nvSpPr>
        <p:spPr>
          <a:xfrm>
            <a:off x="3112617" y="4087368"/>
            <a:ext cx="1585569" cy="685800"/>
          </a:xfrm>
          <a:prstGeom prst="rect">
            <a:avLst/>
          </a:prstGeom>
          <a:noFill/>
        </p:spPr>
        <p:txBody>
          <a:bodyPr wrap="square" anchor="t" lIns="0" rIns="0" tIns="0" bIns="0">
            <a:spAutoFit/>
          </a:bodyPr>
          <a:lstStyle/>
          <a:p>
            <a:pPr algn="ctr">
              <a:spcAft>
                <a:spcPts val="400"/>
              </a:spcAft>
            </a:pPr>
            <a:r>
              <a:rPr sz="1100" b="0">
                <a:solidFill>
                  <a:srgbClr val="5B6372"/>
                </a:solidFill>
                <a:latin typeface="Arial"/>
              </a:rPr>
              <a:t>15 min · re-plan
the next 24h</a:t>
            </a:r>
          </a:p>
        </p:txBody>
      </p:sp>
      <p:sp>
        <p:nvSpPr>
          <p:cNvPr id="20" name="TextBox 19"/>
          <p:cNvSpPr txBox="1"/>
          <p:nvPr/>
        </p:nvSpPr>
        <p:spPr>
          <a:xfrm>
            <a:off x="4844490" y="3291840"/>
            <a:ext cx="310896" cy="548640"/>
          </a:xfrm>
          <a:prstGeom prst="rect">
            <a:avLst/>
          </a:prstGeom>
          <a:noFill/>
        </p:spPr>
        <p:txBody>
          <a:bodyPr wrap="square" anchor="ctr" lIns="0" rIns="0" tIns="0" bIns="0">
            <a:spAutoFit/>
          </a:bodyPr>
          <a:lstStyle/>
          <a:p>
            <a:pPr algn="ctr">
              <a:spcAft>
                <a:spcPts val="400"/>
              </a:spcAft>
            </a:pPr>
            <a:r>
              <a:rPr sz="1500" b="1">
                <a:solidFill>
                  <a:srgbClr val="7C3AED"/>
                </a:solidFill>
                <a:latin typeface="Arial"/>
              </a:rPr>
              <a:t>▶</a:t>
            </a:r>
          </a:p>
        </p:txBody>
      </p:sp>
      <p:sp>
        <p:nvSpPr>
          <p:cNvPr id="21" name="Rectangle 20"/>
          <p:cNvSpPr/>
          <p:nvPr/>
        </p:nvSpPr>
        <p:spPr>
          <a:xfrm>
            <a:off x="5155386" y="2240280"/>
            <a:ext cx="1878177"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55386" y="224028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19570"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9570" y="2624328"/>
            <a:ext cx="749808" cy="749808"/>
          </a:xfrm>
          <a:prstGeom prst="rect">
            <a:avLst/>
          </a:prstGeom>
          <a:noFill/>
        </p:spPr>
        <p:txBody>
          <a:bodyPr wrap="square" anchor="ctr" lIns="0" rIns="0" tIns="0" bIns="0">
            <a:spAutoFit/>
          </a:bodyPr>
          <a:lstStyle/>
          <a:p>
            <a:pPr algn="ctr">
              <a:spcAft>
                <a:spcPts val="400"/>
              </a:spcAft>
            </a:pPr>
            <a:r>
              <a:rPr sz="3000" b="1">
                <a:solidFill>
                  <a:srgbClr val="FFFFFF"/>
                </a:solidFill>
                <a:latin typeface="Arial"/>
              </a:rPr>
              <a:t>3</a:t>
            </a:r>
          </a:p>
        </p:txBody>
      </p:sp>
      <p:sp>
        <p:nvSpPr>
          <p:cNvPr id="25" name="TextBox 24"/>
          <p:cNvSpPr txBox="1"/>
          <p:nvPr/>
        </p:nvSpPr>
        <p:spPr>
          <a:xfrm>
            <a:off x="5301690" y="3538728"/>
            <a:ext cx="1585569" cy="566928"/>
          </a:xfrm>
          <a:prstGeom prst="rect">
            <a:avLst/>
          </a:prstGeom>
          <a:noFill/>
        </p:spPr>
        <p:txBody>
          <a:bodyPr wrap="square" anchor="t" lIns="0" rIns="0" tIns="0" bIns="0">
            <a:spAutoFit/>
          </a:bodyPr>
          <a:lstStyle/>
          <a:p>
            <a:pPr algn="ctr">
              <a:spcAft>
                <a:spcPts val="400"/>
              </a:spcAft>
            </a:pPr>
            <a:r>
              <a:rPr sz="1350" b="1">
                <a:solidFill>
                  <a:srgbClr val="161B26"/>
                </a:solidFill>
                <a:latin typeface="Arial"/>
              </a:rPr>
              <a:t>The Work</a:t>
            </a:r>
          </a:p>
        </p:txBody>
      </p:sp>
      <p:sp>
        <p:nvSpPr>
          <p:cNvPr id="26" name="TextBox 25"/>
          <p:cNvSpPr txBox="1"/>
          <p:nvPr/>
        </p:nvSpPr>
        <p:spPr>
          <a:xfrm>
            <a:off x="5301690" y="4087368"/>
            <a:ext cx="1585569" cy="685800"/>
          </a:xfrm>
          <a:prstGeom prst="rect">
            <a:avLst/>
          </a:prstGeom>
          <a:noFill/>
        </p:spPr>
        <p:txBody>
          <a:bodyPr wrap="square" anchor="t" lIns="0" rIns="0" tIns="0" bIns="0">
            <a:spAutoFit/>
          </a:bodyPr>
          <a:lstStyle/>
          <a:p>
            <a:pPr algn="ctr">
              <a:spcAft>
                <a:spcPts val="400"/>
              </a:spcAft>
            </a:pPr>
            <a:r>
              <a:rPr sz="1100" b="0">
                <a:solidFill>
                  <a:srgbClr val="5B6372"/>
                </a:solidFill>
                <a:latin typeface="Arial"/>
              </a:rPr>
              <a:t>build to the
Definition of Done</a:t>
            </a:r>
          </a:p>
        </p:txBody>
      </p:sp>
      <p:sp>
        <p:nvSpPr>
          <p:cNvPr id="27" name="TextBox 26"/>
          <p:cNvSpPr txBox="1"/>
          <p:nvPr/>
        </p:nvSpPr>
        <p:spPr>
          <a:xfrm>
            <a:off x="7033563" y="3291840"/>
            <a:ext cx="310896" cy="548640"/>
          </a:xfrm>
          <a:prstGeom prst="rect">
            <a:avLst/>
          </a:prstGeom>
          <a:noFill/>
        </p:spPr>
        <p:txBody>
          <a:bodyPr wrap="square" anchor="ctr" lIns="0" rIns="0" tIns="0" bIns="0">
            <a:spAutoFit/>
          </a:bodyPr>
          <a:lstStyle/>
          <a:p>
            <a:pPr algn="ctr">
              <a:spcAft>
                <a:spcPts val="400"/>
              </a:spcAft>
            </a:pPr>
            <a:r>
              <a:rPr sz="1500" b="1">
                <a:solidFill>
                  <a:srgbClr val="7C3AED"/>
                </a:solidFill>
                <a:latin typeface="Arial"/>
              </a:rPr>
              <a:t>▶</a:t>
            </a:r>
          </a:p>
        </p:txBody>
      </p:sp>
      <p:sp>
        <p:nvSpPr>
          <p:cNvPr id="28" name="Rectangle 27"/>
          <p:cNvSpPr/>
          <p:nvPr/>
        </p:nvSpPr>
        <p:spPr>
          <a:xfrm>
            <a:off x="7344459" y="2240280"/>
            <a:ext cx="1878177"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44459" y="224028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08643"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8643" y="2624328"/>
            <a:ext cx="749808" cy="749808"/>
          </a:xfrm>
          <a:prstGeom prst="rect">
            <a:avLst/>
          </a:prstGeom>
          <a:noFill/>
        </p:spPr>
        <p:txBody>
          <a:bodyPr wrap="square" anchor="ctr" lIns="0" rIns="0" tIns="0" bIns="0">
            <a:spAutoFit/>
          </a:bodyPr>
          <a:lstStyle/>
          <a:p>
            <a:pPr algn="ctr">
              <a:spcAft>
                <a:spcPts val="400"/>
              </a:spcAft>
            </a:pPr>
            <a:r>
              <a:rPr sz="3000" b="1">
                <a:solidFill>
                  <a:srgbClr val="FFFFFF"/>
                </a:solidFill>
                <a:latin typeface="Arial"/>
              </a:rPr>
              <a:t>4</a:t>
            </a:r>
          </a:p>
        </p:txBody>
      </p:sp>
      <p:sp>
        <p:nvSpPr>
          <p:cNvPr id="32" name="TextBox 31"/>
          <p:cNvSpPr txBox="1"/>
          <p:nvPr/>
        </p:nvSpPr>
        <p:spPr>
          <a:xfrm>
            <a:off x="7490763" y="3538728"/>
            <a:ext cx="1585569" cy="566928"/>
          </a:xfrm>
          <a:prstGeom prst="rect">
            <a:avLst/>
          </a:prstGeom>
          <a:noFill/>
        </p:spPr>
        <p:txBody>
          <a:bodyPr wrap="square" anchor="t" lIns="0" rIns="0" tIns="0" bIns="0">
            <a:spAutoFit/>
          </a:bodyPr>
          <a:lstStyle/>
          <a:p>
            <a:pPr algn="ctr">
              <a:spcAft>
                <a:spcPts val="400"/>
              </a:spcAft>
            </a:pPr>
            <a:r>
              <a:rPr sz="1350" b="1">
                <a:solidFill>
                  <a:srgbClr val="161B26"/>
                </a:solidFill>
                <a:latin typeface="Arial"/>
              </a:rPr>
              <a:t>Sprint Review</a:t>
            </a:r>
          </a:p>
        </p:txBody>
      </p:sp>
      <p:sp>
        <p:nvSpPr>
          <p:cNvPr id="33" name="TextBox 32"/>
          <p:cNvSpPr txBox="1"/>
          <p:nvPr/>
        </p:nvSpPr>
        <p:spPr>
          <a:xfrm>
            <a:off x="7490763" y="4087368"/>
            <a:ext cx="1585569" cy="685800"/>
          </a:xfrm>
          <a:prstGeom prst="rect">
            <a:avLst/>
          </a:prstGeom>
          <a:noFill/>
        </p:spPr>
        <p:txBody>
          <a:bodyPr wrap="square" anchor="t" lIns="0" rIns="0" tIns="0" bIns="0">
            <a:spAutoFit/>
          </a:bodyPr>
          <a:lstStyle/>
          <a:p>
            <a:pPr algn="ctr">
              <a:spcAft>
                <a:spcPts val="400"/>
              </a:spcAft>
            </a:pPr>
            <a:r>
              <a:rPr sz="1100" b="0">
                <a:solidFill>
                  <a:srgbClr val="5B6372"/>
                </a:solidFill>
                <a:latin typeface="Arial"/>
              </a:rPr>
              <a:t>inspect the product
with stakeholders</a:t>
            </a:r>
          </a:p>
        </p:txBody>
      </p:sp>
      <p:sp>
        <p:nvSpPr>
          <p:cNvPr id="34" name="TextBox 33"/>
          <p:cNvSpPr txBox="1"/>
          <p:nvPr/>
        </p:nvSpPr>
        <p:spPr>
          <a:xfrm>
            <a:off x="9222636" y="3291840"/>
            <a:ext cx="310896" cy="548640"/>
          </a:xfrm>
          <a:prstGeom prst="rect">
            <a:avLst/>
          </a:prstGeom>
          <a:noFill/>
        </p:spPr>
        <p:txBody>
          <a:bodyPr wrap="square" anchor="ctr" lIns="0" rIns="0" tIns="0" bIns="0">
            <a:spAutoFit/>
          </a:bodyPr>
          <a:lstStyle/>
          <a:p>
            <a:pPr algn="ctr">
              <a:spcAft>
                <a:spcPts val="400"/>
              </a:spcAft>
            </a:pPr>
            <a:r>
              <a:rPr sz="1500" b="1">
                <a:solidFill>
                  <a:srgbClr val="7C3AED"/>
                </a:solidFill>
                <a:latin typeface="Arial"/>
              </a:rPr>
              <a:t>▶</a:t>
            </a:r>
          </a:p>
        </p:txBody>
      </p:sp>
      <p:sp>
        <p:nvSpPr>
          <p:cNvPr id="35" name="Rectangle 34"/>
          <p:cNvSpPr/>
          <p:nvPr/>
        </p:nvSpPr>
        <p:spPr>
          <a:xfrm>
            <a:off x="9533532" y="2240280"/>
            <a:ext cx="1878177"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3532" y="224028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097716" y="262432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7716" y="2624328"/>
            <a:ext cx="749808" cy="749808"/>
          </a:xfrm>
          <a:prstGeom prst="rect">
            <a:avLst/>
          </a:prstGeom>
          <a:noFill/>
        </p:spPr>
        <p:txBody>
          <a:bodyPr wrap="square" anchor="ctr" lIns="0" rIns="0" tIns="0" bIns="0">
            <a:spAutoFit/>
          </a:bodyPr>
          <a:lstStyle/>
          <a:p>
            <a:pPr algn="ctr">
              <a:spcAft>
                <a:spcPts val="400"/>
              </a:spcAft>
            </a:pPr>
            <a:r>
              <a:rPr sz="3000" b="1">
                <a:solidFill>
                  <a:srgbClr val="FFFFFF"/>
                </a:solidFill>
                <a:latin typeface="Arial"/>
              </a:rPr>
              <a:t>5</a:t>
            </a:r>
          </a:p>
        </p:txBody>
      </p:sp>
      <p:sp>
        <p:nvSpPr>
          <p:cNvPr id="39" name="TextBox 38"/>
          <p:cNvSpPr txBox="1"/>
          <p:nvPr/>
        </p:nvSpPr>
        <p:spPr>
          <a:xfrm>
            <a:off x="9679836" y="3538728"/>
            <a:ext cx="1585569" cy="566928"/>
          </a:xfrm>
          <a:prstGeom prst="rect">
            <a:avLst/>
          </a:prstGeom>
          <a:noFill/>
        </p:spPr>
        <p:txBody>
          <a:bodyPr wrap="square" anchor="t" lIns="0" rIns="0" tIns="0" bIns="0">
            <a:spAutoFit/>
          </a:bodyPr>
          <a:lstStyle/>
          <a:p>
            <a:pPr algn="ctr">
              <a:spcAft>
                <a:spcPts val="400"/>
              </a:spcAft>
            </a:pPr>
            <a:r>
              <a:rPr sz="1350" b="1">
                <a:solidFill>
                  <a:srgbClr val="161B26"/>
                </a:solidFill>
                <a:latin typeface="Arial"/>
              </a:rPr>
              <a:t>Retrospective</a:t>
            </a:r>
          </a:p>
        </p:txBody>
      </p:sp>
      <p:sp>
        <p:nvSpPr>
          <p:cNvPr id="40" name="TextBox 39"/>
          <p:cNvSpPr txBox="1"/>
          <p:nvPr/>
        </p:nvSpPr>
        <p:spPr>
          <a:xfrm>
            <a:off x="9679836" y="4087368"/>
            <a:ext cx="1585569" cy="685800"/>
          </a:xfrm>
          <a:prstGeom prst="rect">
            <a:avLst/>
          </a:prstGeom>
          <a:noFill/>
        </p:spPr>
        <p:txBody>
          <a:bodyPr wrap="square" anchor="t" lIns="0" rIns="0" tIns="0" bIns="0">
            <a:spAutoFit/>
          </a:bodyPr>
          <a:lstStyle/>
          <a:p>
            <a:pPr algn="ctr">
              <a:spcAft>
                <a:spcPts val="400"/>
              </a:spcAft>
            </a:pPr>
            <a:r>
              <a:rPr sz="1100" b="0">
                <a:solidFill>
                  <a:srgbClr val="5B6372"/>
                </a:solidFill>
                <a:latin typeface="Arial"/>
              </a:rPr>
              <a:t>inspect the
process</a:t>
            </a:r>
          </a:p>
        </p:txBody>
      </p:sp>
      <p:sp>
        <p:nvSpPr>
          <p:cNvPr id="41" name="Rectangle 40"/>
          <p:cNvSpPr/>
          <p:nvPr/>
        </p:nvSpPr>
        <p:spPr>
          <a:xfrm>
            <a:off x="777240" y="5138928"/>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138928"/>
            <a:ext cx="91440"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5138928"/>
            <a:ext cx="10241280" cy="96012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All five sit inside the Sprint — a fixed-length container of 1–4 weeks. The length does not change sprint to sprint.</a:t>
            </a:r>
          </a:p>
        </p:txBody>
      </p:sp>
      <p:sp>
        <p:nvSpPr>
          <p:cNvPr id="44" name="TextBox 43"/>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5" name="TextBox 44"/>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27A3E"/>
                </a:solidFill>
                <a:latin typeface="Arial"/>
              </a:rPr>
              <a:t>TOPIC 02 · THE QUALITY BAR</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Definition of Done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efinition-of-done.png"/>
          <p:cNvPicPr>
            <a:picLocks noChangeAspect="1"/>
          </p:cNvPicPr>
          <p:nvPr/>
        </p:nvPicPr>
        <p:blipFill>
          <a:blip r:embed="rId2"/>
          <a:stretch>
            <a:fillRect/>
          </a:stretch>
        </p:blipFill>
        <p:spPr>
          <a:xfrm>
            <a:off x="792327" y="1810512"/>
            <a:ext cx="10607040" cy="3816626"/>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The DoD is the team's shared quality bar. Without it, 'done' means something different to every person in the room.</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TOPIC 02 · K7 · LEAN</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Lean — Seven Principles from Toyota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842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Eliminate waste</a:t>
            </a:r>
          </a:p>
          <a:p>
            <a:pPr algn="l">
              <a:spcAft>
                <a:spcPts val="300"/>
              </a:spcAft>
            </a:pPr>
            <a:r>
              <a:rPr sz="1100" b="0">
                <a:solidFill>
                  <a:srgbClr val="5B6372"/>
                </a:solidFill>
                <a:latin typeface="Arial"/>
              </a:rPr>
              <a:t>To maximise value, minimise everything that is not value.</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8424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Amplify learning</a:t>
            </a:r>
          </a:p>
          <a:p>
            <a:pPr algn="l">
              <a:spcAft>
                <a:spcPts val="300"/>
              </a:spcAft>
            </a:pPr>
            <a:r>
              <a:rPr sz="1100" b="0">
                <a:solidFill>
                  <a:srgbClr val="5B6372"/>
                </a:solidFill>
                <a:latin typeface="Arial"/>
              </a:rPr>
              <a:t>Communicate early and often; get feedback as soon as possible.</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639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44952"/>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Decide as late as possible</a:t>
            </a:r>
          </a:p>
          <a:p>
            <a:pPr algn="l">
              <a:spcAft>
                <a:spcPts val="300"/>
              </a:spcAft>
            </a:pPr>
            <a:r>
              <a:rPr sz="1100" b="0">
                <a:solidFill>
                  <a:srgbClr val="5B6372"/>
                </a:solidFill>
                <a:latin typeface="Arial"/>
              </a:rPr>
              <a:t>Keep options open until the last responsible moment.</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639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44952"/>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Deliver as fast as possible</a:t>
            </a:r>
          </a:p>
          <a:p>
            <a:pPr algn="l">
              <a:spcAft>
                <a:spcPts val="300"/>
              </a:spcAft>
            </a:pPr>
            <a:r>
              <a:rPr sz="1100" b="0">
                <a:solidFill>
                  <a:srgbClr val="5B6372"/>
                </a:solidFill>
                <a:latin typeface="Arial"/>
              </a:rPr>
              <a:t>Speed and quality are allies, not opposites.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85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97096"/>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Empower the team</a:t>
            </a:r>
          </a:p>
          <a:p>
            <a:pPr algn="l">
              <a:spcAft>
                <a:spcPts val="300"/>
              </a:spcAft>
            </a:pPr>
            <a:r>
              <a:rPr sz="1100" b="0">
                <a:solidFill>
                  <a:srgbClr val="5B6372"/>
                </a:solidFill>
                <a:latin typeface="Arial"/>
              </a:rPr>
              <a:t>Respect the team's superior knowledge of the technical steps.</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853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97096"/>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Build quality in</a:t>
            </a:r>
          </a:p>
          <a:p>
            <a:pPr algn="l">
              <a:spcAft>
                <a:spcPts val="300"/>
              </a:spcAft>
            </a:pPr>
            <a:r>
              <a:rPr sz="1100" b="0">
                <a:solidFill>
                  <a:srgbClr val="5B6372"/>
                </a:solidFill>
                <a:latin typeface="Arial"/>
              </a:rPr>
              <a:t>Assure quality throughout, rather than inspecting it at the end.</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4068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49240"/>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Optimise the whole</a:t>
            </a:r>
          </a:p>
          <a:p>
            <a:pPr algn="l">
              <a:spcAft>
                <a:spcPts val="300"/>
              </a:spcAft>
            </a:pPr>
            <a:r>
              <a:rPr sz="1100" b="0">
                <a:solidFill>
                  <a:srgbClr val="5B6372"/>
                </a:solidFill>
                <a:latin typeface="Arial"/>
              </a:rPr>
              <a:t>The system is more than the sum of its parts — beware local optimisation.</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40680"/>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49240"/>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Kaizen</a:t>
            </a:r>
          </a:p>
          <a:p>
            <a:pPr algn="l">
              <a:spcAft>
                <a:spcPts val="300"/>
              </a:spcAft>
            </a:pPr>
            <a:r>
              <a:rPr sz="1100" b="0">
                <a:solidFill>
                  <a:srgbClr val="5B6372"/>
                </a:solidFill>
                <a:latin typeface="Arial"/>
              </a:rPr>
              <a:t>Small, frequent, team-owned improvement, forever.</a:t>
            </a:r>
          </a:p>
        </p:txBody>
      </p:sp>
      <p:sp>
        <p:nvSpPr>
          <p:cNvPr id="47" name="TextBox 4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8" name="TextBox 4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TOPIC 02 · WHAT LEAN ATTACKS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Eight Wastes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ean-wastes.png"/>
          <p:cNvPicPr>
            <a:picLocks noChangeAspect="1"/>
          </p:cNvPicPr>
          <p:nvPr/>
        </p:nvPicPr>
        <p:blipFill>
          <a:blip r:embed="rId2"/>
          <a:stretch>
            <a:fillRect/>
          </a:stretch>
        </p:blipFill>
        <p:spPr>
          <a:xfrm>
            <a:off x="869271" y="1810512"/>
            <a:ext cx="10453153" cy="3931920"/>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In knowledge work the dominant waste is almost always WAITING — which is why value stream mapping is so effective.</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02 · K7 · KANBAN</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Kanban — Visualise, Limit WIP, Manage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nban-littles-law.png"/>
          <p:cNvPicPr>
            <a:picLocks noChangeAspect="1"/>
          </p:cNvPicPr>
          <p:nvPr/>
        </p:nvPicPr>
        <p:blipFill>
          <a:blip r:embed="rId2"/>
          <a:stretch>
            <a:fillRect/>
          </a:stretch>
        </p:blipFill>
        <p:spPr>
          <a:xfrm>
            <a:off x="933484" y="1810512"/>
            <a:ext cx="10324726" cy="3931920"/>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Little's Law is the engine: limiting WIP is what actually makes delivery faster, not working harder.</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02 · HOW KANBAN WORKS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Kanban's Five Practices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922068"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025956"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Visualise the workflow</a:t>
            </a:r>
          </a:p>
        </p:txBody>
      </p:sp>
      <p:sp>
        <p:nvSpPr>
          <p:cNvPr id="12" name="TextBox 11"/>
          <p:cNvSpPr txBox="1"/>
          <p:nvPr/>
        </p:nvSpPr>
        <p:spPr>
          <a:xfrm>
            <a:off x="1014984" y="2505456"/>
            <a:ext cx="1464868"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Knowledge work is invisible until you put it on a board.</a:t>
            </a:r>
          </a:p>
        </p:txBody>
      </p:sp>
      <p:sp>
        <p:nvSpPr>
          <p:cNvPr id="13" name="Rectangle 12"/>
          <p:cNvSpPr/>
          <p:nvPr/>
        </p:nvSpPr>
        <p:spPr>
          <a:xfrm>
            <a:off x="2955340" y="1810512"/>
            <a:ext cx="1922068"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5340"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174796"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747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3668572" y="1956816"/>
            <a:ext cx="1025956"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Limit work in progress</a:t>
            </a:r>
          </a:p>
        </p:txBody>
      </p:sp>
      <p:sp>
        <p:nvSpPr>
          <p:cNvPr id="18" name="TextBox 17"/>
          <p:cNvSpPr txBox="1"/>
          <p:nvPr/>
        </p:nvSpPr>
        <p:spPr>
          <a:xfrm>
            <a:off x="3193084" y="2505456"/>
            <a:ext cx="1464868"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WIP limits surface bottlenecks instead of hiding them.</a:t>
            </a:r>
          </a:p>
        </p:txBody>
      </p:sp>
      <p:sp>
        <p:nvSpPr>
          <p:cNvPr id="19" name="Rectangle 18"/>
          <p:cNvSpPr/>
          <p:nvPr/>
        </p:nvSpPr>
        <p:spPr>
          <a:xfrm>
            <a:off x="5133440" y="1810512"/>
            <a:ext cx="1922068"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33440"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352896"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528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5846672" y="1956816"/>
            <a:ext cx="1025956"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Manage flow</a:t>
            </a:r>
          </a:p>
        </p:txBody>
      </p:sp>
      <p:sp>
        <p:nvSpPr>
          <p:cNvPr id="24" name="TextBox 23"/>
          <p:cNvSpPr txBox="1"/>
          <p:nvPr/>
        </p:nvSpPr>
        <p:spPr>
          <a:xfrm>
            <a:off x="5371184" y="2505456"/>
            <a:ext cx="1464868"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Track how work moves, and measure the effect of each change.</a:t>
            </a:r>
          </a:p>
        </p:txBody>
      </p:sp>
      <p:sp>
        <p:nvSpPr>
          <p:cNvPr id="25" name="Rectangle 24"/>
          <p:cNvSpPr/>
          <p:nvPr/>
        </p:nvSpPr>
        <p:spPr>
          <a:xfrm>
            <a:off x="7311540" y="1810512"/>
            <a:ext cx="1922068" cy="278892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1540" y="1810512"/>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30996"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309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8024772" y="1956816"/>
            <a:ext cx="1025956"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Make policies explicit</a:t>
            </a:r>
          </a:p>
        </p:txBody>
      </p:sp>
      <p:sp>
        <p:nvSpPr>
          <p:cNvPr id="30" name="TextBox 29"/>
          <p:cNvSpPr txBox="1"/>
          <p:nvPr/>
        </p:nvSpPr>
        <p:spPr>
          <a:xfrm>
            <a:off x="7549284" y="2505456"/>
            <a:ext cx="1464868"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Write down what 'ready' and 'done' mean so the team can debate them.</a:t>
            </a:r>
          </a:p>
        </p:txBody>
      </p:sp>
      <p:sp>
        <p:nvSpPr>
          <p:cNvPr id="31" name="Rectangle 30"/>
          <p:cNvSpPr/>
          <p:nvPr/>
        </p:nvSpPr>
        <p:spPr>
          <a:xfrm>
            <a:off x="9489640" y="1810512"/>
            <a:ext cx="1922068"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896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090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090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5</a:t>
            </a:r>
          </a:p>
        </p:txBody>
      </p:sp>
      <p:sp>
        <p:nvSpPr>
          <p:cNvPr id="35" name="TextBox 34"/>
          <p:cNvSpPr txBox="1"/>
          <p:nvPr/>
        </p:nvSpPr>
        <p:spPr>
          <a:xfrm>
            <a:off x="10202872" y="1956816"/>
            <a:ext cx="1025956"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Improve collaboratively</a:t>
            </a:r>
          </a:p>
        </p:txBody>
      </p:sp>
      <p:sp>
        <p:nvSpPr>
          <p:cNvPr id="36" name="TextBox 35"/>
          <p:cNvSpPr txBox="1"/>
          <p:nvPr/>
        </p:nvSpPr>
        <p:spPr>
          <a:xfrm>
            <a:off x="9727384" y="2505456"/>
            <a:ext cx="1464868"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Evolve the process experimentally, as a team.</a:t>
            </a:r>
          </a:p>
        </p:txBody>
      </p:sp>
      <p:sp>
        <p:nvSpPr>
          <p:cNvPr id="37" name="Rectangle 36"/>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864608"/>
            <a:ext cx="91440"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F6FEB"/>
                </a:solidFill>
                <a:latin typeface="Arial"/>
              </a:rPr>
              <a:t>THE COUNTER-INTUITIVE PART</a:t>
            </a:r>
          </a:p>
        </p:txBody>
      </p:sp>
      <p:sp>
        <p:nvSpPr>
          <p:cNvPr id="40" name="TextBox 39"/>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Starting less work finishes more work. You will prove this to yourself in Activity 5 when the burndown flattens, and again in Activity 8 with the control chart.</a:t>
            </a:r>
          </a:p>
        </p:txBody>
      </p:sp>
      <p:sp>
        <p:nvSpPr>
          <p:cNvPr id="41" name="TextBox 4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2" name="TextBox 4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02 · K7 · FRAMEWORK SELECTION</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Scrum vs Kanban vs Scrumban — Choosing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1810512"/>
            <a:ext cx="2545506"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Dimension</a:t>
            </a:r>
          </a:p>
        </p:txBody>
      </p:sp>
      <p:sp>
        <p:nvSpPr>
          <p:cNvPr id="9" name="TextBox 8"/>
          <p:cNvSpPr txBox="1"/>
          <p:nvPr/>
        </p:nvSpPr>
        <p:spPr>
          <a:xfrm>
            <a:off x="3688506" y="1810512"/>
            <a:ext cx="2403713"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Scrum</a:t>
            </a:r>
          </a:p>
        </p:txBody>
      </p:sp>
      <p:sp>
        <p:nvSpPr>
          <p:cNvPr id="10" name="TextBox 9"/>
          <p:cNvSpPr txBox="1"/>
          <p:nvPr/>
        </p:nvSpPr>
        <p:spPr>
          <a:xfrm>
            <a:off x="6311675" y="1810512"/>
            <a:ext cx="2403713"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Kanban</a:t>
            </a:r>
          </a:p>
        </p:txBody>
      </p:sp>
      <p:sp>
        <p:nvSpPr>
          <p:cNvPr id="11" name="TextBox 10"/>
          <p:cNvSpPr txBox="1"/>
          <p:nvPr/>
        </p:nvSpPr>
        <p:spPr>
          <a:xfrm>
            <a:off x="8934844" y="1810512"/>
            <a:ext cx="2403713"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Scrumban</a:t>
            </a:r>
          </a:p>
        </p:txBody>
      </p:sp>
      <p:sp>
        <p:nvSpPr>
          <p:cNvPr id="12" name="Rectangle 11"/>
          <p:cNvSpPr/>
          <p:nvPr/>
        </p:nvSpPr>
        <p:spPr>
          <a:xfrm>
            <a:off x="777240" y="2267712"/>
            <a:ext cx="10634472" cy="63459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267712"/>
            <a:ext cx="2545506" cy="634593"/>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Cadence</a:t>
            </a:r>
          </a:p>
        </p:txBody>
      </p:sp>
      <p:sp>
        <p:nvSpPr>
          <p:cNvPr id="14" name="TextBox 13"/>
          <p:cNvSpPr txBox="1"/>
          <p:nvPr/>
        </p:nvSpPr>
        <p:spPr>
          <a:xfrm>
            <a:off x="3688506" y="2267712"/>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Fixed sprints, 1–4 weeks</a:t>
            </a:r>
          </a:p>
        </p:txBody>
      </p:sp>
      <p:sp>
        <p:nvSpPr>
          <p:cNvPr id="15" name="TextBox 14"/>
          <p:cNvSpPr txBox="1"/>
          <p:nvPr/>
        </p:nvSpPr>
        <p:spPr>
          <a:xfrm>
            <a:off x="6311675" y="2267712"/>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Continuous flow</a:t>
            </a:r>
          </a:p>
        </p:txBody>
      </p:sp>
      <p:sp>
        <p:nvSpPr>
          <p:cNvPr id="16" name="TextBox 15"/>
          <p:cNvSpPr txBox="1"/>
          <p:nvPr/>
        </p:nvSpPr>
        <p:spPr>
          <a:xfrm>
            <a:off x="8934844" y="2267712"/>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Cadence plus WIP limits</a:t>
            </a:r>
          </a:p>
        </p:txBody>
      </p:sp>
      <p:sp>
        <p:nvSpPr>
          <p:cNvPr id="17" name="Rectangle 16"/>
          <p:cNvSpPr/>
          <p:nvPr/>
        </p:nvSpPr>
        <p:spPr>
          <a:xfrm>
            <a:off x="777240" y="2902305"/>
            <a:ext cx="10634472" cy="63459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 y="2902305"/>
            <a:ext cx="2545506" cy="634593"/>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Commitment</a:t>
            </a:r>
          </a:p>
        </p:txBody>
      </p:sp>
      <p:sp>
        <p:nvSpPr>
          <p:cNvPr id="19" name="TextBox 18"/>
          <p:cNvSpPr txBox="1"/>
          <p:nvPr/>
        </p:nvSpPr>
        <p:spPr>
          <a:xfrm>
            <a:off x="3688506" y="2902305"/>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A Sprint Goal per sprint</a:t>
            </a:r>
          </a:p>
        </p:txBody>
      </p:sp>
      <p:sp>
        <p:nvSpPr>
          <p:cNvPr id="20" name="TextBox 19"/>
          <p:cNvSpPr txBox="1"/>
          <p:nvPr/>
        </p:nvSpPr>
        <p:spPr>
          <a:xfrm>
            <a:off x="6311675" y="2902305"/>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Pull when capacity frees</a:t>
            </a:r>
          </a:p>
        </p:txBody>
      </p:sp>
      <p:sp>
        <p:nvSpPr>
          <p:cNvPr id="21" name="TextBox 20"/>
          <p:cNvSpPr txBox="1"/>
          <p:nvPr/>
        </p:nvSpPr>
        <p:spPr>
          <a:xfrm>
            <a:off x="8934844" y="2902305"/>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Goal, with flexible pull</a:t>
            </a:r>
          </a:p>
        </p:txBody>
      </p:sp>
      <p:sp>
        <p:nvSpPr>
          <p:cNvPr id="22" name="Rectangle 21"/>
          <p:cNvSpPr/>
          <p:nvPr/>
        </p:nvSpPr>
        <p:spPr>
          <a:xfrm>
            <a:off x="777240" y="3536898"/>
            <a:ext cx="10634472" cy="63459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 y="3536898"/>
            <a:ext cx="2545506" cy="634593"/>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Best for</a:t>
            </a:r>
          </a:p>
        </p:txBody>
      </p:sp>
      <p:sp>
        <p:nvSpPr>
          <p:cNvPr id="24" name="TextBox 23"/>
          <p:cNvSpPr txBox="1"/>
          <p:nvPr/>
        </p:nvSpPr>
        <p:spPr>
          <a:xfrm>
            <a:off x="3688506" y="3536898"/>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Teams of 5–9 with a product goal</a:t>
            </a:r>
          </a:p>
        </p:txBody>
      </p:sp>
      <p:sp>
        <p:nvSpPr>
          <p:cNvPr id="25" name="TextBox 24"/>
          <p:cNvSpPr txBox="1"/>
          <p:nvPr/>
        </p:nvSpPr>
        <p:spPr>
          <a:xfrm>
            <a:off x="6311675" y="3536898"/>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Support queues, high variability</a:t>
            </a:r>
          </a:p>
        </p:txBody>
      </p:sp>
      <p:sp>
        <p:nvSpPr>
          <p:cNvPr id="26" name="TextBox 25"/>
          <p:cNvSpPr txBox="1"/>
          <p:nvPr/>
        </p:nvSpPr>
        <p:spPr>
          <a:xfrm>
            <a:off x="8934844" y="3536898"/>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Teams outgrowing strict Scrum</a:t>
            </a:r>
          </a:p>
        </p:txBody>
      </p:sp>
      <p:sp>
        <p:nvSpPr>
          <p:cNvPr id="27" name="Rectangle 26"/>
          <p:cNvSpPr/>
          <p:nvPr/>
        </p:nvSpPr>
        <p:spPr>
          <a:xfrm>
            <a:off x="777240" y="4171491"/>
            <a:ext cx="10634472" cy="63459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 y="4171491"/>
            <a:ext cx="2545506" cy="634593"/>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Roles</a:t>
            </a:r>
          </a:p>
        </p:txBody>
      </p:sp>
      <p:sp>
        <p:nvSpPr>
          <p:cNvPr id="29" name="TextBox 28"/>
          <p:cNvSpPr txBox="1"/>
          <p:nvPr/>
        </p:nvSpPr>
        <p:spPr>
          <a:xfrm>
            <a:off x="3688506" y="4171491"/>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PO, SM, Developers</a:t>
            </a:r>
          </a:p>
        </p:txBody>
      </p:sp>
      <p:sp>
        <p:nvSpPr>
          <p:cNvPr id="30" name="TextBox 29"/>
          <p:cNvSpPr txBox="1"/>
          <p:nvPr/>
        </p:nvSpPr>
        <p:spPr>
          <a:xfrm>
            <a:off x="6311675" y="4171491"/>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No prescribed roles</a:t>
            </a:r>
          </a:p>
        </p:txBody>
      </p:sp>
      <p:sp>
        <p:nvSpPr>
          <p:cNvPr id="31" name="TextBox 30"/>
          <p:cNvSpPr txBox="1"/>
          <p:nvPr/>
        </p:nvSpPr>
        <p:spPr>
          <a:xfrm>
            <a:off x="8934844" y="4171491"/>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Usually keeps PO and SM</a:t>
            </a:r>
          </a:p>
        </p:txBody>
      </p:sp>
      <p:sp>
        <p:nvSpPr>
          <p:cNvPr id="32" name="Rectangle 31"/>
          <p:cNvSpPr/>
          <p:nvPr/>
        </p:nvSpPr>
        <p:spPr>
          <a:xfrm>
            <a:off x="777240" y="4806084"/>
            <a:ext cx="10634472" cy="63459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4806084"/>
            <a:ext cx="2545506" cy="634593"/>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Key metric</a:t>
            </a:r>
          </a:p>
        </p:txBody>
      </p:sp>
      <p:sp>
        <p:nvSpPr>
          <p:cNvPr id="34" name="TextBox 33"/>
          <p:cNvSpPr txBox="1"/>
          <p:nvPr/>
        </p:nvSpPr>
        <p:spPr>
          <a:xfrm>
            <a:off x="3688506" y="4806084"/>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Velocity, sprint burndown</a:t>
            </a:r>
          </a:p>
        </p:txBody>
      </p:sp>
      <p:sp>
        <p:nvSpPr>
          <p:cNvPr id="35" name="TextBox 34"/>
          <p:cNvSpPr txBox="1"/>
          <p:nvPr/>
        </p:nvSpPr>
        <p:spPr>
          <a:xfrm>
            <a:off x="6311675" y="4806084"/>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Cycle time, throughput, CFD</a:t>
            </a:r>
          </a:p>
        </p:txBody>
      </p:sp>
      <p:sp>
        <p:nvSpPr>
          <p:cNvPr id="36" name="TextBox 35"/>
          <p:cNvSpPr txBox="1"/>
          <p:nvPr/>
        </p:nvSpPr>
        <p:spPr>
          <a:xfrm>
            <a:off x="8934844" y="4806084"/>
            <a:ext cx="2403713" cy="634593"/>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Both sets</a:t>
            </a:r>
          </a:p>
        </p:txBody>
      </p:sp>
      <p:sp>
        <p:nvSpPr>
          <p:cNvPr id="37" name="Rectangle 36"/>
          <p:cNvSpPr/>
          <p:nvPr/>
        </p:nvSpPr>
        <p:spPr>
          <a:xfrm>
            <a:off x="777240" y="5605269"/>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605269"/>
            <a:ext cx="91440" cy="6217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605269"/>
            <a:ext cx="10177272" cy="621792"/>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Pick by the shape of the work, never by fashion. A support team forced into sprints will fight the framework every week.</a:t>
            </a:r>
          </a:p>
        </p:txBody>
      </p:sp>
      <p:sp>
        <p:nvSpPr>
          <p:cNvPr id="40" name="TextBox 3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1" name="TextBox 4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02 · K7 · XP</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Extreme Programming (XP)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842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Five values</a:t>
            </a:r>
          </a:p>
          <a:p>
            <a:pPr algn="l">
              <a:spcAft>
                <a:spcPts val="300"/>
              </a:spcAft>
            </a:pPr>
            <a:r>
              <a:rPr sz="1100" b="0">
                <a:solidFill>
                  <a:srgbClr val="5B6372"/>
                </a:solidFill>
                <a:latin typeface="Arial"/>
              </a:rPr>
              <a:t>Simplicity, communication, feedback, courage and respect.</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8424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Test-driven development</a:t>
            </a:r>
          </a:p>
          <a:p>
            <a:pPr algn="l">
              <a:spcAft>
                <a:spcPts val="300"/>
              </a:spcAft>
            </a:pPr>
            <a:r>
              <a:rPr sz="1100" b="0">
                <a:solidFill>
                  <a:srgbClr val="5B6372"/>
                </a:solidFill>
                <a:latin typeface="Arial"/>
              </a:rPr>
              <a:t>Write the test first; the code passes it once written correctly.</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639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44952"/>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Pair programming</a:t>
            </a:r>
          </a:p>
          <a:p>
            <a:pPr algn="l">
              <a:spcAft>
                <a:spcPts val="300"/>
              </a:spcAft>
            </a:pPr>
            <a:r>
              <a:rPr sz="1100" b="0">
                <a:solidFill>
                  <a:srgbClr val="5B6372"/>
                </a:solidFill>
                <a:latin typeface="Arial"/>
              </a:rPr>
              <a:t>Two people, real-time review, and knowledge spread through the team.</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639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44952"/>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Continuous integration</a:t>
            </a:r>
          </a:p>
          <a:p>
            <a:pPr algn="l">
              <a:spcAft>
                <a:spcPts val="300"/>
              </a:spcAft>
            </a:pPr>
            <a:r>
              <a:rPr sz="1100" b="0">
                <a:solidFill>
                  <a:srgbClr val="5B6372"/>
                </a:solidFill>
                <a:latin typeface="Arial"/>
              </a:rPr>
              <a:t>Bring code together constantly so incompatibility surfaces early.</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85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97096"/>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Refactoring</a:t>
            </a:r>
          </a:p>
          <a:p>
            <a:pPr algn="l">
              <a:spcAft>
                <a:spcPts val="300"/>
              </a:spcAft>
            </a:pPr>
            <a:r>
              <a:rPr sz="1100" b="0">
                <a:solidFill>
                  <a:srgbClr val="5B6372"/>
                </a:solidFill>
                <a:latin typeface="Arial"/>
              </a:rPr>
              <a:t>Remove redundancy and rejuvenate design continuously, not 'later'.</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853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97096"/>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Collective ownership</a:t>
            </a:r>
          </a:p>
          <a:p>
            <a:pPr algn="l">
              <a:spcAft>
                <a:spcPts val="300"/>
              </a:spcAft>
            </a:pPr>
            <a:r>
              <a:rPr sz="1100" b="0">
                <a:solidFill>
                  <a:srgbClr val="5B6372"/>
                </a:solidFill>
                <a:latin typeface="Arial"/>
              </a:rPr>
              <a:t>Anyone can improve any part; less risk when someone leaves.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4068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49240"/>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Small releases</a:t>
            </a:r>
          </a:p>
          <a:p>
            <a:pPr algn="l">
              <a:spcAft>
                <a:spcPts val="300"/>
              </a:spcAft>
            </a:pPr>
            <a:r>
              <a:rPr sz="1100" b="0">
                <a:solidFill>
                  <a:srgbClr val="5B6372"/>
                </a:solidFill>
                <a:latin typeface="Arial"/>
              </a:rPr>
              <a:t>Frequent small releases keep progress visible to the customer.</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40680"/>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49240"/>
            <a:ext cx="4027932" cy="749808"/>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Sustainable pace</a:t>
            </a:r>
          </a:p>
          <a:p>
            <a:pPr algn="l">
              <a:spcAft>
                <a:spcPts val="300"/>
              </a:spcAft>
            </a:pPr>
            <a:r>
              <a:rPr sz="1100" b="0">
                <a:solidFill>
                  <a:srgbClr val="5B6372"/>
                </a:solidFill>
                <a:latin typeface="Arial"/>
              </a:rPr>
              <a:t>Repeated long hours are unsustainable and counterproductive.</a:t>
            </a:r>
          </a:p>
        </p:txBody>
      </p:sp>
      <p:sp>
        <p:nvSpPr>
          <p:cNvPr id="47" name="TextBox 4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8" name="TextBox 4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5B6372"/>
                </a:solidFill>
                <a:latin typeface="Arial"/>
              </a:rPr>
              <a:t>TOPIC 02 · K7 · THE WIDER LANDSCAPE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Other Methods Worth Knowing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2466594"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DSDM / AgilePM</a:t>
            </a:r>
          </a:p>
        </p:txBody>
      </p:sp>
      <p:sp>
        <p:nvSpPr>
          <p:cNvPr id="12" name="TextBox 11"/>
          <p:cNvSpPr txBox="1"/>
          <p:nvPr/>
        </p:nvSpPr>
        <p:spPr>
          <a:xfrm>
            <a:off x="1014984"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The APM-endorsed framework: feasibility, foundations, evolutionary development, deployment. Strong on governance.</a:t>
            </a:r>
          </a:p>
        </p:txBody>
      </p:sp>
      <p:sp>
        <p:nvSpPr>
          <p:cNvPr id="13" name="Rectangle 12"/>
          <p:cNvSpPr/>
          <p:nvPr/>
        </p:nvSpPr>
        <p:spPr>
          <a:xfrm>
            <a:off x="3499866" y="1810512"/>
            <a:ext cx="2466594"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19322"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32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4213098" y="1956816"/>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Feature-Driven Development</a:t>
            </a:r>
          </a:p>
        </p:txBody>
      </p:sp>
      <p:sp>
        <p:nvSpPr>
          <p:cNvPr id="18" name="TextBox 17"/>
          <p:cNvSpPr txBox="1"/>
          <p:nvPr/>
        </p:nvSpPr>
        <p:spPr>
          <a:xfrm>
            <a:off x="3737610"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Model first, build a feature list, then plan and build by feature.</a:t>
            </a:r>
          </a:p>
        </p:txBody>
      </p:sp>
      <p:sp>
        <p:nvSpPr>
          <p:cNvPr id="19" name="Rectangle 18"/>
          <p:cNvSpPr/>
          <p:nvPr/>
        </p:nvSpPr>
        <p:spPr>
          <a:xfrm>
            <a:off x="6222492" y="1810512"/>
            <a:ext cx="2466594"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1948"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6935724" y="1956816"/>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Crystal</a:t>
            </a:r>
          </a:p>
        </p:txBody>
      </p:sp>
      <p:sp>
        <p:nvSpPr>
          <p:cNvPr id="24" name="TextBox 23"/>
          <p:cNvSpPr txBox="1"/>
          <p:nvPr/>
        </p:nvSpPr>
        <p:spPr>
          <a:xfrm>
            <a:off x="6460236"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A family of methods sized by team and criticality, colour-coded.</a:t>
            </a:r>
          </a:p>
        </p:txBody>
      </p:sp>
      <p:sp>
        <p:nvSpPr>
          <p:cNvPr id="25" name="Rectangle 24"/>
          <p:cNvSpPr/>
          <p:nvPr/>
        </p:nvSpPr>
        <p:spPr>
          <a:xfrm>
            <a:off x="8945118" y="1810512"/>
            <a:ext cx="2466594" cy="278892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1810512"/>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4574"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457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58350" y="1956816"/>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SAFe / LeSS</a:t>
            </a:r>
          </a:p>
        </p:txBody>
      </p:sp>
      <p:sp>
        <p:nvSpPr>
          <p:cNvPr id="30" name="TextBox 29"/>
          <p:cNvSpPr txBox="1"/>
          <p:nvPr/>
        </p:nvSpPr>
        <p:spPr>
          <a:xfrm>
            <a:off x="9182862"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Scaling frameworks for many teams on one product or portfolio.</a:t>
            </a:r>
          </a:p>
        </p:txBody>
      </p:sp>
      <p:sp>
        <p:nvSpPr>
          <p:cNvPr id="31" name="Rectangle 30"/>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64608"/>
            <a:ext cx="91440" cy="123444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5B6372"/>
                </a:solidFill>
                <a:latin typeface="Arial"/>
              </a:rPr>
              <a:t>FOR SINGAPORE PRACTITIONERS</a:t>
            </a:r>
          </a:p>
        </p:txBody>
      </p:sp>
      <p:sp>
        <p:nvSpPr>
          <p:cNvPr id="34" name="TextBox 33"/>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DSDM/AgilePM is the framework APM (UK) endorses and the one most often referenced in regulated and public-sector delivery — worth knowing by name in a tender conversation.</a:t>
            </a:r>
          </a:p>
        </p:txBody>
      </p:sp>
      <p:sp>
        <p:nvSpPr>
          <p:cNvPr id="35" name="TextBox 3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6" name="TextBox 3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TOPIC 02 · K4 · PREPARING FOR RESISTANCE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500" b="1">
                <a:solidFill>
                  <a:srgbClr val="161B26"/>
                </a:solidFill>
                <a:latin typeface="Arial"/>
              </a:rPr>
              <a:t>Finding Agile Support — Address Each Fear Directly (K4)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Senior management &amp; sponsors</a:t>
            </a:r>
          </a:p>
          <a:p>
            <a:pPr algn="l">
              <a:spcAft>
                <a:spcPts val="300"/>
              </a:spcAft>
            </a:pPr>
            <a:r>
              <a:rPr sz="1050" b="0">
                <a:solidFill>
                  <a:srgbClr val="5B6372"/>
                </a:solidFill>
                <a:latin typeface="Arial"/>
              </a:rPr>
              <a:t>Fear: the risk of visible failure. Answer: incremental funding lets you stop early and cheaply.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Middle managers</a:t>
            </a:r>
          </a:p>
          <a:p>
            <a:pPr algn="l">
              <a:spcAft>
                <a:spcPts val="300"/>
              </a:spcAft>
            </a:pPr>
            <a:r>
              <a:rPr sz="1050" b="0">
                <a:solidFill>
                  <a:srgbClr val="5B6372"/>
                </a:solidFill>
                <a:latin typeface="Arial"/>
              </a:rPr>
              <a:t>Fear: loss of control. Answer: they gain real progress data instead of percent-complete estimates.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The project team</a:t>
            </a:r>
          </a:p>
          <a:p>
            <a:pPr algn="l">
              <a:spcAft>
                <a:spcPts val="300"/>
              </a:spcAft>
            </a:pPr>
            <a:r>
              <a:rPr sz="1050" b="0">
                <a:solidFill>
                  <a:srgbClr val="5B6372"/>
                </a:solidFill>
                <a:latin typeface="Arial"/>
              </a:rPr>
              <a:t>Fear: exposure and surveillance. Answer: the board shows the WORK, not individual performance.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Users &amp; customers</a:t>
            </a:r>
          </a:p>
          <a:p>
            <a:pPr algn="l">
              <a:spcAft>
                <a:spcPts val="300"/>
              </a:spcAft>
            </a:pPr>
            <a:r>
              <a:rPr sz="1050" b="0">
                <a:solidFill>
                  <a:srgbClr val="5B6372"/>
                </a:solidFill>
                <a:latin typeface="Arial"/>
              </a:rPr>
              <a:t>Fear: losing promised features. Answer: they get the highest-value features sooner, and a say each sprint.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Finance &amp; PMO</a:t>
            </a:r>
          </a:p>
          <a:p>
            <a:pPr algn="l">
              <a:spcAft>
                <a:spcPts val="300"/>
              </a:spcAft>
            </a:pPr>
            <a:r>
              <a:rPr sz="1050" b="0">
                <a:solidFill>
                  <a:srgbClr val="5B6372"/>
                </a:solidFill>
                <a:latin typeface="Arial"/>
              </a:rPr>
              <a:t>Fear: no fixed scope to audit. Answer: fixed cadence, fixed cost, auditable increments.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Quality &amp; compliance</a:t>
            </a:r>
          </a:p>
          <a:p>
            <a:pPr algn="l">
              <a:spcAft>
                <a:spcPts val="300"/>
              </a:spcAft>
            </a:pPr>
            <a:r>
              <a:rPr sz="1050" b="0">
                <a:solidFill>
                  <a:srgbClr val="5B6372"/>
                </a:solidFill>
                <a:latin typeface="Arial"/>
              </a:rPr>
              <a:t>Fear: reduced rigour. Answer: the Definition of Done makes the quality bar explicit and testable.</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02 · K4 · METHODOLOGIES AND PRACTICES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Change Management — Making the Adoption Stick (K4)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2466594"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Start with a willing pilot</a:t>
            </a:r>
          </a:p>
        </p:txBody>
      </p:sp>
      <p:sp>
        <p:nvSpPr>
          <p:cNvPr id="12" name="TextBox 11"/>
          <p:cNvSpPr txBox="1"/>
          <p:nvPr/>
        </p:nvSpPr>
        <p:spPr>
          <a:xfrm>
            <a:off x="1014984"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Volunteers, on a real project that matters, with visible sponsorship.</a:t>
            </a:r>
          </a:p>
        </p:txBody>
      </p:sp>
      <p:sp>
        <p:nvSpPr>
          <p:cNvPr id="13" name="Rectangle 12"/>
          <p:cNvSpPr/>
          <p:nvPr/>
        </p:nvSpPr>
        <p:spPr>
          <a:xfrm>
            <a:off x="3499866" y="1810512"/>
            <a:ext cx="2466594"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19322"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32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4213098" y="1956816"/>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Make the wins visible</a:t>
            </a:r>
          </a:p>
        </p:txBody>
      </p:sp>
      <p:sp>
        <p:nvSpPr>
          <p:cNvPr id="18" name="TextBox 17"/>
          <p:cNvSpPr txBox="1"/>
          <p:nvPr/>
        </p:nvSpPr>
        <p:spPr>
          <a:xfrm>
            <a:off x="3737610"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Publish the increment and the metrics. Evidence beats evangelism.</a:t>
            </a:r>
          </a:p>
        </p:txBody>
      </p:sp>
      <p:sp>
        <p:nvSpPr>
          <p:cNvPr id="19" name="Rectangle 18"/>
          <p:cNvSpPr/>
          <p:nvPr/>
        </p:nvSpPr>
        <p:spPr>
          <a:xfrm>
            <a:off x="6222492" y="1810512"/>
            <a:ext cx="2466594"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1948"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6935724" y="1956816"/>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Evolutionary, not revolutionary</a:t>
            </a:r>
          </a:p>
        </p:txBody>
      </p:sp>
      <p:sp>
        <p:nvSpPr>
          <p:cNvPr id="24" name="TextBox 23"/>
          <p:cNvSpPr txBox="1"/>
          <p:nvPr/>
        </p:nvSpPr>
        <p:spPr>
          <a:xfrm>
            <a:off x="6460236"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APM's guidance: change the culture in steps the organisation can absorb.</a:t>
            </a:r>
          </a:p>
        </p:txBody>
      </p:sp>
      <p:sp>
        <p:nvSpPr>
          <p:cNvPr id="25" name="Rectangle 24"/>
          <p:cNvSpPr/>
          <p:nvPr/>
        </p:nvSpPr>
        <p:spPr>
          <a:xfrm>
            <a:off x="8945118" y="1810512"/>
            <a:ext cx="2466594" cy="278892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1810512"/>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4574"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457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58350" y="1956816"/>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Train, coach, then withdraw</a:t>
            </a:r>
          </a:p>
        </p:txBody>
      </p:sp>
      <p:sp>
        <p:nvSpPr>
          <p:cNvPr id="30" name="TextBox 29"/>
          <p:cNvSpPr txBox="1"/>
          <p:nvPr/>
        </p:nvSpPr>
        <p:spPr>
          <a:xfrm>
            <a:off x="9182862"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Coach the team through 2–3 sprints, then let it own the process.</a:t>
            </a:r>
          </a:p>
        </p:txBody>
      </p:sp>
      <p:sp>
        <p:nvSpPr>
          <p:cNvPr id="31" name="Rectangle 30"/>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64608"/>
            <a:ext cx="91440"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7C3AED"/>
                </a:solidFill>
                <a:latin typeface="Arial"/>
              </a:rPr>
              <a:t>THE HONEST WARNING</a:t>
            </a:r>
          </a:p>
        </p:txBody>
      </p:sp>
      <p:sp>
        <p:nvSpPr>
          <p:cNvPr id="34" name="TextBox 33"/>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Never sell Agile as a way to get more output for less money. It buys responsiveness, earlier value and lower risk of building the wrong thing — not free capacity.</a:t>
            </a:r>
          </a:p>
        </p:txBody>
      </p:sp>
      <p:sp>
        <p:nvSpPr>
          <p:cNvPr id="35" name="TextBox 3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6" name="TextBox 3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Hands-On Activities — Agile Essentials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189220"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4293108"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Activity 3 · Build the Product Backlog and Run Sprint 1 Planning</a:t>
            </a:r>
          </a:p>
        </p:txBody>
      </p:sp>
      <p:sp>
        <p:nvSpPr>
          <p:cNvPr id="12" name="TextBox 11"/>
          <p:cNvSpPr txBox="1"/>
          <p:nvPr/>
        </p:nvSpPr>
        <p:spPr>
          <a:xfrm>
            <a:off x="1014984" y="2505456"/>
            <a:ext cx="4732020"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Tool: Scrum Board
60 minutes  ·  LO2</a:t>
            </a:r>
          </a:p>
        </p:txBody>
      </p:sp>
      <p:sp>
        <p:nvSpPr>
          <p:cNvPr id="13" name="Rectangle 12"/>
          <p:cNvSpPr/>
          <p:nvPr/>
        </p:nvSpPr>
        <p:spPr>
          <a:xfrm>
            <a:off x="6222492" y="1810512"/>
            <a:ext cx="5189220"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22492"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41948"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6935724" y="1956816"/>
            <a:ext cx="4293108"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Activity 4 · Clarify Agile Role Accountability with a RACI Matrix</a:t>
            </a:r>
          </a:p>
        </p:txBody>
      </p:sp>
      <p:sp>
        <p:nvSpPr>
          <p:cNvPr id="18" name="TextBox 17"/>
          <p:cNvSpPr txBox="1"/>
          <p:nvPr/>
        </p:nvSpPr>
        <p:spPr>
          <a:xfrm>
            <a:off x="6460236" y="2505456"/>
            <a:ext cx="4732020"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Tool: RACI Matrix
45 minutes  ·  LO2</a:t>
            </a:r>
          </a:p>
        </p:txBody>
      </p:sp>
      <p:sp>
        <p:nvSpPr>
          <p:cNvPr id="19" name="Rectangle 18"/>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864608"/>
            <a:ext cx="91440"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0B981"/>
                </a:solidFill>
                <a:latin typeface="Arial"/>
              </a:rPr>
              <a:t>ALL ON ONE CASE</a:t>
            </a:r>
          </a:p>
        </p:txBody>
      </p:sp>
      <p:sp>
        <p:nvSpPr>
          <p:cNvPr id="22" name="TextBox 21"/>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Every activity in this topic advances the same HarbourFront CustomerConnect case, so the artefacts you build compound.</a:t>
            </a:r>
          </a:p>
        </p:txBody>
      </p:sp>
      <p:sp>
        <p:nvSpPr>
          <p:cNvPr id="23" name="TextBox 22"/>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4" name="TextBox 23"/>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ACTIVITY 3 · TOOL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Tool — Scrum 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ol-scrum.png"/>
          <p:cNvPicPr>
            <a:picLocks noChangeAspect="1"/>
          </p:cNvPicPr>
          <p:nvPr/>
        </p:nvPicPr>
        <p:blipFill>
          <a:blip r:embed="rId2"/>
          <a:stretch>
            <a:fillRect/>
          </a:stretch>
        </p:blipFill>
        <p:spPr>
          <a:xfrm>
            <a:off x="777240" y="1828800"/>
            <a:ext cx="6071616" cy="3794760"/>
          </a:xfrm>
          <a:prstGeom prst="rect">
            <a:avLst/>
          </a:prstGeom>
        </p:spPr>
      </p:pic>
      <p:sp>
        <p:nvSpPr>
          <p:cNvPr id="8" name="Rectangle 7"/>
          <p:cNvSpPr/>
          <p:nvPr/>
        </p:nvSpPr>
        <p:spPr>
          <a:xfrm>
            <a:off x="777240" y="5742432"/>
            <a:ext cx="6400800"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6126480" cy="384048"/>
          </a:xfrm>
          <a:prstGeom prst="rect">
            <a:avLst/>
          </a:prstGeom>
          <a:noFill/>
        </p:spPr>
        <p:txBody>
          <a:bodyPr wrap="square" anchor="ctr" lIns="0" rIns="0" tIns="0" bIns="0">
            <a:spAutoFit/>
          </a:bodyPr>
          <a:lstStyle/>
          <a:p>
            <a:pPr algn="l">
              <a:spcAft>
                <a:spcPts val="400"/>
              </a:spcAft>
            </a:pPr>
            <a:r>
              <a:rPr sz="1100" b="0">
                <a:solidFill>
                  <a:srgbClr val="5B6372"/>
                </a:solidFill>
                <a:latin typeface="Arial"/>
              </a:rPr>
              <a:t>Activity 3 · 60 minutes · full step-by-step: Learner Guide, Activity 3</a:t>
            </a:r>
          </a:p>
        </p:txBody>
      </p:sp>
      <p:sp>
        <p:nvSpPr>
          <p:cNvPr id="10" name="Rectangle 9"/>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Open it in your browser</a:t>
            </a:r>
          </a:p>
          <a:p>
            <a:pPr algn="l">
              <a:spcAft>
                <a:spcPts val="400"/>
              </a:spcAft>
            </a:pPr>
            <a:r>
              <a:rPr sz="1150" b="0">
                <a:solidFill>
                  <a:srgbClr val="161B26"/>
                </a:solidFill>
                <a:latin typeface="Arial"/>
              </a:rPr>
              <a:t>https://alfredang.github.io/scrum/</a:t>
            </a:r>
          </a:p>
        </p:txBody>
      </p:sp>
      <p:sp>
        <p:nvSpPr>
          <p:cNvPr id="13" name="Rectangle 12"/>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No install, no login</a:t>
            </a:r>
          </a:p>
          <a:p>
            <a:pPr algn="l">
              <a:spcAft>
                <a:spcPts val="400"/>
              </a:spcAft>
            </a:pPr>
            <a:r>
              <a:rPr sz="1150" b="0">
                <a:solidFill>
                  <a:srgbClr val="161B26"/>
                </a:solidFill>
                <a:latin typeface="Arial"/>
              </a:rPr>
              <a:t>It runs in the browser. Work on one shared screen as a team.</a:t>
            </a:r>
          </a:p>
        </p:txBody>
      </p:sp>
      <p:sp>
        <p:nvSpPr>
          <p:cNvPr id="16" name="Rectangle 15"/>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Build the artefact</a:t>
            </a:r>
          </a:p>
          <a:p>
            <a:pPr algn="l">
              <a:spcAft>
                <a:spcPts val="400"/>
              </a:spcAft>
            </a:pPr>
            <a:r>
              <a:rPr sz="1150" b="0">
                <a:solidFill>
                  <a:srgbClr val="161B26"/>
                </a:solidFill>
                <a:latin typeface="Arial"/>
              </a:rPr>
              <a:t>The deliverable named on the next slide.</a:t>
            </a:r>
          </a:p>
        </p:txBody>
      </p:sp>
      <p:sp>
        <p:nvSpPr>
          <p:cNvPr id="19" name="Rectangle 18"/>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Export it</a:t>
            </a:r>
          </a:p>
          <a:p>
            <a:pPr algn="l">
              <a:spcAft>
                <a:spcPts val="400"/>
              </a:spcAft>
            </a:pPr>
            <a:r>
              <a:rPr sz="1150" b="0">
                <a:solidFill>
                  <a:srgbClr val="161B26"/>
                </a:solidFill>
                <a:latin typeface="Arial"/>
              </a:rPr>
              <a:t>Screenshot or export into your Activity worksheet.</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Build the Product Backlog and Run Sprint 1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52560" y="457200"/>
            <a:ext cx="2359152"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457200"/>
            <a:ext cx="2359152" cy="420624"/>
          </a:xfrm>
          <a:prstGeom prst="rect">
            <a:avLst/>
          </a:prstGeom>
          <a:noFill/>
        </p:spPr>
        <p:txBody>
          <a:bodyPr wrap="square" anchor="ctr" lIns="0" rIns="0" tIns="0" bIns="0">
            <a:spAutoFit/>
          </a:bodyPr>
          <a:lstStyle/>
          <a:p>
            <a:pPr algn="ctr">
              <a:spcAft>
                <a:spcPts val="400"/>
              </a:spcAft>
            </a:pPr>
            <a:r>
              <a:rPr sz="1150" b="1">
                <a:solidFill>
                  <a:srgbClr val="FFFFFF"/>
                </a:solidFill>
                <a:latin typeface="Arial"/>
              </a:rPr>
              <a:t>ACTIVITY 3  ·  60 MIN</a:t>
            </a:r>
          </a:p>
        </p:txBody>
      </p:sp>
      <p:sp>
        <p:nvSpPr>
          <p:cNvPr id="9" name="Rectangle 8"/>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83664"/>
            <a:ext cx="10241280" cy="256032"/>
          </a:xfrm>
          <a:prstGeom prst="rect">
            <a:avLst/>
          </a:prstGeom>
          <a:noFill/>
        </p:spPr>
        <p:txBody>
          <a:bodyPr wrap="square" anchor="t" lIns="0" rIns="0" tIns="0" bIns="0">
            <a:spAutoFit/>
          </a:bodyPr>
          <a:lstStyle/>
          <a:p>
            <a:pPr algn="l">
              <a:spcAft>
                <a:spcPts val="400"/>
              </a:spcAft>
            </a:pPr>
            <a:r>
              <a:rPr sz="1100" b="1">
                <a:solidFill>
                  <a:srgbClr val="7C3AED"/>
                </a:solidFill>
                <a:latin typeface="Arial"/>
              </a:rPr>
              <a:t>THE SITUATION</a:t>
            </a:r>
          </a:p>
        </p:txBody>
      </p:sp>
      <p:sp>
        <p:nvSpPr>
          <p:cNvPr id="12" name="TextBox 11"/>
          <p:cNvSpPr txBox="1"/>
          <p:nvPr/>
        </p:nvSpPr>
        <p:spPr>
          <a:xfrm>
            <a:off x="1060704" y="2139696"/>
            <a:ext cx="10195560" cy="905256"/>
          </a:xfrm>
          <a:prstGeom prst="rect">
            <a:avLst/>
          </a:prstGeom>
          <a:noFill/>
        </p:spPr>
        <p:txBody>
          <a:bodyPr wrap="square" anchor="t" lIns="0" rIns="0" tIns="0" bIns="0">
            <a:spAutoFit/>
          </a:bodyPr>
          <a:lstStyle/>
          <a:p>
            <a:pPr algn="l">
              <a:spcAft>
                <a:spcPts val="400"/>
              </a:spcAft>
            </a:pPr>
            <a:r>
              <a:rPr sz="1200" b="0">
                <a:solidFill>
                  <a:srgbClr val="161B26"/>
                </a:solidFill>
                <a:latin typeface="Arial"/>
              </a:rPr>
              <a:t>HarbourFront's committee has approved a restart: 6 sprints of 2 weeks, one team of 7 people, and a hard demonstration to the top 5 customers in 12 weeks. Nothing from the old 96-page document is carried over unexamined. You are the team, with your trainer as Product Owner. Sprint 1 planning starts now.</a:t>
            </a:r>
          </a:p>
        </p:txBody>
      </p:sp>
      <p:sp>
        <p:nvSpPr>
          <p:cNvPr id="13" name="Rectangle 12"/>
          <p:cNvSpPr/>
          <p:nvPr/>
        </p:nvSpPr>
        <p:spPr>
          <a:xfrm>
            <a:off x="777240"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2461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401568"/>
            <a:ext cx="2980944" cy="292608"/>
          </a:xfrm>
          <a:prstGeom prst="rect">
            <a:avLst/>
          </a:prstGeom>
          <a:noFill/>
        </p:spPr>
        <p:txBody>
          <a:bodyPr wrap="square" anchor="t" lIns="0" rIns="0" tIns="0" bIns="0">
            <a:spAutoFit/>
          </a:bodyPr>
          <a:lstStyle/>
          <a:p>
            <a:pPr algn="l">
              <a:spcAft>
                <a:spcPts val="400"/>
              </a:spcAft>
            </a:pPr>
            <a:r>
              <a:rPr sz="1100" b="1">
                <a:solidFill>
                  <a:srgbClr val="1F6FEB"/>
                </a:solidFill>
                <a:latin typeface="Arial"/>
              </a:rPr>
              <a:t>WHAT YOU'LL DO</a:t>
            </a:r>
          </a:p>
        </p:txBody>
      </p:sp>
      <p:sp>
        <p:nvSpPr>
          <p:cNvPr id="16" name="TextBox 15"/>
          <p:cNvSpPr txBox="1"/>
          <p:nvPr/>
        </p:nvSpPr>
        <p:spPr>
          <a:xfrm>
            <a:off x="996696"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team writes user stories from the Activity 1 customer insight, applies INVEST, estimates with planning poker using the Fibonacci sequence, orders the backlog with MoSCoW, then loads Sprint 1 to a capacity of 20 story points and writes a single sprint goal. You use the Scrum tool to hold the backlog and the sprint board.</a:t>
            </a:r>
          </a:p>
        </p:txBody>
      </p:sp>
      <p:sp>
        <p:nvSpPr>
          <p:cNvPr id="17" name="Rectangle 16"/>
          <p:cNvSpPr/>
          <p:nvPr/>
        </p:nvSpPr>
        <p:spPr>
          <a:xfrm>
            <a:off x="4398264"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32461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3401568"/>
            <a:ext cx="2980944" cy="292608"/>
          </a:xfrm>
          <a:prstGeom prst="rect">
            <a:avLst/>
          </a:prstGeom>
          <a:noFill/>
        </p:spPr>
        <p:txBody>
          <a:bodyPr wrap="square" anchor="t" lIns="0" rIns="0" tIns="0" bIns="0">
            <a:spAutoFit/>
          </a:bodyPr>
          <a:lstStyle/>
          <a:p>
            <a:pPr algn="l">
              <a:spcAft>
                <a:spcPts val="400"/>
              </a:spcAft>
            </a:pPr>
            <a:r>
              <a:rPr sz="1100" b="1">
                <a:solidFill>
                  <a:srgbClr val="10B981"/>
                </a:solidFill>
                <a:latin typeface="Arial"/>
              </a:rPr>
              <a:t>YOU'LL PRODUCE</a:t>
            </a:r>
          </a:p>
        </p:txBody>
      </p:sp>
      <p:sp>
        <p:nvSpPr>
          <p:cNvPr id="20" name="TextBox 19"/>
          <p:cNvSpPr txBox="1"/>
          <p:nvPr/>
        </p:nvSpPr>
        <p:spPr>
          <a:xfrm>
            <a:off x="4617720"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A product backlog of at least 12 estimated user stories in priority order, a Sprint 1 backlog of about 20 points, one written sprint goal, and a Definition of Done agreed by the whole team.</a:t>
            </a:r>
          </a:p>
        </p:txBody>
      </p:sp>
      <p:sp>
        <p:nvSpPr>
          <p:cNvPr id="21" name="Rectangle 20"/>
          <p:cNvSpPr/>
          <p:nvPr/>
        </p:nvSpPr>
        <p:spPr>
          <a:xfrm>
            <a:off x="8019288"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3246120"/>
            <a:ext cx="339242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3401568"/>
            <a:ext cx="2980944" cy="292608"/>
          </a:xfrm>
          <a:prstGeom prst="rect">
            <a:avLst/>
          </a:prstGeom>
          <a:noFill/>
        </p:spPr>
        <p:txBody>
          <a:bodyPr wrap="square" anchor="t" lIns="0" rIns="0" tIns="0" bIns="0">
            <a:spAutoFit/>
          </a:bodyPr>
          <a:lstStyle/>
          <a:p>
            <a:pPr algn="l">
              <a:spcAft>
                <a:spcPts val="400"/>
              </a:spcAft>
            </a:pPr>
            <a:r>
              <a:rPr sz="1100" b="1">
                <a:solidFill>
                  <a:srgbClr val="F59E0B"/>
                </a:solidFill>
                <a:latin typeface="Arial"/>
              </a:rPr>
              <a:t>DONE WHEN</a:t>
            </a:r>
          </a:p>
        </p:txBody>
      </p:sp>
      <p:sp>
        <p:nvSpPr>
          <p:cNvPr id="24" name="TextBox 23"/>
          <p:cNvSpPr txBox="1"/>
          <p:nvPr/>
        </p:nvSpPr>
        <p:spPr>
          <a:xfrm>
            <a:off x="8238744"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Sprint 1 holds about 20 points, every story in it serves the one written sprint goal, no story exceeds 8 points, every story has Given/When/Then acceptance criteria, and the Definition of Done is visible to the whole team. A sprint whose stories serve four unrelated goals is a task list, not a sprint.</a:t>
            </a:r>
          </a:p>
        </p:txBody>
      </p:sp>
      <p:sp>
        <p:nvSpPr>
          <p:cNvPr id="25" name="Rectangle 24"/>
          <p:cNvSpPr/>
          <p:nvPr/>
        </p:nvSpPr>
        <p:spPr>
          <a:xfrm>
            <a:off x="777240" y="5504688"/>
            <a:ext cx="10634472" cy="7132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5577840"/>
            <a:ext cx="118872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577840"/>
            <a:ext cx="1188720" cy="566928"/>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ACT 3</a:t>
            </a:r>
          </a:p>
        </p:txBody>
      </p:sp>
      <p:sp>
        <p:nvSpPr>
          <p:cNvPr id="28" name="TextBox 27"/>
          <p:cNvSpPr txBox="1"/>
          <p:nvPr/>
        </p:nvSpPr>
        <p:spPr>
          <a:xfrm>
            <a:off x="2148840" y="5577840"/>
            <a:ext cx="9052560" cy="310896"/>
          </a:xfrm>
          <a:prstGeom prst="rect">
            <a:avLst/>
          </a:prstGeom>
          <a:noFill/>
        </p:spPr>
        <p:txBody>
          <a:bodyPr wrap="square" anchor="t" lIns="0" rIns="0" tIns="0" bIns="0">
            <a:spAutoFit/>
          </a:bodyPr>
          <a:lstStyle/>
          <a:p>
            <a:pPr algn="l">
              <a:spcAft>
                <a:spcPts val="400"/>
              </a:spcAft>
            </a:pPr>
            <a:r>
              <a:rPr sz="1200" b="1">
                <a:solidFill>
                  <a:srgbClr val="161B26"/>
                </a:solidFill>
                <a:latin typeface="Arial"/>
              </a:rPr>
              <a:t>Tool: Scrum Board — https://alfredang.github.io/scrum/</a:t>
            </a:r>
          </a:p>
        </p:txBody>
      </p:sp>
      <p:sp>
        <p:nvSpPr>
          <p:cNvPr id="29" name="TextBox 28"/>
          <p:cNvSpPr txBox="1"/>
          <p:nvPr/>
        </p:nvSpPr>
        <p:spPr>
          <a:xfrm>
            <a:off x="2148840" y="5870448"/>
            <a:ext cx="9098280" cy="329184"/>
          </a:xfrm>
          <a:prstGeom prst="rect">
            <a:avLst/>
          </a:prstGeom>
          <a:noFill/>
        </p:spPr>
        <p:txBody>
          <a:bodyPr wrap="square" anchor="t" lIns="0" rIns="0" tIns="0" bIns="0">
            <a:spAutoFit/>
          </a:bodyPr>
          <a:lstStyle/>
          <a:p>
            <a:pPr algn="l">
              <a:spcAft>
                <a:spcPts val="400"/>
              </a:spcAft>
            </a:pPr>
            <a:r>
              <a:rPr sz="1000" b="0">
                <a:solidFill>
                  <a:srgbClr val="5B6372"/>
                </a:solidFill>
                <a:latin typeface="Arial"/>
              </a:rPr>
              <a:t>LO 2  ·  Implement Agile practices by converting business needs into an ordered product backlog and a committed sprint backlog with a sprint goal (K6, K7, A3).  ·  Full step-by-step: Learner Guide, Activity 3</a:t>
            </a:r>
          </a:p>
        </p:txBody>
      </p:sp>
      <p:sp>
        <p:nvSpPr>
          <p:cNvPr id="30" name="TextBox 2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1" name="TextBox 3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02 · ACTIVITY 3 DEBRIEF</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Debrief — Activity 3: What It Proves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4825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48256"/>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91056" y="1901952"/>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The sprint goal is the single most skipped artefact and the one that makes the sprint reviewable.</a:t>
            </a:r>
          </a:p>
        </p:txBody>
      </p:sp>
      <p:sp>
        <p:nvSpPr>
          <p:cNvPr id="12" name="Rectangle 11"/>
          <p:cNvSpPr/>
          <p:nvPr/>
        </p:nvSpPr>
        <p:spPr>
          <a:xfrm>
            <a:off x="777240" y="2926080"/>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6080"/>
            <a:ext cx="9144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63824"/>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63824"/>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91056" y="3017520"/>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Splitting by workflow step keeps every slice demonstrable; splitting by technical layer produces a sprint with nothing to show.</a:t>
            </a:r>
          </a:p>
        </p:txBody>
      </p:sp>
      <p:sp>
        <p:nvSpPr>
          <p:cNvPr id="17" name="Rectangle 16"/>
          <p:cNvSpPr/>
          <p:nvPr/>
        </p:nvSpPr>
        <p:spPr>
          <a:xfrm>
            <a:off x="777240" y="4041648"/>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41648"/>
            <a:ext cx="9144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9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9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91056" y="4133088"/>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This is A3 in practice: implementing Agile practices to reduce waste — an ordered backlog stops the team building the 62% nobody used.</a:t>
            </a:r>
          </a:p>
        </p:txBody>
      </p:sp>
      <p:sp>
        <p:nvSpPr>
          <p:cNvPr id="22" name="Rectangle 21"/>
          <p:cNvSpPr/>
          <p:nvPr/>
        </p:nvSpPr>
        <p:spPr>
          <a:xfrm>
            <a:off x="777240" y="5074920"/>
            <a:ext cx="10634472" cy="1078992"/>
          </a:xfrm>
          <a:prstGeom prst="rect">
            <a:avLst/>
          </a:prstGeom>
          <a:solidFill>
            <a:srgbClr val="FFFFFF"/>
          </a:solidFill>
          <a:ln w="12700">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157216"/>
            <a:ext cx="10241280" cy="274320"/>
          </a:xfrm>
          <a:prstGeom prst="rect">
            <a:avLst/>
          </a:prstGeom>
          <a:noFill/>
        </p:spPr>
        <p:txBody>
          <a:bodyPr wrap="square" anchor="t" lIns="0" rIns="0" tIns="0" bIns="0">
            <a:spAutoFit/>
          </a:bodyPr>
          <a:lstStyle/>
          <a:p>
            <a:pPr algn="l">
              <a:spcAft>
                <a:spcPts val="400"/>
              </a:spcAft>
            </a:pPr>
            <a:r>
              <a:rPr sz="1100" b="1">
                <a:solidFill>
                  <a:srgbClr val="127A3E"/>
                </a:solidFill>
                <a:latin typeface="Arial"/>
              </a:rPr>
              <a:t>SUCCESS CRITERION</a:t>
            </a:r>
          </a:p>
        </p:txBody>
      </p:sp>
      <p:sp>
        <p:nvSpPr>
          <p:cNvPr id="24" name="TextBox 23"/>
          <p:cNvSpPr txBox="1"/>
          <p:nvPr/>
        </p:nvSpPr>
        <p:spPr>
          <a:xfrm>
            <a:off x="1051560" y="5440680"/>
            <a:ext cx="10241280" cy="658368"/>
          </a:xfrm>
          <a:prstGeom prst="rect">
            <a:avLst/>
          </a:prstGeom>
          <a:noFill/>
        </p:spPr>
        <p:txBody>
          <a:bodyPr wrap="square" anchor="t" lIns="0" rIns="0" tIns="0" bIns="0">
            <a:spAutoFit/>
          </a:bodyPr>
          <a:lstStyle/>
          <a:p>
            <a:pPr algn="l">
              <a:spcAft>
                <a:spcPts val="400"/>
              </a:spcAft>
            </a:pPr>
            <a:r>
              <a:rPr sz="1150" b="0">
                <a:solidFill>
                  <a:srgbClr val="161B26"/>
                </a:solidFill>
                <a:latin typeface="Arial"/>
              </a:rPr>
              <a:t>Sprint 1 holds about 20 points, every story in it serves the one written sprint goal, no story exceeds 8 points, every story has Given/When/Then acceptance criteria, and the Definition of Done is visible to the whole team. A sprint whose stories serve four unrelated goals is a task list, not a sprint.</a:t>
            </a:r>
          </a:p>
        </p:txBody>
      </p:sp>
      <p:sp>
        <p:nvSpPr>
          <p:cNvPr id="25" name="TextBox 2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6" name="TextBox 2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ACTIVITY 4 · TOOL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Tool — RACI Matrix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ol-raci.png"/>
          <p:cNvPicPr>
            <a:picLocks noChangeAspect="1"/>
          </p:cNvPicPr>
          <p:nvPr/>
        </p:nvPicPr>
        <p:blipFill>
          <a:blip r:embed="rId2"/>
          <a:stretch>
            <a:fillRect/>
          </a:stretch>
        </p:blipFill>
        <p:spPr>
          <a:xfrm>
            <a:off x="777240" y="1828800"/>
            <a:ext cx="6071616" cy="3794760"/>
          </a:xfrm>
          <a:prstGeom prst="rect">
            <a:avLst/>
          </a:prstGeom>
        </p:spPr>
      </p:pic>
      <p:sp>
        <p:nvSpPr>
          <p:cNvPr id="8" name="Rectangle 7"/>
          <p:cNvSpPr/>
          <p:nvPr/>
        </p:nvSpPr>
        <p:spPr>
          <a:xfrm>
            <a:off x="777240" y="5742432"/>
            <a:ext cx="6400800"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6126480" cy="384048"/>
          </a:xfrm>
          <a:prstGeom prst="rect">
            <a:avLst/>
          </a:prstGeom>
          <a:noFill/>
        </p:spPr>
        <p:txBody>
          <a:bodyPr wrap="square" anchor="ctr" lIns="0" rIns="0" tIns="0" bIns="0">
            <a:spAutoFit/>
          </a:bodyPr>
          <a:lstStyle/>
          <a:p>
            <a:pPr algn="l">
              <a:spcAft>
                <a:spcPts val="400"/>
              </a:spcAft>
            </a:pPr>
            <a:r>
              <a:rPr sz="1100" b="0">
                <a:solidFill>
                  <a:srgbClr val="5B6372"/>
                </a:solidFill>
                <a:latin typeface="Arial"/>
              </a:rPr>
              <a:t>Activity 4 · 45 minutes · full step-by-step: Learner Guide, Activity 4</a:t>
            </a:r>
          </a:p>
        </p:txBody>
      </p:sp>
      <p:sp>
        <p:nvSpPr>
          <p:cNvPr id="10" name="Rectangle 9"/>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Open it in your browser</a:t>
            </a:r>
          </a:p>
          <a:p>
            <a:pPr algn="l">
              <a:spcAft>
                <a:spcPts val="400"/>
              </a:spcAft>
            </a:pPr>
            <a:r>
              <a:rPr sz="1150" b="0">
                <a:solidFill>
                  <a:srgbClr val="161B26"/>
                </a:solidFill>
                <a:latin typeface="Arial"/>
              </a:rPr>
              <a:t>https://alfredang.github.io/raci/</a:t>
            </a:r>
          </a:p>
        </p:txBody>
      </p:sp>
      <p:sp>
        <p:nvSpPr>
          <p:cNvPr id="13" name="Rectangle 12"/>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No install, no login</a:t>
            </a:r>
          </a:p>
          <a:p>
            <a:pPr algn="l">
              <a:spcAft>
                <a:spcPts val="400"/>
              </a:spcAft>
            </a:pPr>
            <a:r>
              <a:rPr sz="1150" b="0">
                <a:solidFill>
                  <a:srgbClr val="161B26"/>
                </a:solidFill>
                <a:latin typeface="Arial"/>
              </a:rPr>
              <a:t>It runs in the browser. Work on one shared screen as a team.</a:t>
            </a:r>
          </a:p>
        </p:txBody>
      </p:sp>
      <p:sp>
        <p:nvSpPr>
          <p:cNvPr id="16" name="Rectangle 15"/>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Build the artefact</a:t>
            </a:r>
          </a:p>
          <a:p>
            <a:pPr algn="l">
              <a:spcAft>
                <a:spcPts val="400"/>
              </a:spcAft>
            </a:pPr>
            <a:r>
              <a:rPr sz="1150" b="0">
                <a:solidFill>
                  <a:srgbClr val="161B26"/>
                </a:solidFill>
                <a:latin typeface="Arial"/>
              </a:rPr>
              <a:t>The deliverable named on the next slide.</a:t>
            </a:r>
          </a:p>
        </p:txBody>
      </p:sp>
      <p:sp>
        <p:nvSpPr>
          <p:cNvPr id="19" name="Rectangle 18"/>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Export it</a:t>
            </a:r>
          </a:p>
          <a:p>
            <a:pPr algn="l">
              <a:spcAft>
                <a:spcPts val="400"/>
              </a:spcAft>
            </a:pPr>
            <a:r>
              <a:rPr sz="1150" b="0">
                <a:solidFill>
                  <a:srgbClr val="161B26"/>
                </a:solidFill>
                <a:latin typeface="Arial"/>
              </a:rPr>
              <a:t>Screenshot or export into your Activity worksheet.</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Clarify Agile Role Accountability with a RACI Matrix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52560" y="457200"/>
            <a:ext cx="2359152"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457200"/>
            <a:ext cx="2359152" cy="420624"/>
          </a:xfrm>
          <a:prstGeom prst="rect">
            <a:avLst/>
          </a:prstGeom>
          <a:noFill/>
        </p:spPr>
        <p:txBody>
          <a:bodyPr wrap="square" anchor="ctr" lIns="0" rIns="0" tIns="0" bIns="0">
            <a:spAutoFit/>
          </a:bodyPr>
          <a:lstStyle/>
          <a:p>
            <a:pPr algn="ctr">
              <a:spcAft>
                <a:spcPts val="400"/>
              </a:spcAft>
            </a:pPr>
            <a:r>
              <a:rPr sz="1150" b="1">
                <a:solidFill>
                  <a:srgbClr val="FFFFFF"/>
                </a:solidFill>
                <a:latin typeface="Arial"/>
              </a:rPr>
              <a:t>ACTIVITY 4  ·  45 MIN</a:t>
            </a:r>
          </a:p>
        </p:txBody>
      </p:sp>
      <p:sp>
        <p:nvSpPr>
          <p:cNvPr id="9" name="Rectangle 8"/>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83664"/>
            <a:ext cx="10241280" cy="256032"/>
          </a:xfrm>
          <a:prstGeom prst="rect">
            <a:avLst/>
          </a:prstGeom>
          <a:noFill/>
        </p:spPr>
        <p:txBody>
          <a:bodyPr wrap="square" anchor="t" lIns="0" rIns="0" tIns="0" bIns="0">
            <a:spAutoFit/>
          </a:bodyPr>
          <a:lstStyle/>
          <a:p>
            <a:pPr algn="l">
              <a:spcAft>
                <a:spcPts val="400"/>
              </a:spcAft>
            </a:pPr>
            <a:r>
              <a:rPr sz="1100" b="1">
                <a:solidFill>
                  <a:srgbClr val="7C3AED"/>
                </a:solidFill>
                <a:latin typeface="Arial"/>
              </a:rPr>
              <a:t>THE SITUATION</a:t>
            </a:r>
          </a:p>
        </p:txBody>
      </p:sp>
      <p:sp>
        <p:nvSpPr>
          <p:cNvPr id="12" name="TextBox 11"/>
          <p:cNvSpPr txBox="1"/>
          <p:nvPr/>
        </p:nvSpPr>
        <p:spPr>
          <a:xfrm>
            <a:off x="1060704" y="2139696"/>
            <a:ext cx="10195560" cy="905256"/>
          </a:xfrm>
          <a:prstGeom prst="rect">
            <a:avLst/>
          </a:prstGeom>
          <a:noFill/>
        </p:spPr>
        <p:txBody>
          <a:bodyPr wrap="square" anchor="t" lIns="0" rIns="0" tIns="0" bIns="0">
            <a:spAutoFit/>
          </a:bodyPr>
          <a:lstStyle/>
          <a:p>
            <a:pPr algn="l">
              <a:spcAft>
                <a:spcPts val="400"/>
              </a:spcAft>
            </a:pPr>
            <a:r>
              <a:rPr sz="1200" b="0">
                <a:solidFill>
                  <a:srgbClr val="161B26"/>
                </a:solidFill>
                <a:latin typeface="Arial"/>
              </a:rPr>
              <a:t>Two weeks into the restart, CustomerConnect has stalled in a familiar way. The old programme director is still approving every story change. The Scrum Master has been asked to produce a weekly percent-complete report. Two developers have escalated that they receive conflicting priorities from the Product Owner and from the operations manager. Nobody is behaving badly — the accountabilities were never made explicit.</a:t>
            </a:r>
          </a:p>
        </p:txBody>
      </p:sp>
      <p:sp>
        <p:nvSpPr>
          <p:cNvPr id="13" name="Rectangle 12"/>
          <p:cNvSpPr/>
          <p:nvPr/>
        </p:nvSpPr>
        <p:spPr>
          <a:xfrm>
            <a:off x="777240"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2461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401568"/>
            <a:ext cx="2980944" cy="292608"/>
          </a:xfrm>
          <a:prstGeom prst="rect">
            <a:avLst/>
          </a:prstGeom>
          <a:noFill/>
        </p:spPr>
        <p:txBody>
          <a:bodyPr wrap="square" anchor="t" lIns="0" rIns="0" tIns="0" bIns="0">
            <a:spAutoFit/>
          </a:bodyPr>
          <a:lstStyle/>
          <a:p>
            <a:pPr algn="l">
              <a:spcAft>
                <a:spcPts val="400"/>
              </a:spcAft>
            </a:pPr>
            <a:r>
              <a:rPr sz="1100" b="1">
                <a:solidFill>
                  <a:srgbClr val="1F6FEB"/>
                </a:solidFill>
                <a:latin typeface="Arial"/>
              </a:rPr>
              <a:t>WHAT YOU'LL DO</a:t>
            </a:r>
          </a:p>
        </p:txBody>
      </p:sp>
      <p:sp>
        <p:nvSpPr>
          <p:cNvPr id="16" name="TextBox 15"/>
          <p:cNvSpPr txBox="1"/>
          <p:nvPr/>
        </p:nvSpPr>
        <p:spPr>
          <a:xfrm>
            <a:off x="996696"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team uses the RACI tool to map 12 real project decisions and activities against the five roles in play. You then find the anti-patterns — activities with two Accountables, activities with none, and roles consulted on everything — and produce the corrected matrix that resolves the conflicting-priorities escalation.</a:t>
            </a:r>
          </a:p>
        </p:txBody>
      </p:sp>
      <p:sp>
        <p:nvSpPr>
          <p:cNvPr id="17" name="Rectangle 16"/>
          <p:cNvSpPr/>
          <p:nvPr/>
        </p:nvSpPr>
        <p:spPr>
          <a:xfrm>
            <a:off x="4398264"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32461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3401568"/>
            <a:ext cx="2980944" cy="292608"/>
          </a:xfrm>
          <a:prstGeom prst="rect">
            <a:avLst/>
          </a:prstGeom>
          <a:noFill/>
        </p:spPr>
        <p:txBody>
          <a:bodyPr wrap="square" anchor="t" lIns="0" rIns="0" tIns="0" bIns="0">
            <a:spAutoFit/>
          </a:bodyPr>
          <a:lstStyle/>
          <a:p>
            <a:pPr algn="l">
              <a:spcAft>
                <a:spcPts val="400"/>
              </a:spcAft>
            </a:pPr>
            <a:r>
              <a:rPr sz="1100" b="1">
                <a:solidFill>
                  <a:srgbClr val="10B981"/>
                </a:solidFill>
                <a:latin typeface="Arial"/>
              </a:rPr>
              <a:t>YOU'LL PRODUCE</a:t>
            </a:r>
          </a:p>
        </p:txBody>
      </p:sp>
      <p:sp>
        <p:nvSpPr>
          <p:cNvPr id="20" name="TextBox 19"/>
          <p:cNvSpPr txBox="1"/>
          <p:nvPr/>
        </p:nvSpPr>
        <p:spPr>
          <a:xfrm>
            <a:off x="4617720"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A completed RACI matrix covering 12 activities across 5 roles, a list of the anti-patterns found, and the corrected matrix with the specific change that resolves the developers' escalation.</a:t>
            </a:r>
          </a:p>
        </p:txBody>
      </p:sp>
      <p:sp>
        <p:nvSpPr>
          <p:cNvPr id="21" name="Rectangle 20"/>
          <p:cNvSpPr/>
          <p:nvPr/>
        </p:nvSpPr>
        <p:spPr>
          <a:xfrm>
            <a:off x="8019288"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3246120"/>
            <a:ext cx="339242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3401568"/>
            <a:ext cx="2980944" cy="292608"/>
          </a:xfrm>
          <a:prstGeom prst="rect">
            <a:avLst/>
          </a:prstGeom>
          <a:noFill/>
        </p:spPr>
        <p:txBody>
          <a:bodyPr wrap="square" anchor="t" lIns="0" rIns="0" tIns="0" bIns="0">
            <a:spAutoFit/>
          </a:bodyPr>
          <a:lstStyle/>
          <a:p>
            <a:pPr algn="l">
              <a:spcAft>
                <a:spcPts val="400"/>
              </a:spcAft>
            </a:pPr>
            <a:r>
              <a:rPr sz="1100" b="1">
                <a:solidFill>
                  <a:srgbClr val="F59E0B"/>
                </a:solidFill>
                <a:latin typeface="Arial"/>
              </a:rPr>
              <a:t>DONE WHEN</a:t>
            </a:r>
          </a:p>
        </p:txBody>
      </p:sp>
      <p:sp>
        <p:nvSpPr>
          <p:cNvPr id="24" name="TextBox 23"/>
          <p:cNvSpPr txBox="1"/>
          <p:nvPr/>
        </p:nvSpPr>
        <p:spPr>
          <a:xfrm>
            <a:off x="8238744"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Every one of the 12 rows has exactly one A. No role is C on more than about half the rows. The developers' conflicting-priorities escalation is traceable to a specific duplicate A in your first draft, and your corrected matrix removes it.</a:t>
            </a:r>
          </a:p>
        </p:txBody>
      </p:sp>
      <p:sp>
        <p:nvSpPr>
          <p:cNvPr id="25" name="Rectangle 24"/>
          <p:cNvSpPr/>
          <p:nvPr/>
        </p:nvSpPr>
        <p:spPr>
          <a:xfrm>
            <a:off x="777240" y="5504688"/>
            <a:ext cx="10634472" cy="7132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5577840"/>
            <a:ext cx="118872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577840"/>
            <a:ext cx="1188720" cy="566928"/>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ACT 4</a:t>
            </a:r>
          </a:p>
        </p:txBody>
      </p:sp>
      <p:sp>
        <p:nvSpPr>
          <p:cNvPr id="28" name="TextBox 27"/>
          <p:cNvSpPr txBox="1"/>
          <p:nvPr/>
        </p:nvSpPr>
        <p:spPr>
          <a:xfrm>
            <a:off x="2148840" y="5577840"/>
            <a:ext cx="9052560" cy="310896"/>
          </a:xfrm>
          <a:prstGeom prst="rect">
            <a:avLst/>
          </a:prstGeom>
          <a:noFill/>
        </p:spPr>
        <p:txBody>
          <a:bodyPr wrap="square" anchor="t" lIns="0" rIns="0" tIns="0" bIns="0">
            <a:spAutoFit/>
          </a:bodyPr>
          <a:lstStyle/>
          <a:p>
            <a:pPr algn="l">
              <a:spcAft>
                <a:spcPts val="400"/>
              </a:spcAft>
            </a:pPr>
            <a:r>
              <a:rPr sz="1200" b="1">
                <a:solidFill>
                  <a:srgbClr val="161B26"/>
                </a:solidFill>
                <a:latin typeface="Arial"/>
              </a:rPr>
              <a:t>Tool: RACI Matrix — https://alfredang.github.io/raci/</a:t>
            </a:r>
          </a:p>
        </p:txBody>
      </p:sp>
      <p:sp>
        <p:nvSpPr>
          <p:cNvPr id="29" name="TextBox 28"/>
          <p:cNvSpPr txBox="1"/>
          <p:nvPr/>
        </p:nvSpPr>
        <p:spPr>
          <a:xfrm>
            <a:off x="2148840" y="5870448"/>
            <a:ext cx="9098280" cy="329184"/>
          </a:xfrm>
          <a:prstGeom prst="rect">
            <a:avLst/>
          </a:prstGeom>
          <a:noFill/>
        </p:spPr>
        <p:txBody>
          <a:bodyPr wrap="square" anchor="t" lIns="0" rIns="0" tIns="0" bIns="0">
            <a:spAutoFit/>
          </a:bodyPr>
          <a:lstStyle/>
          <a:p>
            <a:pPr algn="l">
              <a:spcAft>
                <a:spcPts val="400"/>
              </a:spcAft>
            </a:pPr>
            <a:r>
              <a:rPr sz="1000" b="0">
                <a:solidFill>
                  <a:srgbClr val="5B6372"/>
                </a:solidFill>
                <a:latin typeface="Arial"/>
              </a:rPr>
              <a:t>LO 2  ·  Share information across teams and organise work in alignment with priorities by making Agile role accountability explicit (K5, A1, A2).  ·  Full step-by-step: Learner Guide, Activity 4</a:t>
            </a:r>
          </a:p>
        </p:txBody>
      </p:sp>
      <p:sp>
        <p:nvSpPr>
          <p:cNvPr id="30" name="TextBox 2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1" name="TextBox 3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02 · ACTIVITY 4 DEBRIEF</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Debrief — Activity 4: What It Proves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4825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48256"/>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91056" y="1901952"/>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Most Agile 'transformation failures' are accountability failures wearing an Agile label.</a:t>
            </a:r>
          </a:p>
        </p:txBody>
      </p:sp>
      <p:sp>
        <p:nvSpPr>
          <p:cNvPr id="12" name="Rectangle 11"/>
          <p:cNvSpPr/>
          <p:nvPr/>
        </p:nvSpPr>
        <p:spPr>
          <a:xfrm>
            <a:off x="777240" y="2926080"/>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6080"/>
            <a:ext cx="9144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63824"/>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63824"/>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91056" y="3017520"/>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The single A rule is what makes a Product Owner viable. Two Accountables for backlog order guarantees the escalation you just resolved.</a:t>
            </a:r>
          </a:p>
        </p:txBody>
      </p:sp>
      <p:sp>
        <p:nvSpPr>
          <p:cNvPr id="17" name="Rectangle 16"/>
          <p:cNvSpPr/>
          <p:nvPr/>
        </p:nvSpPr>
        <p:spPr>
          <a:xfrm>
            <a:off x="777240" y="4041648"/>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41648"/>
            <a:ext cx="9144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9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9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91056" y="4133088"/>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This is A1 and A2 in practice: sharing information across teams to bridge operational barriers, and organising work in line with actual priorities.</a:t>
            </a:r>
          </a:p>
        </p:txBody>
      </p:sp>
      <p:sp>
        <p:nvSpPr>
          <p:cNvPr id="22" name="Rectangle 21"/>
          <p:cNvSpPr/>
          <p:nvPr/>
        </p:nvSpPr>
        <p:spPr>
          <a:xfrm>
            <a:off x="777240" y="5074920"/>
            <a:ext cx="10634472" cy="1078992"/>
          </a:xfrm>
          <a:prstGeom prst="rect">
            <a:avLst/>
          </a:prstGeom>
          <a:solidFill>
            <a:srgbClr val="FFFFFF"/>
          </a:solidFill>
          <a:ln w="12700">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157216"/>
            <a:ext cx="10241280" cy="274320"/>
          </a:xfrm>
          <a:prstGeom prst="rect">
            <a:avLst/>
          </a:prstGeom>
          <a:noFill/>
        </p:spPr>
        <p:txBody>
          <a:bodyPr wrap="square" anchor="t" lIns="0" rIns="0" tIns="0" bIns="0">
            <a:spAutoFit/>
          </a:bodyPr>
          <a:lstStyle/>
          <a:p>
            <a:pPr algn="l">
              <a:spcAft>
                <a:spcPts val="400"/>
              </a:spcAft>
            </a:pPr>
            <a:r>
              <a:rPr sz="1100" b="1">
                <a:solidFill>
                  <a:srgbClr val="127A3E"/>
                </a:solidFill>
                <a:latin typeface="Arial"/>
              </a:rPr>
              <a:t>SUCCESS CRITERION</a:t>
            </a:r>
          </a:p>
        </p:txBody>
      </p:sp>
      <p:sp>
        <p:nvSpPr>
          <p:cNvPr id="24" name="TextBox 23"/>
          <p:cNvSpPr txBox="1"/>
          <p:nvPr/>
        </p:nvSpPr>
        <p:spPr>
          <a:xfrm>
            <a:off x="1051560" y="5440680"/>
            <a:ext cx="10241280" cy="658368"/>
          </a:xfrm>
          <a:prstGeom prst="rect">
            <a:avLst/>
          </a:prstGeom>
          <a:noFill/>
        </p:spPr>
        <p:txBody>
          <a:bodyPr wrap="square" anchor="t" lIns="0" rIns="0" tIns="0" bIns="0">
            <a:spAutoFit/>
          </a:bodyPr>
          <a:lstStyle/>
          <a:p>
            <a:pPr algn="l">
              <a:spcAft>
                <a:spcPts val="400"/>
              </a:spcAft>
            </a:pPr>
            <a:r>
              <a:rPr sz="1150" b="0">
                <a:solidFill>
                  <a:srgbClr val="161B26"/>
                </a:solidFill>
                <a:latin typeface="Arial"/>
              </a:rPr>
              <a:t>Every one of the 12 rows has exactly one A. No role is C on more than about half the rows. The developers' conflicting-priorities escalation is traceable to a specific duplicate A in your first draft, and your corrected matrix removes it.</a:t>
            </a:r>
          </a:p>
        </p:txBody>
      </p:sp>
      <p:sp>
        <p:nvSpPr>
          <p:cNvPr id="25" name="TextBox 2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6" name="TextBox 2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RECAP  ·  LO2  ·  K4, K6, K7, A1, A3</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Recap — Agile Essentials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032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032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Activity 3 · Build the Product Backlog and Run Sprint 1 Planning</a:t>
            </a:r>
          </a:p>
          <a:p>
            <a:pPr algn="l">
              <a:spcAft>
                <a:spcPts val="300"/>
              </a:spcAft>
            </a:pPr>
            <a:r>
              <a:rPr sz="1200" b="0">
                <a:solidFill>
                  <a:srgbClr val="5B6372"/>
                </a:solidFill>
                <a:latin typeface="Arial"/>
              </a:rPr>
              <a:t>Implement Agile practices by converting business needs into an ordered product backlog and a committed sprint backlog with a sprint goal (K6, K7, A3).</a:t>
            </a:r>
          </a:p>
        </p:txBody>
      </p:sp>
      <p:sp>
        <p:nvSpPr>
          <p:cNvPr id="12" name="Rectangle 11"/>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486460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486460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4197096"/>
            <a:ext cx="9482328"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Activity 4 · Clarify Agile Role Accountability with a RACI Matrix</a:t>
            </a:r>
          </a:p>
          <a:p>
            <a:pPr algn="l">
              <a:spcAft>
                <a:spcPts val="300"/>
              </a:spcAft>
            </a:pPr>
            <a:r>
              <a:rPr sz="1200" b="0">
                <a:solidFill>
                  <a:srgbClr val="5B6372"/>
                </a:solidFill>
                <a:latin typeface="Arial"/>
              </a:rPr>
              <a:t>Share information across teams and organise work in alignment with priorities by making Agile role accountability explicit (K5, A1, A2).</a:t>
            </a:r>
          </a:p>
        </p:txBody>
      </p:sp>
      <p:sp>
        <p:nvSpPr>
          <p:cNvPr id="17" name="TextBox 1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8" name="TextBox 1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Aft>
                <a:spcPts val="400"/>
              </a:spcAft>
            </a:pPr>
            <a:r>
              <a:rPr sz="46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Aft>
                <a:spcPts val="400"/>
              </a:spcAft>
            </a:pPr>
            <a:r>
              <a:rPr sz="2200" b="1">
                <a:solidFill>
                  <a:srgbClr val="1F6FEB"/>
                </a:solidFill>
                <a:latin typeface="Arial"/>
              </a:rPr>
              <a:t>See you at 09:30 tomorrow  ·  Digital attendance (AM)</a:t>
            </a:r>
          </a:p>
        </p:txBody>
      </p:sp>
    </p:spTree>
  </p:cSld>
  <p:clrMapOvr>
    <a:masterClrMapping/>
  </p:clrMapOvr>
  <mc:AlternateContent xmlns:mc="http://schemas.openxmlformats.org/markup-compatibility/2006">
    <mc:Choice xmlns:p14="http://schemas.microsoft.com/office/powerpoint/2010/main" Requires="p14">
      <p:transition spd="med" p14:dur="900">
        <p:push dir="u"/>
      </p:transition>
    </mc:Choice>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10058400" cy="457200"/>
          </a:xfrm>
          <a:prstGeom prst="rect">
            <a:avLst/>
          </a:prstGeom>
          <a:noFill/>
        </p:spPr>
        <p:txBody>
          <a:bodyPr wrap="square" anchor="t" lIns="0" rIns="0" tIns="0" bIns="0">
            <a:spAutoFit/>
          </a:bodyPr>
          <a:lstStyle/>
          <a:p>
            <a:pPr algn="l">
              <a:spcAft>
                <a:spcPts val="400"/>
              </a:spcAft>
            </a:pPr>
            <a:r>
              <a:rPr sz="1500" b="1">
                <a:solidFill>
                  <a:srgbClr val="1F6FEB"/>
                </a:solidFill>
                <a:latin typeface="Arial"/>
              </a:rPr>
              <a:t>TOPIC 03</a:t>
            </a:r>
          </a:p>
        </p:txBody>
      </p:sp>
      <p:sp>
        <p:nvSpPr>
          <p:cNvPr id="6" name="TextBox 5"/>
          <p:cNvSpPr txBox="1"/>
          <p:nvPr/>
        </p:nvSpPr>
        <p:spPr>
          <a:xfrm>
            <a:off x="1280160" y="2606040"/>
            <a:ext cx="10058400" cy="960120"/>
          </a:xfrm>
          <a:prstGeom prst="rect">
            <a:avLst/>
          </a:prstGeom>
          <a:noFill/>
        </p:spPr>
        <p:txBody>
          <a:bodyPr wrap="square" anchor="t" lIns="0" rIns="0" tIns="0" bIns="0">
            <a:spAutoFit/>
          </a:bodyPr>
          <a:lstStyle/>
          <a:p>
            <a:pPr algn="l">
              <a:spcAft>
                <a:spcPts val="400"/>
              </a:spcAft>
            </a:pPr>
            <a:r>
              <a:rPr sz="3400" b="1">
                <a:solidFill>
                  <a:srgbClr val="161B26"/>
                </a:solidFill>
                <a:latin typeface="Arial"/>
              </a:rPr>
              <a:t>Agile Project Execution and Tracking</a:t>
            </a:r>
          </a:p>
        </p:txBody>
      </p:sp>
      <p:sp>
        <p:nvSpPr>
          <p:cNvPr id="7" name="TextBox 6"/>
          <p:cNvSpPr txBox="1"/>
          <p:nvPr/>
        </p:nvSpPr>
        <p:spPr>
          <a:xfrm>
            <a:off x="1280160" y="3611880"/>
            <a:ext cx="9875520" cy="1097280"/>
          </a:xfrm>
          <a:prstGeom prst="rect">
            <a:avLst/>
          </a:prstGeom>
          <a:noFill/>
        </p:spPr>
        <p:txBody>
          <a:bodyPr wrap="square" anchor="t" lIns="0" rIns="0" tIns="0" bIns="0">
            <a:spAutoFit/>
          </a:bodyPr>
          <a:lstStyle/>
          <a:p>
            <a:pPr algn="l">
              <a:spcAft>
                <a:spcPts val="400"/>
              </a:spcAft>
            </a:pPr>
            <a:r>
              <a:rPr sz="1500" b="0">
                <a:solidFill>
                  <a:srgbClr val="5B6372"/>
                </a:solidFill>
                <a:latin typeface="Arial"/>
              </a:rPr>
              <a:t>Team building &amp; vision · User stories &amp; estimation · Execution · Metrics · Continuous improvement   ·   LO3   ·   K5, A4, A6, A7</a:t>
            </a:r>
          </a:p>
        </p:txBody>
      </p:sp>
      <p:sp>
        <p:nvSpPr>
          <p:cNvPr id="8" name="TextBox 7"/>
          <p:cNvSpPr txBox="1"/>
          <p:nvPr/>
        </p:nvSpPr>
        <p:spPr>
          <a:xfrm>
            <a:off x="9144000" y="502920"/>
            <a:ext cx="2377440" cy="1371600"/>
          </a:xfrm>
          <a:prstGeom prst="rect">
            <a:avLst/>
          </a:prstGeom>
          <a:noFill/>
        </p:spPr>
        <p:txBody>
          <a:bodyPr wrap="square" anchor="t" lIns="0" rIns="0" tIns="0" bIns="0">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0" name="TextBox 9"/>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Aft>
                <a:spcPts val="400"/>
              </a:spcAft>
            </a:pPr>
            <a:r>
              <a:rPr sz="1600" b="1">
                <a:solidFill>
                  <a:srgbClr val="7C3AED"/>
                </a:solidFill>
                <a:latin typeface="Arial"/>
              </a:rPr>
              <a:t>TOPIC 03 · MAKING IT RUN</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Aft>
                <a:spcPts val="400"/>
              </a:spcAft>
            </a:pPr>
            <a:r>
              <a:rPr sz="3600" b="1">
                <a:solidFill>
                  <a:srgbClr val="161B26"/>
                </a:solidFill>
                <a:latin typeface="Arial"/>
              </a:rPr>
              <a:t>A team, a vision, a rhythm, and honest numbers.</a:t>
            </a:r>
          </a:p>
        </p:txBody>
      </p:sp>
      <p:sp>
        <p:nvSpPr>
          <p:cNvPr id="6" name="TextBox 5"/>
          <p:cNvSpPr txBox="1"/>
          <p:nvPr/>
        </p:nvSpPr>
        <p:spPr>
          <a:xfrm>
            <a:off x="1024128" y="4526280"/>
            <a:ext cx="10058400" cy="1188720"/>
          </a:xfrm>
          <a:prstGeom prst="rect">
            <a:avLst/>
          </a:prstGeom>
          <a:noFill/>
        </p:spPr>
        <p:txBody>
          <a:bodyPr wrap="square" anchor="t" lIns="0" rIns="0" tIns="0" bIns="0">
            <a:spAutoFit/>
          </a:bodyPr>
          <a:lstStyle/>
          <a:p>
            <a:pPr algn="l">
              <a:spcAft>
                <a:spcPts val="400"/>
              </a:spcAft>
            </a:pPr>
            <a:r>
              <a:rPr sz="1900" b="0">
                <a:solidFill>
                  <a:srgbClr val="5B6372"/>
                </a:solidFill>
                <a:latin typeface="Arial"/>
              </a:rPr>
              <a:t>Topic 3 is where Agile stops being a philosophy and becomes a week of work: who is on the team, what they are aiming at, how the work flows, and what the metrics actually tell you.</a:t>
            </a:r>
          </a:p>
        </p:txBody>
      </p:sp>
      <p:sp>
        <p:nvSpPr>
          <p:cNvPr id="7" name="TextBox 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8" name="TextBox 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mc:Choice xmlns:p14="http://schemas.microsoft.com/office/powerpoint/2010/main" Requires="p14">
      <p:transition spd="med" p14:dur="900">
        <p:push dir="u"/>
      </p:transition>
    </mc:Choice>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03 · K5 · WHAT A GOOD AGILE TEAM LOOKS LIKE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Team Composition and Formation Models (K5)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3374136" cy="1284732"/>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12847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2478024"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Cross-functional</a:t>
            </a:r>
          </a:p>
        </p:txBody>
      </p:sp>
      <p:sp>
        <p:nvSpPr>
          <p:cNvPr id="12" name="TextBox 11"/>
          <p:cNvSpPr txBox="1"/>
          <p:nvPr/>
        </p:nvSpPr>
        <p:spPr>
          <a:xfrm>
            <a:off x="1014984" y="2505456"/>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Every skill needed to get to Done sits inside the team.</a:t>
            </a:r>
          </a:p>
        </p:txBody>
      </p:sp>
      <p:sp>
        <p:nvSpPr>
          <p:cNvPr id="13" name="Rectangle 12"/>
          <p:cNvSpPr/>
          <p:nvPr/>
        </p:nvSpPr>
        <p:spPr>
          <a:xfrm>
            <a:off x="4407408" y="1810512"/>
            <a:ext cx="3374136" cy="12847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07408" y="1810512"/>
            <a:ext cx="82296" cy="12847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26864"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686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5120640" y="1956816"/>
            <a:ext cx="2478024"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Self-organising</a:t>
            </a:r>
          </a:p>
        </p:txBody>
      </p:sp>
      <p:sp>
        <p:nvSpPr>
          <p:cNvPr id="18" name="TextBox 17"/>
          <p:cNvSpPr txBox="1"/>
          <p:nvPr/>
        </p:nvSpPr>
        <p:spPr>
          <a:xfrm>
            <a:off x="4645152" y="2505456"/>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The team decides how to do the work, not just what to do.</a:t>
            </a:r>
          </a:p>
        </p:txBody>
      </p:sp>
      <p:sp>
        <p:nvSpPr>
          <p:cNvPr id="19" name="Rectangle 18"/>
          <p:cNvSpPr/>
          <p:nvPr/>
        </p:nvSpPr>
        <p:spPr>
          <a:xfrm>
            <a:off x="8037576" y="1810512"/>
            <a:ext cx="3374136" cy="1284732"/>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7576" y="1810512"/>
            <a:ext cx="82296" cy="12847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57032"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8750808" y="1956816"/>
            <a:ext cx="2478024"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Fewer than ~12</a:t>
            </a:r>
          </a:p>
        </p:txBody>
      </p:sp>
      <p:sp>
        <p:nvSpPr>
          <p:cNvPr id="24" name="TextBox 23"/>
          <p:cNvSpPr txBox="1"/>
          <p:nvPr/>
        </p:nvSpPr>
        <p:spPr>
          <a:xfrm>
            <a:off x="8275320" y="2505456"/>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Communication paths grow faster than headcount. Small teams stay coherent.</a:t>
            </a:r>
          </a:p>
        </p:txBody>
      </p:sp>
      <p:sp>
        <p:nvSpPr>
          <p:cNvPr id="25" name="Rectangle 24"/>
          <p:cNvSpPr/>
          <p:nvPr/>
        </p:nvSpPr>
        <p:spPr>
          <a:xfrm>
            <a:off x="777240" y="3314700"/>
            <a:ext cx="3374136" cy="1284732"/>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3314700"/>
            <a:ext cx="82296" cy="12847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6696" y="3497580"/>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6696"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1490472" y="3461004"/>
            <a:ext cx="2478024"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Stable membership</a:t>
            </a:r>
          </a:p>
        </p:txBody>
      </p:sp>
      <p:sp>
        <p:nvSpPr>
          <p:cNvPr id="30" name="TextBox 29"/>
          <p:cNvSpPr txBox="1"/>
          <p:nvPr/>
        </p:nvSpPr>
        <p:spPr>
          <a:xfrm>
            <a:off x="1014984" y="4009644"/>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Velocity is meaningless if the team changes every sprint.</a:t>
            </a:r>
          </a:p>
        </p:txBody>
      </p:sp>
      <p:sp>
        <p:nvSpPr>
          <p:cNvPr id="31" name="Rectangle 30"/>
          <p:cNvSpPr/>
          <p:nvPr/>
        </p:nvSpPr>
        <p:spPr>
          <a:xfrm>
            <a:off x="4407408" y="3314700"/>
            <a:ext cx="3374136" cy="1284732"/>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07408" y="3314700"/>
            <a:ext cx="82296" cy="12847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626864" y="3497580"/>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26864"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5</a:t>
            </a:r>
          </a:p>
        </p:txBody>
      </p:sp>
      <p:sp>
        <p:nvSpPr>
          <p:cNvPr id="35" name="TextBox 34"/>
          <p:cNvSpPr txBox="1"/>
          <p:nvPr/>
        </p:nvSpPr>
        <p:spPr>
          <a:xfrm>
            <a:off x="5120640" y="3461004"/>
            <a:ext cx="2478024"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Generalising specialists</a:t>
            </a:r>
          </a:p>
        </p:txBody>
      </p:sp>
      <p:sp>
        <p:nvSpPr>
          <p:cNvPr id="36" name="TextBox 35"/>
          <p:cNvSpPr txBox="1"/>
          <p:nvPr/>
        </p:nvSpPr>
        <p:spPr>
          <a:xfrm>
            <a:off x="4645152" y="4009644"/>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Deep in one skill, capable across several — this removes queues.</a:t>
            </a:r>
          </a:p>
        </p:txBody>
      </p:sp>
      <p:sp>
        <p:nvSpPr>
          <p:cNvPr id="37" name="Rectangle 36"/>
          <p:cNvSpPr/>
          <p:nvPr/>
        </p:nvSpPr>
        <p:spPr>
          <a:xfrm>
            <a:off x="8037576" y="3314700"/>
            <a:ext cx="3374136" cy="12847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37576" y="3314700"/>
            <a:ext cx="82296" cy="12847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257032" y="3497580"/>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57032"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6</a:t>
            </a:r>
          </a:p>
        </p:txBody>
      </p:sp>
      <p:sp>
        <p:nvSpPr>
          <p:cNvPr id="41" name="TextBox 40"/>
          <p:cNvSpPr txBox="1"/>
          <p:nvPr/>
        </p:nvSpPr>
        <p:spPr>
          <a:xfrm>
            <a:off x="8750808" y="3461004"/>
            <a:ext cx="2478024"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Co-located or deliberately connected</a:t>
            </a:r>
          </a:p>
        </p:txBody>
      </p:sp>
      <p:sp>
        <p:nvSpPr>
          <p:cNvPr id="42" name="TextBox 41"/>
          <p:cNvSpPr txBox="1"/>
          <p:nvPr/>
        </p:nvSpPr>
        <p:spPr>
          <a:xfrm>
            <a:off x="8275320" y="4009644"/>
            <a:ext cx="2916936"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Osmotic communication, or tooling that replaces it on purpose.</a:t>
            </a:r>
          </a:p>
        </p:txBody>
      </p:sp>
      <p:sp>
        <p:nvSpPr>
          <p:cNvPr id="43" name="Rectangle 42"/>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4864608"/>
            <a:ext cx="91440"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0B981"/>
                </a:solidFill>
                <a:latin typeface="Arial"/>
              </a:rPr>
              <a:t>THE BOTTLENECK YOU WILL MEET</a:t>
            </a:r>
          </a:p>
        </p:txBody>
      </p:sp>
      <p:sp>
        <p:nvSpPr>
          <p:cNvPr id="46" name="TextBox 45"/>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One specialist per skill guarantees queues — work piles up behind the only person who can do it. You will see exactly this as the Testing bottleneck in Activity 8.</a:t>
            </a:r>
          </a:p>
        </p:txBody>
      </p:sp>
      <p:sp>
        <p:nvSpPr>
          <p:cNvPr id="47" name="TextBox 4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48" name="TextBox 4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03 · K5 · TEAM DEVELOPMENT</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Tuckman's Stages and Adaptive Leadership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uckman-leadership.png"/>
          <p:cNvPicPr>
            <a:picLocks noChangeAspect="1"/>
          </p:cNvPicPr>
          <p:nvPr/>
        </p:nvPicPr>
        <p:blipFill>
          <a:blip r:embed="rId2"/>
          <a:stretch>
            <a:fillRect/>
          </a:stretch>
        </p:blipFill>
        <p:spPr>
          <a:xfrm>
            <a:off x="1102691" y="1810512"/>
            <a:ext cx="9986313" cy="3931920"/>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Match your leadership style to the team's stage. Delegating to a forming team fails; directing a performing team insults it.</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03 · LEADING WITHOUT AUTHORITY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500" b="1">
                <a:solidFill>
                  <a:srgbClr val="161B26"/>
                </a:solidFill>
                <a:latin typeface="Arial"/>
              </a:rPr>
              <a:t>Servant Leadership — What the Agile Leader Actually Does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Shield the team</a:t>
            </a:r>
          </a:p>
          <a:p>
            <a:pPr algn="l">
              <a:spcAft>
                <a:spcPts val="300"/>
              </a:spcAft>
            </a:pPr>
            <a:r>
              <a:rPr sz="1100" b="0">
                <a:solidFill>
                  <a:srgbClr val="5B6372"/>
                </a:solidFill>
                <a:latin typeface="Arial"/>
              </a:rPr>
              <a:t>Absorb interruptions so the team can hold a sustainable focus.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Remove impediments</a:t>
            </a:r>
          </a:p>
          <a:p>
            <a:pPr algn="l">
              <a:spcAft>
                <a:spcPts val="300"/>
              </a:spcAft>
            </a:pPr>
            <a:r>
              <a:rPr sz="1100" b="0">
                <a:solidFill>
                  <a:srgbClr val="5B6372"/>
                </a:solidFill>
                <a:latin typeface="Arial"/>
              </a:rPr>
              <a:t>Own the blockers the team cannot clear itself, and clear them fast.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Re-communicate the vision</a:t>
            </a:r>
          </a:p>
          <a:p>
            <a:pPr algn="l">
              <a:spcAft>
                <a:spcPts val="300"/>
              </a:spcAft>
            </a:pPr>
            <a:r>
              <a:rPr sz="1100" b="0">
                <a:solidFill>
                  <a:srgbClr val="5B6372"/>
                </a:solidFill>
                <a:latin typeface="Arial"/>
              </a:rPr>
              <a:t>People forget the goal under delivery pressure. Repeat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Tap intrinsic motivation</a:t>
            </a:r>
          </a:p>
          <a:p>
            <a:pPr algn="l">
              <a:spcAft>
                <a:spcPts val="300"/>
              </a:spcAft>
            </a:pPr>
            <a:r>
              <a:rPr sz="1100" b="0">
                <a:solidFill>
                  <a:srgbClr val="5B6372"/>
                </a:solidFill>
                <a:latin typeface="Arial"/>
              </a:rPr>
              <a:t>Autonomy, mastery and purpose outperform instruction.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Model the behaviour</a:t>
            </a:r>
          </a:p>
          <a:p>
            <a:pPr algn="l">
              <a:spcAft>
                <a:spcPts val="300"/>
              </a:spcAft>
            </a:pPr>
            <a:r>
              <a:rPr sz="1100" b="0">
                <a:solidFill>
                  <a:srgbClr val="5B6372"/>
                </a:solidFill>
                <a:latin typeface="Arial"/>
              </a:rPr>
              <a:t>Honesty, competence and forward-looking judgement, visibly.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Create safety to experiment</a:t>
            </a:r>
          </a:p>
          <a:p>
            <a:pPr algn="l">
              <a:spcAft>
                <a:spcPts val="300"/>
              </a:spcAft>
            </a:pPr>
            <a:r>
              <a:rPr sz="1100" b="0">
                <a:solidFill>
                  <a:srgbClr val="5B6372"/>
                </a:solidFill>
                <a:latin typeface="Arial"/>
              </a:rPr>
              <a:t>A team that cannot fail safely will not tell you the truth.</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03 · GETTING ONE PICTURE IN EVERY HEAD</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Setting the Shared Vision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Agile charter</a:t>
            </a:r>
          </a:p>
          <a:p>
            <a:pPr algn="l">
              <a:spcAft>
                <a:spcPts val="300"/>
              </a:spcAft>
            </a:pPr>
            <a:r>
              <a:rPr sz="1100" b="0">
                <a:solidFill>
                  <a:srgbClr val="5B6372"/>
                </a:solidFill>
                <a:latin typeface="Arial"/>
              </a:rPr>
              <a:t>Who, what, why, when, where and how — high-level, and authority to proceed.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Product vision statement</a:t>
            </a:r>
          </a:p>
          <a:p>
            <a:pPr algn="l">
              <a:spcAft>
                <a:spcPts val="300"/>
              </a:spcAft>
            </a:pPr>
            <a:r>
              <a:rPr sz="1100" b="0">
                <a:solidFill>
                  <a:srgbClr val="5B6372"/>
                </a:solidFill>
                <a:latin typeface="Arial"/>
              </a:rPr>
              <a:t>One paragraph any team member can repeat from memory.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Definition of Done</a:t>
            </a:r>
          </a:p>
          <a:p>
            <a:pPr algn="l">
              <a:spcAft>
                <a:spcPts val="300"/>
              </a:spcAft>
            </a:pPr>
            <a:r>
              <a:rPr sz="1100" b="0">
                <a:solidFill>
                  <a:srgbClr val="5B6372"/>
                </a:solidFill>
                <a:latin typeface="Arial"/>
              </a:rPr>
              <a:t>The shared, testable meaning of 'finished'.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Personas</a:t>
            </a:r>
          </a:p>
          <a:p>
            <a:pPr algn="l">
              <a:spcAft>
                <a:spcPts val="300"/>
              </a:spcAft>
            </a:pPr>
            <a:r>
              <a:rPr sz="1100" b="0">
                <a:solidFill>
                  <a:srgbClr val="5B6372"/>
                </a:solidFill>
                <a:latin typeface="Arial"/>
              </a:rPr>
              <a:t>Grounded, goal-oriented descriptions of the real users.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Wireframes &amp; prototypes</a:t>
            </a:r>
          </a:p>
          <a:p>
            <a:pPr algn="l">
              <a:spcAft>
                <a:spcPts val="300"/>
              </a:spcAft>
            </a:pPr>
            <a:r>
              <a:rPr sz="1100" b="0">
                <a:solidFill>
                  <a:srgbClr val="5B6372"/>
                </a:solidFill>
                <a:latin typeface="Arial"/>
              </a:rPr>
              <a:t>Low-fidelity artefacts that make 'done' visible before it is built.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Journey and story maps</a:t>
            </a:r>
          </a:p>
          <a:p>
            <a:pPr algn="l">
              <a:spcAft>
                <a:spcPts val="300"/>
              </a:spcAft>
            </a:pPr>
            <a:r>
              <a:rPr sz="1100" b="0">
                <a:solidFill>
                  <a:srgbClr val="5B6372"/>
                </a:solidFill>
                <a:latin typeface="Arial"/>
              </a:rPr>
              <a:t>The whole experience, so the team can see what each slice contributes.</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03 · REQUIREMENTS AS STORIES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Anatomy of a User Story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r-story-anatomy.png"/>
          <p:cNvPicPr>
            <a:picLocks noChangeAspect="1"/>
          </p:cNvPicPr>
          <p:nvPr/>
        </p:nvPicPr>
        <p:blipFill>
          <a:blip r:embed="rId2"/>
          <a:stretch>
            <a:fillRect/>
          </a:stretch>
        </p:blipFill>
        <p:spPr>
          <a:xfrm>
            <a:off x="1293074" y="1810512"/>
            <a:ext cx="9605546" cy="3931920"/>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Role, goal, benefit — plus testable acceptance criteria. This exact story is the one you write in Activity 3.</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03 · WRITING STORIES THAT WORK</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Three Cs and INVEST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2466594"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Card</a:t>
            </a:r>
          </a:p>
        </p:txBody>
      </p:sp>
      <p:sp>
        <p:nvSpPr>
          <p:cNvPr id="12" name="TextBox 11"/>
          <p:cNvSpPr txBox="1"/>
          <p:nvPr/>
        </p:nvSpPr>
        <p:spPr>
          <a:xfrm>
            <a:off x="1014984"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The story is a placeholder, deliberately too small to hold the full requirement.</a:t>
            </a:r>
          </a:p>
        </p:txBody>
      </p:sp>
      <p:sp>
        <p:nvSpPr>
          <p:cNvPr id="13" name="Rectangle 12"/>
          <p:cNvSpPr/>
          <p:nvPr/>
        </p:nvSpPr>
        <p:spPr>
          <a:xfrm>
            <a:off x="3499866" y="1810512"/>
            <a:ext cx="2466594"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19322"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32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4213098" y="1956816"/>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Conversation</a:t>
            </a:r>
          </a:p>
        </p:txBody>
      </p:sp>
      <p:sp>
        <p:nvSpPr>
          <p:cNvPr id="18" name="TextBox 17"/>
          <p:cNvSpPr txBox="1"/>
          <p:nvPr/>
        </p:nvSpPr>
        <p:spPr>
          <a:xfrm>
            <a:off x="3737610"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The detail is developed by talking, not by writing a longer document.</a:t>
            </a:r>
          </a:p>
        </p:txBody>
      </p:sp>
      <p:sp>
        <p:nvSpPr>
          <p:cNvPr id="19" name="Rectangle 18"/>
          <p:cNvSpPr/>
          <p:nvPr/>
        </p:nvSpPr>
        <p:spPr>
          <a:xfrm>
            <a:off x="6222492" y="1810512"/>
            <a:ext cx="2466594"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1948"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6935724" y="1956816"/>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Confirmation</a:t>
            </a:r>
          </a:p>
        </p:txBody>
      </p:sp>
      <p:sp>
        <p:nvSpPr>
          <p:cNvPr id="24" name="TextBox 23"/>
          <p:cNvSpPr txBox="1"/>
          <p:nvPr/>
        </p:nvSpPr>
        <p:spPr>
          <a:xfrm>
            <a:off x="6460236"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Acceptance criteria state how you will know it is done.</a:t>
            </a:r>
          </a:p>
        </p:txBody>
      </p:sp>
      <p:sp>
        <p:nvSpPr>
          <p:cNvPr id="25" name="Rectangle 24"/>
          <p:cNvSpPr/>
          <p:nvPr/>
        </p:nvSpPr>
        <p:spPr>
          <a:xfrm>
            <a:off x="8945118" y="1810512"/>
            <a:ext cx="2466594" cy="278892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1810512"/>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4574"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457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58350" y="1956816"/>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INVEST</a:t>
            </a:r>
          </a:p>
        </p:txBody>
      </p:sp>
      <p:sp>
        <p:nvSpPr>
          <p:cNvPr id="30" name="TextBox 29"/>
          <p:cNvSpPr txBox="1"/>
          <p:nvPr/>
        </p:nvSpPr>
        <p:spPr>
          <a:xfrm>
            <a:off x="9182862"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Independent · Negotiable · Valuable · Estimatable · Small · Testable.</a:t>
            </a:r>
          </a:p>
        </p:txBody>
      </p:sp>
      <p:sp>
        <p:nvSpPr>
          <p:cNvPr id="31" name="Rectangle 30"/>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64608"/>
            <a:ext cx="91440"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0B981"/>
                </a:solidFill>
                <a:latin typeface="Arial"/>
              </a:rPr>
              <a:t>THE SPLIT RULE</a:t>
            </a:r>
          </a:p>
        </p:txBody>
      </p:sp>
      <p:sp>
        <p:nvSpPr>
          <p:cNvPr id="34" name="TextBox 33"/>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A story too large for one sprint must be split by WORKFLOW STEP or by DATA TYPE — never by technical layer. Splitting into 'the database part' and 'the UI part' produces a sprint with nothing to demonstrate.</a:t>
            </a:r>
          </a:p>
        </p:txBody>
      </p:sp>
      <p:sp>
        <p:nvSpPr>
          <p:cNvPr id="35" name="TextBox 3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6" name="TextBox 3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TOPIC 03 · ORDERING THE BACKLOG</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Prioritisation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MoSCoW</a:t>
            </a:r>
          </a:p>
          <a:p>
            <a:pPr algn="l">
              <a:spcAft>
                <a:spcPts val="300"/>
              </a:spcAft>
            </a:pPr>
            <a:r>
              <a:rPr sz="1100" b="0">
                <a:solidFill>
                  <a:srgbClr val="5B6372"/>
                </a:solidFill>
                <a:latin typeface="Arial"/>
              </a:rPr>
              <a:t>Must / Should / Could / Won't have this time. Used in Activity 3.</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Dot voting</a:t>
            </a:r>
          </a:p>
          <a:p>
            <a:pPr algn="l">
              <a:spcAft>
                <a:spcPts val="300"/>
              </a:spcAft>
            </a:pPr>
            <a:r>
              <a:rPr sz="1100" b="0">
                <a:solidFill>
                  <a:srgbClr val="5B6372"/>
                </a:solidFill>
                <a:latin typeface="Arial"/>
              </a:rPr>
              <a:t>Each person distributes a fixed number of dots across the options.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100-point method</a:t>
            </a:r>
          </a:p>
          <a:p>
            <a:pPr algn="l">
              <a:spcAft>
                <a:spcPts val="300"/>
              </a:spcAft>
            </a:pPr>
            <a:r>
              <a:rPr sz="1100" b="0">
                <a:solidFill>
                  <a:srgbClr val="5B6372"/>
                </a:solidFill>
                <a:latin typeface="Arial"/>
              </a:rPr>
              <a:t>Each stakeholder allocates 100 points, forcing real trade-offs.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Monopoly money</a:t>
            </a:r>
          </a:p>
          <a:p>
            <a:pPr algn="l">
              <a:spcAft>
                <a:spcPts val="300"/>
              </a:spcAft>
            </a:pPr>
            <a:r>
              <a:rPr sz="1100" b="0">
                <a:solidFill>
                  <a:srgbClr val="5B6372"/>
                </a:solidFill>
                <a:latin typeface="Arial"/>
              </a:rPr>
              <a:t>Equal 'funds' spent on what each stakeholder values most.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Kano analysis</a:t>
            </a:r>
          </a:p>
          <a:p>
            <a:pPr algn="l">
              <a:spcAft>
                <a:spcPts val="300"/>
              </a:spcAft>
            </a:pPr>
            <a:r>
              <a:rPr sz="1100" b="0">
                <a:solidFill>
                  <a:srgbClr val="5B6372"/>
                </a:solidFill>
                <a:latin typeface="Arial"/>
              </a:rPr>
              <a:t>Separates delighters, satisfiers, must-haves and indifferent features.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Weighted shortest job first</a:t>
            </a:r>
          </a:p>
          <a:p>
            <a:pPr algn="l">
              <a:spcAft>
                <a:spcPts val="300"/>
              </a:spcAft>
            </a:pPr>
            <a:r>
              <a:rPr sz="1100" b="0">
                <a:solidFill>
                  <a:srgbClr val="5B6372"/>
                </a:solidFill>
                <a:latin typeface="Arial"/>
              </a:rPr>
              <a:t>Value divided by effort — highest ratio goes first.</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03 · AGILE ESTIMATION</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Estimation — Why Relative Beats Absolute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2466594"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Humans estimate badly in absolutes</a:t>
            </a:r>
          </a:p>
        </p:txBody>
      </p:sp>
      <p:sp>
        <p:nvSpPr>
          <p:cNvPr id="12" name="TextBox 11"/>
          <p:cNvSpPr txBox="1"/>
          <p:nvPr/>
        </p:nvSpPr>
        <p:spPr>
          <a:xfrm>
            <a:off x="1014984"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We are poor at hours, and consistently good at comparisons.</a:t>
            </a:r>
          </a:p>
        </p:txBody>
      </p:sp>
      <p:sp>
        <p:nvSpPr>
          <p:cNvPr id="13" name="Rectangle 12"/>
          <p:cNvSpPr/>
          <p:nvPr/>
        </p:nvSpPr>
        <p:spPr>
          <a:xfrm>
            <a:off x="3499866" y="1810512"/>
            <a:ext cx="2466594"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19322"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32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4213098" y="1956816"/>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Story points</a:t>
            </a:r>
          </a:p>
        </p:txBody>
      </p:sp>
      <p:sp>
        <p:nvSpPr>
          <p:cNvPr id="18" name="TextBox 17"/>
          <p:cNvSpPr txBox="1"/>
          <p:nvPr/>
        </p:nvSpPr>
        <p:spPr>
          <a:xfrm>
            <a:off x="3737610"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Complexity, effort and risk in one relative number.</a:t>
            </a:r>
          </a:p>
        </p:txBody>
      </p:sp>
      <p:sp>
        <p:nvSpPr>
          <p:cNvPr id="19" name="Rectangle 18"/>
          <p:cNvSpPr/>
          <p:nvPr/>
        </p:nvSpPr>
        <p:spPr>
          <a:xfrm>
            <a:off x="6222492" y="1810512"/>
            <a:ext cx="2466594"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1948"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6935724" y="1956816"/>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Planning poker</a:t>
            </a:r>
          </a:p>
        </p:txBody>
      </p:sp>
      <p:sp>
        <p:nvSpPr>
          <p:cNvPr id="24" name="TextBox 23"/>
          <p:cNvSpPr txBox="1"/>
          <p:nvPr/>
        </p:nvSpPr>
        <p:spPr>
          <a:xfrm>
            <a:off x="6460236"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Simultaneous reveal on a Fibonacci scale defeats anchoring and the loudest voice.</a:t>
            </a:r>
          </a:p>
        </p:txBody>
      </p:sp>
      <p:sp>
        <p:nvSpPr>
          <p:cNvPr id="25" name="Rectangle 24"/>
          <p:cNvSpPr/>
          <p:nvPr/>
        </p:nvSpPr>
        <p:spPr>
          <a:xfrm>
            <a:off x="8945118" y="1810512"/>
            <a:ext cx="2466594" cy="278892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1810512"/>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4574"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457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58350" y="1956816"/>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Affinity &amp; T-shirt sizing</a:t>
            </a:r>
          </a:p>
        </p:txBody>
      </p:sp>
      <p:sp>
        <p:nvSpPr>
          <p:cNvPr id="30" name="TextBox 29"/>
          <p:cNvSpPr txBox="1"/>
          <p:nvPr/>
        </p:nvSpPr>
        <p:spPr>
          <a:xfrm>
            <a:off x="9182862"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Fast grouping for large backlogs before detailed estimation.</a:t>
            </a:r>
          </a:p>
        </p:txBody>
      </p:sp>
      <p:sp>
        <p:nvSpPr>
          <p:cNvPr id="31" name="Rectangle 30"/>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64608"/>
            <a:ext cx="91440"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7C3AED"/>
                </a:solidFill>
                <a:latin typeface="Arial"/>
              </a:rPr>
              <a:t>THE 13-POINT RULE</a:t>
            </a:r>
          </a:p>
        </p:txBody>
      </p:sp>
      <p:sp>
        <p:nvSpPr>
          <p:cNvPr id="34" name="TextBox 33"/>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A story estimated at 13 or 21 points is not a big story — it is a story the team does not yet understand. Split it before it enters a sprint.</a:t>
            </a:r>
          </a:p>
        </p:txBody>
      </p:sp>
      <p:sp>
        <p:nvSpPr>
          <p:cNvPr id="35" name="TextBox 3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6" name="TextBox 3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TOPIC 03 · THE DISCIPLINE OF THE TIMEBOX</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Timeboxing and Parkinson's Law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tro-stages.png"/>
          <p:cNvPicPr>
            <a:picLocks noChangeAspect="1"/>
          </p:cNvPicPr>
          <p:nvPr/>
        </p:nvPicPr>
        <p:blipFill>
          <a:blip r:embed="rId2"/>
          <a:stretch>
            <a:fillRect/>
          </a:stretch>
        </p:blipFill>
        <p:spPr>
          <a:xfrm>
            <a:off x="777240" y="1828800"/>
            <a:ext cx="6400800" cy="2087112"/>
          </a:xfrm>
          <a:prstGeom prst="rect">
            <a:avLst/>
          </a:prstGeom>
        </p:spPr>
      </p:pic>
      <p:sp>
        <p:nvSpPr>
          <p:cNvPr id="8" name="Rectangle 7"/>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Daily Scrum · 15 minutes</a:t>
            </a:r>
          </a:p>
          <a:p>
            <a:pPr algn="l">
              <a:spcAft>
                <a:spcPts val="400"/>
              </a:spcAft>
            </a:pPr>
            <a:r>
              <a:rPr sz="1150" b="0">
                <a:solidFill>
                  <a:srgbClr val="161B26"/>
                </a:solidFill>
                <a:latin typeface="Arial"/>
              </a:rPr>
              <a:t>Long enough to re-plan a day, short enough to stay standing.</a:t>
            </a:r>
          </a:p>
        </p:txBody>
      </p:sp>
      <p:sp>
        <p:nvSpPr>
          <p:cNvPr id="11" name="Rectangle 10"/>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Retrospective · ~2 hours</a:t>
            </a:r>
          </a:p>
          <a:p>
            <a:pPr algn="l">
              <a:spcAft>
                <a:spcPts val="400"/>
              </a:spcAft>
            </a:pPr>
            <a:r>
              <a:rPr sz="1150" b="0">
                <a:solidFill>
                  <a:srgbClr val="161B26"/>
                </a:solidFill>
                <a:latin typeface="Arial"/>
              </a:rPr>
              <a:t>For a two-week sprint, in five deliberate stages.</a:t>
            </a:r>
          </a:p>
        </p:txBody>
      </p:sp>
      <p:sp>
        <p:nvSpPr>
          <p:cNvPr id="14" name="Rectangle 13"/>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Sprint · 1–4 weeks</a:t>
            </a:r>
          </a:p>
          <a:p>
            <a:pPr algn="l">
              <a:spcAft>
                <a:spcPts val="400"/>
              </a:spcAft>
            </a:pPr>
            <a:r>
              <a:rPr sz="1150" b="0">
                <a:solidFill>
                  <a:srgbClr val="161B26"/>
                </a:solidFill>
                <a:latin typeface="Arial"/>
              </a:rPr>
              <a:t>Fixed length, so velocity means something across sprints.</a:t>
            </a:r>
          </a:p>
        </p:txBody>
      </p:sp>
      <p:sp>
        <p:nvSpPr>
          <p:cNvPr id="17" name="Rectangle 16"/>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Parkinson's Law</a:t>
            </a:r>
          </a:p>
          <a:p>
            <a:pPr algn="l">
              <a:spcAft>
                <a:spcPts val="400"/>
              </a:spcAft>
            </a:pPr>
            <a:r>
              <a:rPr sz="1150" b="0">
                <a:solidFill>
                  <a:srgbClr val="161B26"/>
                </a:solidFill>
                <a:latin typeface="Arial"/>
              </a:rPr>
              <a:t>Work expands to fill the time available — so the box does the managing.</a:t>
            </a:r>
          </a:p>
        </p:txBody>
      </p:sp>
      <p:sp>
        <p:nvSpPr>
          <p:cNvPr id="20" name="TextBox 1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1" name="TextBox 2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Aft>
                <a:spcPts val="400"/>
              </a:spcAft>
            </a:pPr>
            <a:r>
              <a:rPr sz="1600" b="1">
                <a:solidFill>
                  <a:srgbClr val="1F6FEB"/>
                </a:solidFill>
                <a:latin typeface="Arial"/>
              </a:rPr>
              <a:t>TOPIC 03 · A4 · MEASURING PROGRESS</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Aft>
                <a:spcPts val="400"/>
              </a:spcAft>
            </a:pPr>
            <a:r>
              <a:rPr sz="3600" b="1">
                <a:solidFill>
                  <a:srgbClr val="161B26"/>
                </a:solidFill>
                <a:latin typeface="Arial"/>
              </a:rPr>
              <a:t>Five metrics tell you everything you need to know.</a:t>
            </a:r>
          </a:p>
        </p:txBody>
      </p:sp>
      <p:sp>
        <p:nvSpPr>
          <p:cNvPr id="6" name="TextBox 5"/>
          <p:cNvSpPr txBox="1"/>
          <p:nvPr/>
        </p:nvSpPr>
        <p:spPr>
          <a:xfrm>
            <a:off x="1024128" y="4526280"/>
            <a:ext cx="10058400" cy="1188720"/>
          </a:xfrm>
          <a:prstGeom prst="rect">
            <a:avLst/>
          </a:prstGeom>
          <a:noFill/>
        </p:spPr>
        <p:txBody>
          <a:bodyPr wrap="square" anchor="t" lIns="0" rIns="0" tIns="0" bIns="0">
            <a:spAutoFit/>
          </a:bodyPr>
          <a:lstStyle/>
          <a:p>
            <a:pPr algn="l">
              <a:spcAft>
                <a:spcPts val="400"/>
              </a:spcAft>
            </a:pPr>
            <a:r>
              <a:rPr sz="1900" b="0">
                <a:solidFill>
                  <a:srgbClr val="5B6372"/>
                </a:solidFill>
                <a:latin typeface="Arial"/>
              </a:rPr>
              <a:t>Sprint burndown for the sprint. Release burndown for the release. Velocity for the forecast. Control chart for cycle time. Cumulative flow diagram for the bottleneck.</a:t>
            </a:r>
          </a:p>
        </p:txBody>
      </p:sp>
      <p:sp>
        <p:nvSpPr>
          <p:cNvPr id="7" name="TextBox 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8" name="TextBox 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mc:Choice xmlns:p14="http://schemas.microsoft.com/office/powerpoint/2010/main" Requires="p14">
      <p:transition spd="med" p14:dur="900">
        <p:push dir="u"/>
      </p:transition>
    </mc:Choice>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03 · A4 · TRACKING THE SPRINT</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Metric 1 — Sprint Burndown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print-burndown.png"/>
          <p:cNvPicPr>
            <a:picLocks noChangeAspect="1"/>
          </p:cNvPicPr>
          <p:nvPr/>
        </p:nvPicPr>
        <p:blipFill>
          <a:blip r:embed="rId2"/>
          <a:stretch>
            <a:fillRect/>
          </a:stretch>
        </p:blipFill>
        <p:spPr>
          <a:xfrm>
            <a:off x="777240" y="1828800"/>
            <a:ext cx="6400800" cy="3614244"/>
          </a:xfrm>
          <a:prstGeom prst="rect">
            <a:avLst/>
          </a:prstGeom>
        </p:spPr>
      </p:pic>
      <p:sp>
        <p:nvSpPr>
          <p:cNvPr id="8" name="Rectangle 7"/>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What it shows</a:t>
            </a:r>
          </a:p>
          <a:p>
            <a:pPr algn="l">
              <a:spcAft>
                <a:spcPts val="400"/>
              </a:spcAft>
            </a:pPr>
            <a:r>
              <a:rPr sz="1150" b="0">
                <a:solidFill>
                  <a:srgbClr val="161B26"/>
                </a:solidFill>
                <a:latin typeface="Arial"/>
              </a:rPr>
              <a:t>Points remaining inside one sprint, day by day, against the ideal line.</a:t>
            </a:r>
          </a:p>
        </p:txBody>
      </p:sp>
      <p:sp>
        <p:nvSpPr>
          <p:cNvPr id="11" name="Rectangle 10"/>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Read the flat line</a:t>
            </a:r>
          </a:p>
          <a:p>
            <a:pPr algn="l">
              <a:spcAft>
                <a:spcPts val="400"/>
              </a:spcAft>
            </a:pPr>
            <a:r>
              <a:rPr sz="1150" b="0">
                <a:solidFill>
                  <a:srgbClr val="161B26"/>
                </a:solidFill>
                <a:latin typeface="Arial"/>
              </a:rPr>
              <a:t>Flat means work is STARTED but not FINISHED — check WIP, not effort.</a:t>
            </a:r>
          </a:p>
        </p:txBody>
      </p:sp>
      <p:sp>
        <p:nvSpPr>
          <p:cNvPr id="14" name="Rectangle 13"/>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Read the cliff</a:t>
            </a:r>
          </a:p>
          <a:p>
            <a:pPr algn="l">
              <a:spcAft>
                <a:spcPts val="400"/>
              </a:spcAft>
            </a:pPr>
            <a:r>
              <a:rPr sz="1150" b="0">
                <a:solidFill>
                  <a:srgbClr val="161B26"/>
                </a:solidFill>
                <a:latin typeface="Arial"/>
              </a:rPr>
              <a:t>A late vertical drop means work was integrated at the end. That is a risk, not a triumph.</a:t>
            </a:r>
          </a:p>
        </p:txBody>
      </p:sp>
      <p:sp>
        <p:nvSpPr>
          <p:cNvPr id="17" name="Rectangle 16"/>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Carryover</a:t>
            </a:r>
          </a:p>
          <a:p>
            <a:pPr algn="l">
              <a:spcAft>
                <a:spcPts val="400"/>
              </a:spcAft>
            </a:pPr>
            <a:r>
              <a:rPr sz="1150" b="0">
                <a:solidFill>
                  <a:srgbClr val="161B26"/>
                </a:solidFill>
                <a:latin typeface="Arial"/>
              </a:rPr>
              <a:t>Unfinished work returns to the backlog at full estimate. It is never partial velocity.</a:t>
            </a:r>
          </a:p>
        </p:txBody>
      </p:sp>
      <p:sp>
        <p:nvSpPr>
          <p:cNvPr id="20" name="TextBox 1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1" name="TextBox 2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03 · A4 · FORECASTING HONESTLY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Metrics 2 &amp; 3 — Velocity and the Release Forecast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elocity-forecast.png"/>
          <p:cNvPicPr>
            <a:picLocks noChangeAspect="1"/>
          </p:cNvPicPr>
          <p:nvPr/>
        </p:nvPicPr>
        <p:blipFill>
          <a:blip r:embed="rId2"/>
          <a:stretch>
            <a:fillRect/>
          </a:stretch>
        </p:blipFill>
        <p:spPr>
          <a:xfrm>
            <a:off x="777240" y="1828800"/>
            <a:ext cx="6400799" cy="2461549"/>
          </a:xfrm>
          <a:prstGeom prst="rect">
            <a:avLst/>
          </a:prstGeom>
        </p:spPr>
      </p:pic>
      <p:sp>
        <p:nvSpPr>
          <p:cNvPr id="8" name="Rectangle 7"/>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Velocity</a:t>
            </a:r>
          </a:p>
          <a:p>
            <a:pPr algn="l">
              <a:spcAft>
                <a:spcPts val="400"/>
              </a:spcAft>
            </a:pPr>
            <a:r>
              <a:rPr sz="1150" b="0">
                <a:solidFill>
                  <a:srgbClr val="161B26"/>
                </a:solidFill>
                <a:latin typeface="Arial"/>
              </a:rPr>
              <a:t>Average points DONE per sprint. A forecasting input, never a performance target.</a:t>
            </a:r>
          </a:p>
        </p:txBody>
      </p:sp>
      <p:sp>
        <p:nvSpPr>
          <p:cNvPr id="11" name="Rectangle 10"/>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Forecast as a range</a:t>
            </a:r>
          </a:p>
          <a:p>
            <a:pPr algn="l">
              <a:spcAft>
                <a:spcPts val="400"/>
              </a:spcAft>
            </a:pPr>
            <a:r>
              <a:rPr sz="1150" b="0">
                <a:solidFill>
                  <a:srgbClr val="161B26"/>
                </a:solidFill>
                <a:latin typeface="Arial"/>
              </a:rPr>
              <a:t>Slowest, average and fastest sprints give a cone, not a date.</a:t>
            </a:r>
          </a:p>
        </p:txBody>
      </p:sp>
      <p:sp>
        <p:nvSpPr>
          <p:cNvPr id="14" name="Rectangle 13"/>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State the assumptions</a:t>
            </a:r>
          </a:p>
          <a:p>
            <a:pPr algn="l">
              <a:spcAft>
                <a:spcPts val="400"/>
              </a:spcAft>
            </a:pPr>
            <a:r>
              <a:rPr sz="1150" b="0">
                <a:solidFill>
                  <a:srgbClr val="161B26"/>
                </a:solidFill>
                <a:latin typeface="Arial"/>
              </a:rPr>
              <a:t>Stable team, stable backlog, same estimation scale, no lost sprints.</a:t>
            </a:r>
          </a:p>
        </p:txBody>
      </p:sp>
      <p:sp>
        <p:nvSpPr>
          <p:cNvPr id="17" name="Rectangle 16"/>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The anti-pattern</a:t>
            </a:r>
          </a:p>
          <a:p>
            <a:pPr algn="l">
              <a:spcAft>
                <a:spcPts val="400"/>
              </a:spcAft>
            </a:pPr>
            <a:r>
              <a:rPr sz="1150" b="0">
                <a:solidFill>
                  <a:srgbClr val="161B26"/>
                </a:solidFill>
                <a:latin typeface="Arial"/>
              </a:rPr>
              <a:t>Reward velocity and you get estimate inflation — the forecast then breaks.</a:t>
            </a:r>
          </a:p>
        </p:txBody>
      </p:sp>
      <p:sp>
        <p:nvSpPr>
          <p:cNvPr id="20" name="TextBox 1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1" name="TextBox 2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03 · A4 · CYCLE TIME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Metric 4 — The Control Chart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ntrol-chart.png"/>
          <p:cNvPicPr>
            <a:picLocks noChangeAspect="1"/>
          </p:cNvPicPr>
          <p:nvPr/>
        </p:nvPicPr>
        <p:blipFill>
          <a:blip r:embed="rId2"/>
          <a:stretch>
            <a:fillRect/>
          </a:stretch>
        </p:blipFill>
        <p:spPr>
          <a:xfrm>
            <a:off x="777240" y="1828800"/>
            <a:ext cx="6400800" cy="3378963"/>
          </a:xfrm>
          <a:prstGeom prst="rect">
            <a:avLst/>
          </a:prstGeom>
        </p:spPr>
      </p:pic>
      <p:sp>
        <p:nvSpPr>
          <p:cNvPr id="8" name="Rectangle 7"/>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What it shows</a:t>
            </a:r>
          </a:p>
          <a:p>
            <a:pPr algn="l">
              <a:spcAft>
                <a:spcPts val="400"/>
              </a:spcAft>
            </a:pPr>
            <a:r>
              <a:rPr sz="1150" b="0">
                <a:solidFill>
                  <a:srgbClr val="161B26"/>
                </a:solidFill>
                <a:latin typeface="Arial"/>
              </a:rPr>
              <a:t>Cycle time and lead time per work item, and the trend across sprints.</a:t>
            </a:r>
          </a:p>
        </p:txBody>
      </p:sp>
      <p:sp>
        <p:nvSpPr>
          <p:cNvPr id="11" name="Rectangle 10"/>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Lead vs cycle time</a:t>
            </a:r>
          </a:p>
          <a:p>
            <a:pPr algn="l">
              <a:spcAft>
                <a:spcPts val="400"/>
              </a:spcAft>
            </a:pPr>
            <a:r>
              <a:rPr sz="1150" b="0">
                <a:solidFill>
                  <a:srgbClr val="161B26"/>
                </a:solidFill>
                <a:latin typeface="Arial"/>
              </a:rPr>
              <a:t>Lead time is the customer's whole wait; cycle time is the team's active portion.</a:t>
            </a:r>
          </a:p>
        </p:txBody>
      </p:sp>
      <p:sp>
        <p:nvSpPr>
          <p:cNvPr id="14" name="Rectangle 13"/>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The warning sign</a:t>
            </a:r>
          </a:p>
          <a:p>
            <a:pPr algn="l">
              <a:spcAft>
                <a:spcPts val="400"/>
              </a:spcAft>
            </a:pPr>
            <a:r>
              <a:rPr sz="1150" b="0">
                <a:solidFill>
                  <a:srgbClr val="161B26"/>
                </a:solidFill>
                <a:latin typeface="Arial"/>
              </a:rPr>
              <a:t>Velocity rising AND cycle time rising means WIP is rising.</a:t>
            </a:r>
          </a:p>
        </p:txBody>
      </p:sp>
      <p:sp>
        <p:nvSpPr>
          <p:cNvPr id="17" name="Rectangle 16"/>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What to do</a:t>
            </a:r>
          </a:p>
          <a:p>
            <a:pPr algn="l">
              <a:spcAft>
                <a:spcPts val="400"/>
              </a:spcAft>
            </a:pPr>
            <a:r>
              <a:rPr sz="1150" b="0">
                <a:solidFill>
                  <a:srgbClr val="161B26"/>
                </a:solidFill>
                <a:latin typeface="Arial"/>
              </a:rPr>
              <a:t>Lower the WIP limit at the constraint. Stop starting, start finishing.</a:t>
            </a:r>
          </a:p>
        </p:txBody>
      </p:sp>
      <p:sp>
        <p:nvSpPr>
          <p:cNvPr id="20" name="TextBox 1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1" name="TextBox 2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TOPIC 03 · A4 · FINDING THE BOTTLENECK</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Metric 5 — The Cumulative Flow Diagram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umulative-flow.png"/>
          <p:cNvPicPr>
            <a:picLocks noChangeAspect="1"/>
          </p:cNvPicPr>
          <p:nvPr/>
        </p:nvPicPr>
        <p:blipFill>
          <a:blip r:embed="rId2"/>
          <a:stretch>
            <a:fillRect/>
          </a:stretch>
        </p:blipFill>
        <p:spPr>
          <a:xfrm>
            <a:off x="777240" y="1828800"/>
            <a:ext cx="6400800" cy="3502526"/>
          </a:xfrm>
          <a:prstGeom prst="rect">
            <a:avLst/>
          </a:prstGeom>
        </p:spPr>
      </p:pic>
      <p:sp>
        <p:nvSpPr>
          <p:cNvPr id="8" name="Rectangle 7"/>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What it shows</a:t>
            </a:r>
          </a:p>
          <a:p>
            <a:pPr algn="l">
              <a:spcAft>
                <a:spcPts val="400"/>
              </a:spcAft>
            </a:pPr>
            <a:r>
              <a:rPr sz="1150" b="0">
                <a:solidFill>
                  <a:srgbClr val="161B26"/>
                </a:solidFill>
                <a:latin typeface="Arial"/>
              </a:rPr>
              <a:t>The count of items in each status over time, as stacked bands.</a:t>
            </a:r>
          </a:p>
        </p:txBody>
      </p:sp>
      <p:sp>
        <p:nvSpPr>
          <p:cNvPr id="11" name="Rectangle 10"/>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Read the widening band</a:t>
            </a:r>
          </a:p>
          <a:p>
            <a:pPr algn="l">
              <a:spcAft>
                <a:spcPts val="400"/>
              </a:spcAft>
            </a:pPr>
            <a:r>
              <a:rPr sz="1150" b="0">
                <a:solidFill>
                  <a:srgbClr val="161B26"/>
                </a:solidFill>
                <a:latin typeface="Arial"/>
              </a:rPr>
              <a:t>A band widening vertically is a bottleneck at THAT status.</a:t>
            </a:r>
          </a:p>
        </p:txBody>
      </p:sp>
      <p:sp>
        <p:nvSpPr>
          <p:cNvPr id="14" name="Rectangle 13"/>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Read the flat Done band</a:t>
            </a:r>
          </a:p>
          <a:p>
            <a:pPr algn="l">
              <a:spcAft>
                <a:spcPts val="400"/>
              </a:spcAft>
            </a:pPr>
            <a:r>
              <a:rPr sz="1150" b="0">
                <a:solidFill>
                  <a:srgbClr val="161B26"/>
                </a:solidFill>
                <a:latin typeface="Arial"/>
              </a:rPr>
              <a:t>Flat 'Done' means nothing is being completed, whatever the team is busy with.</a:t>
            </a:r>
          </a:p>
        </p:txBody>
      </p:sp>
      <p:sp>
        <p:nvSpPr>
          <p:cNvPr id="17" name="Rectangle 16"/>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Act on the constraint</a:t>
            </a:r>
          </a:p>
          <a:p>
            <a:pPr algn="l">
              <a:spcAft>
                <a:spcPts val="400"/>
              </a:spcAft>
            </a:pPr>
            <a:r>
              <a:rPr sz="1150" b="0">
                <a:solidFill>
                  <a:srgbClr val="161B26"/>
                </a:solidFill>
                <a:latin typeface="Arial"/>
              </a:rPr>
              <a:t>Move capacity to the widening column — not to the busiest-looking one.</a:t>
            </a:r>
          </a:p>
        </p:txBody>
      </p:sp>
      <p:sp>
        <p:nvSpPr>
          <p:cNvPr id="20" name="TextBox 1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1" name="TextBox 2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03 · CYCLE TIME = WIP ÷ THROUGHPUT</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Little's Law — Why Limiting WIP Speeds Delivery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1810512"/>
            <a:ext cx="2545506"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Scenario</a:t>
            </a:r>
          </a:p>
        </p:txBody>
      </p:sp>
      <p:sp>
        <p:nvSpPr>
          <p:cNvPr id="9" name="TextBox 8"/>
          <p:cNvSpPr txBox="1"/>
          <p:nvPr/>
        </p:nvSpPr>
        <p:spPr>
          <a:xfrm>
            <a:off x="3688506" y="1810512"/>
            <a:ext cx="2403713"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WIP</a:t>
            </a:r>
          </a:p>
        </p:txBody>
      </p:sp>
      <p:sp>
        <p:nvSpPr>
          <p:cNvPr id="10" name="TextBox 9"/>
          <p:cNvSpPr txBox="1"/>
          <p:nvPr/>
        </p:nvSpPr>
        <p:spPr>
          <a:xfrm>
            <a:off x="6311675" y="1810512"/>
            <a:ext cx="2403713"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Throughput</a:t>
            </a:r>
          </a:p>
        </p:txBody>
      </p:sp>
      <p:sp>
        <p:nvSpPr>
          <p:cNvPr id="11" name="TextBox 10"/>
          <p:cNvSpPr txBox="1"/>
          <p:nvPr/>
        </p:nvSpPr>
        <p:spPr>
          <a:xfrm>
            <a:off x="8934844" y="1810512"/>
            <a:ext cx="2403713" cy="457200"/>
          </a:xfrm>
          <a:prstGeom prst="rect">
            <a:avLst/>
          </a:prstGeom>
          <a:noFill/>
        </p:spPr>
        <p:txBody>
          <a:bodyPr wrap="square" anchor="ctr" lIns="0" rIns="0" tIns="0" bIns="0">
            <a:spAutoFit/>
          </a:bodyPr>
          <a:lstStyle/>
          <a:p>
            <a:pPr algn="l">
              <a:spcAft>
                <a:spcPts val="400"/>
              </a:spcAft>
            </a:pPr>
            <a:r>
              <a:rPr sz="1300" b="1">
                <a:solidFill>
                  <a:srgbClr val="FFFFFF"/>
                </a:solidFill>
                <a:latin typeface="Arial"/>
              </a:rPr>
              <a:t>Cycle time</a:t>
            </a:r>
          </a:p>
        </p:txBody>
      </p:sp>
      <p:sp>
        <p:nvSpPr>
          <p:cNvPr id="12" name="Rectangle 11"/>
          <p:cNvSpPr/>
          <p:nvPr/>
        </p:nvSpPr>
        <p:spPr>
          <a:xfrm>
            <a:off x="777240" y="2267712"/>
            <a:ext cx="10634472"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267712"/>
            <a:ext cx="2545506" cy="658368"/>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Team starts everything</a:t>
            </a:r>
          </a:p>
        </p:txBody>
      </p:sp>
      <p:sp>
        <p:nvSpPr>
          <p:cNvPr id="14" name="TextBox 13"/>
          <p:cNvSpPr txBox="1"/>
          <p:nvPr/>
        </p:nvSpPr>
        <p:spPr>
          <a:xfrm>
            <a:off x="3688506" y="2267712"/>
            <a:ext cx="2403713"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30 items</a:t>
            </a:r>
          </a:p>
        </p:txBody>
      </p:sp>
      <p:sp>
        <p:nvSpPr>
          <p:cNvPr id="15" name="TextBox 14"/>
          <p:cNvSpPr txBox="1"/>
          <p:nvPr/>
        </p:nvSpPr>
        <p:spPr>
          <a:xfrm>
            <a:off x="6311675" y="2267712"/>
            <a:ext cx="2403713"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5 items/week</a:t>
            </a:r>
          </a:p>
        </p:txBody>
      </p:sp>
      <p:sp>
        <p:nvSpPr>
          <p:cNvPr id="16" name="TextBox 15"/>
          <p:cNvSpPr txBox="1"/>
          <p:nvPr/>
        </p:nvSpPr>
        <p:spPr>
          <a:xfrm>
            <a:off x="8934844" y="2267712"/>
            <a:ext cx="2403713"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6 weeks</a:t>
            </a:r>
          </a:p>
        </p:txBody>
      </p:sp>
      <p:sp>
        <p:nvSpPr>
          <p:cNvPr id="17" name="Rectangle 16"/>
          <p:cNvSpPr/>
          <p:nvPr/>
        </p:nvSpPr>
        <p:spPr>
          <a:xfrm>
            <a:off x="777240" y="2926080"/>
            <a:ext cx="10634472" cy="6583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 y="2926080"/>
            <a:ext cx="2545506" cy="658368"/>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Team halves WIP</a:t>
            </a:r>
          </a:p>
        </p:txBody>
      </p:sp>
      <p:sp>
        <p:nvSpPr>
          <p:cNvPr id="19" name="TextBox 18"/>
          <p:cNvSpPr txBox="1"/>
          <p:nvPr/>
        </p:nvSpPr>
        <p:spPr>
          <a:xfrm>
            <a:off x="3688506" y="2926080"/>
            <a:ext cx="2403713"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15 items</a:t>
            </a:r>
          </a:p>
        </p:txBody>
      </p:sp>
      <p:sp>
        <p:nvSpPr>
          <p:cNvPr id="20" name="TextBox 19"/>
          <p:cNvSpPr txBox="1"/>
          <p:nvPr/>
        </p:nvSpPr>
        <p:spPr>
          <a:xfrm>
            <a:off x="6311675" y="2926080"/>
            <a:ext cx="2403713"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5 items/week</a:t>
            </a:r>
          </a:p>
        </p:txBody>
      </p:sp>
      <p:sp>
        <p:nvSpPr>
          <p:cNvPr id="21" name="TextBox 20"/>
          <p:cNvSpPr txBox="1"/>
          <p:nvPr/>
        </p:nvSpPr>
        <p:spPr>
          <a:xfrm>
            <a:off x="8934844" y="2926080"/>
            <a:ext cx="2403713"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3 weeks</a:t>
            </a:r>
          </a:p>
        </p:txBody>
      </p:sp>
      <p:sp>
        <p:nvSpPr>
          <p:cNvPr id="22" name="Rectangle 21"/>
          <p:cNvSpPr/>
          <p:nvPr/>
        </p:nvSpPr>
        <p:spPr>
          <a:xfrm>
            <a:off x="777240" y="3584448"/>
            <a:ext cx="10634472" cy="65836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 y="3584448"/>
            <a:ext cx="2545506" cy="658368"/>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Team quarters WIP</a:t>
            </a:r>
          </a:p>
        </p:txBody>
      </p:sp>
      <p:sp>
        <p:nvSpPr>
          <p:cNvPr id="24" name="TextBox 23"/>
          <p:cNvSpPr txBox="1"/>
          <p:nvPr/>
        </p:nvSpPr>
        <p:spPr>
          <a:xfrm>
            <a:off x="3688506" y="3584448"/>
            <a:ext cx="2403713"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8 items</a:t>
            </a:r>
          </a:p>
        </p:txBody>
      </p:sp>
      <p:sp>
        <p:nvSpPr>
          <p:cNvPr id="25" name="TextBox 24"/>
          <p:cNvSpPr txBox="1"/>
          <p:nvPr/>
        </p:nvSpPr>
        <p:spPr>
          <a:xfrm>
            <a:off x="6311675" y="3584448"/>
            <a:ext cx="2403713"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5 items/week</a:t>
            </a:r>
          </a:p>
        </p:txBody>
      </p:sp>
      <p:sp>
        <p:nvSpPr>
          <p:cNvPr id="26" name="TextBox 25"/>
          <p:cNvSpPr txBox="1"/>
          <p:nvPr/>
        </p:nvSpPr>
        <p:spPr>
          <a:xfrm>
            <a:off x="8934844" y="3584448"/>
            <a:ext cx="2403713" cy="658368"/>
          </a:xfrm>
          <a:prstGeom prst="rect">
            <a:avLst/>
          </a:prstGeom>
          <a:noFill/>
        </p:spPr>
        <p:txBody>
          <a:bodyPr wrap="square" anchor="ctr" lIns="0" rIns="0" tIns="0" bIns="0">
            <a:spAutoFit/>
          </a:bodyPr>
          <a:lstStyle/>
          <a:p>
            <a:pPr algn="l">
              <a:spcAft>
                <a:spcPts val="400"/>
              </a:spcAft>
            </a:pPr>
            <a:r>
              <a:rPr sz="1200" b="0">
                <a:solidFill>
                  <a:srgbClr val="161B26"/>
                </a:solidFill>
                <a:latin typeface="Arial"/>
              </a:rPr>
              <a:t>1.6 weeks</a:t>
            </a:r>
          </a:p>
        </p:txBody>
      </p:sp>
      <p:sp>
        <p:nvSpPr>
          <p:cNvPr id="27" name="Rectangle 26"/>
          <p:cNvSpPr/>
          <p:nvPr/>
        </p:nvSpPr>
        <p:spPr>
          <a:xfrm>
            <a:off x="777240" y="4407408"/>
            <a:ext cx="10634472" cy="6217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07408"/>
            <a:ext cx="91440" cy="6217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407408"/>
            <a:ext cx="10177272" cy="621792"/>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Throughput did not change in any row. Only WIP changed — and cycle time fell with it. This is arithmetic, not opinion.</a:t>
            </a:r>
          </a:p>
        </p:txBody>
      </p:sp>
      <p:sp>
        <p:nvSpPr>
          <p:cNvPr id="30" name="TextBox 2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1" name="TextBox 3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27A3E"/>
                </a:solidFill>
                <a:latin typeface="Arial"/>
              </a:rPr>
              <a:t>TOPIC 03 · A6 · CONTINUOUS IMPROVEMENT</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Retrospective in Five Stages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tro-stages.png"/>
          <p:cNvPicPr>
            <a:picLocks noChangeAspect="1"/>
          </p:cNvPicPr>
          <p:nvPr/>
        </p:nvPicPr>
        <p:blipFill>
          <a:blip r:embed="rId2"/>
          <a:stretch>
            <a:fillRect/>
          </a:stretch>
        </p:blipFill>
        <p:spPr>
          <a:xfrm>
            <a:off x="792327" y="1810512"/>
            <a:ext cx="10607040" cy="3458644"/>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The retrospective is the engine of improvement. Without an owned, funded action, it is just a feelings meeting.</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03 · A6 · DIAGNOSIS BEFORE ACTION</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Root-Cause Tools — Use Them Together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2466594"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5 Whys</a:t>
            </a:r>
          </a:p>
        </p:txBody>
      </p:sp>
      <p:sp>
        <p:nvSpPr>
          <p:cNvPr id="12" name="TextBox 11"/>
          <p:cNvSpPr txBox="1"/>
          <p:nvPr/>
        </p:nvSpPr>
        <p:spPr>
          <a:xfrm>
            <a:off x="1014984"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Drills ONE causal chain to a process cause you can change. Activity 6.</a:t>
            </a:r>
          </a:p>
        </p:txBody>
      </p:sp>
      <p:sp>
        <p:nvSpPr>
          <p:cNvPr id="13" name="Rectangle 12"/>
          <p:cNvSpPr/>
          <p:nvPr/>
        </p:nvSpPr>
        <p:spPr>
          <a:xfrm>
            <a:off x="3499866" y="1810512"/>
            <a:ext cx="2466594"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19322"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32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4213098" y="1956816"/>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Fishbone</a:t>
            </a:r>
          </a:p>
        </p:txBody>
      </p:sp>
      <p:sp>
        <p:nvSpPr>
          <p:cNvPr id="18" name="TextBox 17"/>
          <p:cNvSpPr txBox="1"/>
          <p:nvPr/>
        </p:nvSpPr>
        <p:spPr>
          <a:xfrm>
            <a:off x="3737610"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Spreads causes across categories to see the whole problem. Activity 2.</a:t>
            </a:r>
          </a:p>
        </p:txBody>
      </p:sp>
      <p:sp>
        <p:nvSpPr>
          <p:cNvPr id="19" name="Rectangle 18"/>
          <p:cNvSpPr/>
          <p:nvPr/>
        </p:nvSpPr>
        <p:spPr>
          <a:xfrm>
            <a:off x="6222492" y="1810512"/>
            <a:ext cx="2466594"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1948"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6935724" y="1956816"/>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Pareto</a:t>
            </a:r>
          </a:p>
        </p:txBody>
      </p:sp>
      <p:sp>
        <p:nvSpPr>
          <p:cNvPr id="24" name="TextBox 23"/>
          <p:cNvSpPr txBox="1"/>
          <p:nvPr/>
        </p:nvSpPr>
        <p:spPr>
          <a:xfrm>
            <a:off x="6460236"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Shows which few causes carry most of the pain. Activity 7.</a:t>
            </a:r>
          </a:p>
        </p:txBody>
      </p:sp>
      <p:sp>
        <p:nvSpPr>
          <p:cNvPr id="25" name="Rectangle 24"/>
          <p:cNvSpPr/>
          <p:nvPr/>
        </p:nvSpPr>
        <p:spPr>
          <a:xfrm>
            <a:off x="8945118" y="1810512"/>
            <a:ext cx="2466594" cy="278892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1810512"/>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4574"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457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58350" y="1956816"/>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PDCA / Kaizen</a:t>
            </a:r>
          </a:p>
        </p:txBody>
      </p:sp>
      <p:sp>
        <p:nvSpPr>
          <p:cNvPr id="30" name="TextBox 29"/>
          <p:cNvSpPr txBox="1"/>
          <p:nvPr/>
        </p:nvSpPr>
        <p:spPr>
          <a:xfrm>
            <a:off x="9182862"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Plan-Do-Check-Act: the loop that carries the fix into the next sprint.</a:t>
            </a:r>
          </a:p>
        </p:txBody>
      </p:sp>
      <p:sp>
        <p:nvSpPr>
          <p:cNvPr id="31" name="Rectangle 30"/>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64608"/>
            <a:ext cx="91440"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7C3AED"/>
                </a:solidFill>
                <a:latin typeface="Arial"/>
              </a:rPr>
              <a:t>THE SEQUENCE THAT WORKS</a:t>
            </a:r>
          </a:p>
        </p:txBody>
      </p:sp>
      <p:sp>
        <p:nvSpPr>
          <p:cNvPr id="34" name="TextBox 33"/>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Fishbone to see the whole space, Pareto to pick the few that matter, 5 Whys to reach the changeable cause, then one SMART action with an owner and points in the next sprint.</a:t>
            </a:r>
          </a:p>
        </p:txBody>
      </p:sp>
      <p:sp>
        <p:nvSpPr>
          <p:cNvPr id="35" name="TextBox 3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6" name="TextBox 3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DC2626"/>
                </a:solidFill>
                <a:latin typeface="Arial"/>
              </a:rPr>
              <a:t>TOPIC 03 · A3 · PRIORITISING THE FIX</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Pareto — Which Few Causes Carry Most of the Pain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reto-defects.png"/>
          <p:cNvPicPr>
            <a:picLocks noChangeAspect="1"/>
          </p:cNvPicPr>
          <p:nvPr/>
        </p:nvPicPr>
        <p:blipFill>
          <a:blip r:embed="rId2"/>
          <a:stretch>
            <a:fillRect/>
          </a:stretch>
        </p:blipFill>
        <p:spPr>
          <a:xfrm>
            <a:off x="777240" y="1828800"/>
            <a:ext cx="6400800" cy="3443531"/>
          </a:xfrm>
          <a:prstGeom prst="rect">
            <a:avLst/>
          </a:prstGeom>
        </p:spPr>
      </p:pic>
      <p:sp>
        <p:nvSpPr>
          <p:cNvPr id="8" name="Rectangle 7"/>
          <p:cNvSpPr/>
          <p:nvPr/>
        </p:nvSpPr>
        <p:spPr>
          <a:xfrm>
            <a:off x="777240" y="5742432"/>
            <a:ext cx="6400800"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6126480" cy="384048"/>
          </a:xfrm>
          <a:prstGeom prst="rect">
            <a:avLst/>
          </a:prstGeom>
          <a:noFill/>
        </p:spPr>
        <p:txBody>
          <a:bodyPr wrap="square" anchor="ctr" lIns="0" rIns="0" tIns="0" bIns="0">
            <a:spAutoFit/>
          </a:bodyPr>
          <a:lstStyle/>
          <a:p>
            <a:pPr algn="l">
              <a:spcAft>
                <a:spcPts val="400"/>
              </a:spcAft>
            </a:pPr>
            <a:r>
              <a:rPr sz="1100" b="0">
                <a:solidFill>
                  <a:srgbClr val="5B6372"/>
                </a:solidFill>
                <a:latin typeface="Arial"/>
              </a:rPr>
              <a:t>The real CustomerConnect defect data you will analyse in Activity 7 — 120 defects across 8 causes.</a:t>
            </a:r>
          </a:p>
        </p:txBody>
      </p:sp>
      <p:sp>
        <p:nvSpPr>
          <p:cNvPr id="10" name="Rectangle 9"/>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The 80/20 pattern</a:t>
            </a:r>
          </a:p>
          <a:p>
            <a:pPr algn="l">
              <a:spcAft>
                <a:spcPts val="400"/>
              </a:spcAft>
            </a:pPr>
            <a:r>
              <a:rPr sz="1150" b="0">
                <a:solidFill>
                  <a:srgbClr val="161B26"/>
                </a:solidFill>
                <a:latin typeface="Arial"/>
              </a:rPr>
              <a:t>A small number of causes generate most of the defects — reliably, across domains.</a:t>
            </a:r>
          </a:p>
        </p:txBody>
      </p:sp>
      <p:sp>
        <p:nvSpPr>
          <p:cNvPr id="13" name="Rectangle 12"/>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Always sort descending</a:t>
            </a:r>
          </a:p>
          <a:p>
            <a:pPr algn="l">
              <a:spcAft>
                <a:spcPts val="400"/>
              </a:spcAft>
            </a:pPr>
            <a:r>
              <a:rPr sz="1150" b="0">
                <a:solidFill>
                  <a:srgbClr val="161B26"/>
                </a:solidFill>
                <a:latin typeface="Arial"/>
              </a:rPr>
              <a:t>An unsorted Pareto chart cannot be read. The cumulative line depends on the order.</a:t>
            </a:r>
          </a:p>
        </p:txBody>
      </p:sp>
      <p:sp>
        <p:nvSpPr>
          <p:cNvPr id="16" name="Rectangle 15"/>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Find the crossing point</a:t>
            </a:r>
          </a:p>
          <a:p>
            <a:pPr algn="l">
              <a:spcAft>
                <a:spcPts val="400"/>
              </a:spcAft>
            </a:pPr>
            <a:r>
              <a:rPr sz="1150" b="0">
                <a:solidFill>
                  <a:srgbClr val="161B26"/>
                </a:solidFill>
                <a:latin typeface="Arial"/>
              </a:rPr>
              <a:t>Read where the cumulative line crosses 80% — those are the vital few.</a:t>
            </a:r>
          </a:p>
        </p:txBody>
      </p:sp>
      <p:sp>
        <p:nvSpPr>
          <p:cNvPr id="19" name="Rectangle 18"/>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Decide, don't admire</a:t>
            </a:r>
          </a:p>
          <a:p>
            <a:pPr algn="l">
              <a:spcAft>
                <a:spcPts val="400"/>
              </a:spcAft>
            </a:pPr>
            <a:r>
              <a:rPr sz="1150" b="0">
                <a:solidFill>
                  <a:srgbClr val="161B26"/>
                </a:solidFill>
                <a:latin typeface="Arial"/>
              </a:rPr>
              <a:t>The chart's purpose is to justify what you will NOT fix this sprint.</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DC2626"/>
                </a:solidFill>
                <a:latin typeface="Arial"/>
              </a:rPr>
              <a:t>TOPIC 03 · A3 · REDUCING WASTE</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Value Stream Mapping — Where the Time Actually Goes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alue-stream-map.png"/>
          <p:cNvPicPr>
            <a:picLocks noChangeAspect="1"/>
          </p:cNvPicPr>
          <p:nvPr/>
        </p:nvPicPr>
        <p:blipFill>
          <a:blip r:embed="rId2"/>
          <a:stretch>
            <a:fillRect/>
          </a:stretch>
        </p:blipFill>
        <p:spPr>
          <a:xfrm>
            <a:off x="1121146" y="1810512"/>
            <a:ext cx="9949402" cy="3931920"/>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13 days of work inside 125 days of lead time — 10% efficiency. The opportunity is in the waiting, not the working.</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DC2626"/>
                </a:solidFill>
                <a:latin typeface="Arial"/>
              </a:rPr>
              <a:t>TOPIC 03 · MANAGING UNCERTAINTY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Risk as Anti-Value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Risk is negative value</a:t>
            </a:r>
          </a:p>
          <a:p>
            <a:pPr algn="l">
              <a:spcAft>
                <a:spcPts val="300"/>
              </a:spcAft>
            </a:pPr>
            <a:r>
              <a:rPr sz="1100" b="0">
                <a:solidFill>
                  <a:srgbClr val="5B6372"/>
                </a:solidFill>
                <a:latin typeface="Arial"/>
              </a:rPr>
              <a:t>It erodes or removes value, so it belongs in the same conversation as value.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7627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Risk-adjusted backlog</a:t>
            </a:r>
          </a:p>
          <a:p>
            <a:pPr algn="l">
              <a:spcAft>
                <a:spcPts val="300"/>
              </a:spcAft>
            </a:pPr>
            <a:r>
              <a:rPr sz="1100" b="0">
                <a:solidFill>
                  <a:srgbClr val="5B6372"/>
                </a:solidFill>
                <a:latin typeface="Arial"/>
              </a:rPr>
              <a:t>High-risk, high-value items are pulled earlier to retire uncertainty.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Expected monetary value</a:t>
            </a:r>
          </a:p>
          <a:p>
            <a:pPr algn="l">
              <a:spcAft>
                <a:spcPts val="300"/>
              </a:spcAft>
            </a:pPr>
            <a:r>
              <a:rPr sz="1100" b="0">
                <a:solidFill>
                  <a:srgbClr val="5B6372"/>
                </a:solidFill>
                <a:latin typeface="Arial"/>
              </a:rPr>
              <a:t>Probability × impact, so risks can be compared honestly.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9000"/>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Risk burndown chart</a:t>
            </a:r>
          </a:p>
          <a:p>
            <a:pPr algn="l">
              <a:spcAft>
                <a:spcPts val="300"/>
              </a:spcAft>
            </a:pPr>
            <a:r>
              <a:rPr sz="1100" b="0">
                <a:solidFill>
                  <a:srgbClr val="5B6372"/>
                </a:solidFill>
                <a:latin typeface="Arial"/>
              </a:rPr>
              <a:t>Tracks total exposure falling sprint by sprint.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865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Spikes</a:t>
            </a:r>
          </a:p>
          <a:p>
            <a:pPr algn="l">
              <a:spcAft>
                <a:spcPts val="300"/>
              </a:spcAft>
            </a:pPr>
            <a:r>
              <a:rPr sz="1100" b="0">
                <a:solidFill>
                  <a:srgbClr val="5B6372"/>
                </a:solidFill>
                <a:latin typeface="Arial"/>
              </a:rPr>
              <a:t>A timeboxed investigation to reduce a specific technical or risk unknown.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865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65192"/>
            <a:ext cx="4027932" cy="1133856"/>
          </a:xfrm>
          <a:prstGeom prst="rect">
            <a:avLst/>
          </a:prstGeom>
          <a:noFill/>
        </p:spPr>
        <p:txBody>
          <a:bodyPr wrap="square" anchor="ctr" lIns="0" rIns="0" tIns="0" bIns="0">
            <a:spAutoFit/>
          </a:bodyPr>
          <a:lstStyle/>
          <a:p>
            <a:pPr algn="l">
              <a:spcAft>
                <a:spcPts val="300"/>
              </a:spcAft>
            </a:pPr>
            <a:r>
              <a:rPr sz="1400" b="1">
                <a:solidFill>
                  <a:srgbClr val="161B26"/>
                </a:solidFill>
                <a:latin typeface="Arial"/>
              </a:rPr>
              <a:t>Schedule risk work as real items</a:t>
            </a:r>
          </a:p>
          <a:p>
            <a:pPr algn="l">
              <a:spcAft>
                <a:spcPts val="300"/>
              </a:spcAft>
            </a:pPr>
            <a:r>
              <a:rPr sz="1100" b="0">
                <a:solidFill>
                  <a:srgbClr val="5B6372"/>
                </a:solidFill>
                <a:latin typeface="Arial"/>
              </a:rPr>
              <a:t>A risk register nobody funds changes nothing.</a:t>
            </a:r>
          </a:p>
        </p:txBody>
      </p:sp>
      <p:sp>
        <p:nvSpPr>
          <p:cNvPr id="37" name="TextBox 3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8" name="TextBox 3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03 · A7 · TAKING OWNERSHIP</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Technical Debt and Ownership (A7)</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2466594" cy="278892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2788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Debt compounds</a:t>
            </a:r>
          </a:p>
        </p:txBody>
      </p:sp>
      <p:sp>
        <p:nvSpPr>
          <p:cNvPr id="12" name="TextBox 11"/>
          <p:cNvSpPr txBox="1"/>
          <p:nvPr/>
        </p:nvSpPr>
        <p:spPr>
          <a:xfrm>
            <a:off x="1014984"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Work skipped to go faster makes every later sprint slower.</a:t>
            </a:r>
          </a:p>
        </p:txBody>
      </p:sp>
      <p:sp>
        <p:nvSpPr>
          <p:cNvPr id="13" name="Rectangle 12"/>
          <p:cNvSpPr/>
          <p:nvPr/>
        </p:nvSpPr>
        <p:spPr>
          <a:xfrm>
            <a:off x="3499866" y="1810512"/>
            <a:ext cx="2466594" cy="278892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1810512"/>
            <a:ext cx="82296" cy="2788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19322"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32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4213098" y="1956816"/>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Fund refactoring inside the sprint</a:t>
            </a:r>
          </a:p>
        </p:txBody>
      </p:sp>
      <p:sp>
        <p:nvSpPr>
          <p:cNvPr id="18" name="TextBox 17"/>
          <p:cNvSpPr txBox="1"/>
          <p:nvPr/>
        </p:nvSpPr>
        <p:spPr>
          <a:xfrm>
            <a:off x="3737610"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'Later' never arrives on its own.</a:t>
            </a:r>
          </a:p>
        </p:txBody>
      </p:sp>
      <p:sp>
        <p:nvSpPr>
          <p:cNvPr id="19" name="Rectangle 18"/>
          <p:cNvSpPr/>
          <p:nvPr/>
        </p:nvSpPr>
        <p:spPr>
          <a:xfrm>
            <a:off x="6222492" y="1810512"/>
            <a:ext cx="2466594" cy="278892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1810512"/>
            <a:ext cx="82296" cy="2788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1948"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6935724" y="1956816"/>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Collective commitment</a:t>
            </a:r>
          </a:p>
        </p:txBody>
      </p:sp>
      <p:sp>
        <p:nvSpPr>
          <p:cNvPr id="24" name="TextBox 23"/>
          <p:cNvSpPr txBox="1"/>
          <p:nvPr/>
        </p:nvSpPr>
        <p:spPr>
          <a:xfrm>
            <a:off x="6460236"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The team commits to the Sprint Goal together, then each member pulls their own work.</a:t>
            </a:r>
          </a:p>
        </p:txBody>
      </p:sp>
      <p:sp>
        <p:nvSpPr>
          <p:cNvPr id="25" name="Rectangle 24"/>
          <p:cNvSpPr/>
          <p:nvPr/>
        </p:nvSpPr>
        <p:spPr>
          <a:xfrm>
            <a:off x="8945118" y="1810512"/>
            <a:ext cx="2466594" cy="278892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1810512"/>
            <a:ext cx="82296" cy="2788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4574"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457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58350" y="1956816"/>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Raise impediments same-day</a:t>
            </a:r>
          </a:p>
        </p:txBody>
      </p:sp>
      <p:sp>
        <p:nvSpPr>
          <p:cNvPr id="30" name="TextBox 29"/>
          <p:cNvSpPr txBox="1"/>
          <p:nvPr/>
        </p:nvSpPr>
        <p:spPr>
          <a:xfrm>
            <a:off x="9182862" y="2505456"/>
            <a:ext cx="2009394" cy="1965960"/>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Surfacing a blocker on day 9 is the failure — not the blocker itself.</a:t>
            </a:r>
          </a:p>
        </p:txBody>
      </p:sp>
      <p:sp>
        <p:nvSpPr>
          <p:cNvPr id="31" name="Rectangle 30"/>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64608"/>
            <a:ext cx="91440"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0B981"/>
                </a:solidFill>
                <a:latin typeface="Arial"/>
              </a:rPr>
              <a:t>WHAT ACCOUNTABILITY LOOKS LIKE</a:t>
            </a:r>
          </a:p>
        </p:txBody>
      </p:sp>
      <p:sp>
        <p:nvSpPr>
          <p:cNvPr id="34" name="TextBox 33"/>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An honest board, a same-day impediment, and a 'Done' that means Done. Every metric in this topic depends on those three behaviours.</a:t>
            </a:r>
          </a:p>
        </p:txBody>
      </p:sp>
      <p:sp>
        <p:nvSpPr>
          <p:cNvPr id="35" name="TextBox 3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6" name="TextBox 3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500" b="1">
                <a:solidFill>
                  <a:srgbClr val="161B26"/>
                </a:solidFill>
                <a:latin typeface="Arial"/>
              </a:rPr>
              <a:t>Hands-On Activities — Agile Project Execution and Tracking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5189220" cy="1284732"/>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12847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4293108"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Activity 5 · Execute Sprint 1 and Track It on the Scrum Board</a:t>
            </a:r>
          </a:p>
        </p:txBody>
      </p:sp>
      <p:sp>
        <p:nvSpPr>
          <p:cNvPr id="12" name="TextBox 11"/>
          <p:cNvSpPr txBox="1"/>
          <p:nvPr/>
        </p:nvSpPr>
        <p:spPr>
          <a:xfrm>
            <a:off x="1014984" y="2505456"/>
            <a:ext cx="4732020"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Tool: Scrum Board
60 minutes  ·  LO3</a:t>
            </a:r>
          </a:p>
        </p:txBody>
      </p:sp>
      <p:sp>
        <p:nvSpPr>
          <p:cNvPr id="13" name="Rectangle 12"/>
          <p:cNvSpPr/>
          <p:nvPr/>
        </p:nvSpPr>
        <p:spPr>
          <a:xfrm>
            <a:off x="6222492" y="1810512"/>
            <a:ext cx="5189220" cy="12847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22492" y="1810512"/>
            <a:ext cx="82296" cy="12847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41948"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6935724" y="1956816"/>
            <a:ext cx="4293108"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Activity 6 · Run the Sprint Retrospective with 5 Whys Root-Cause Analysis</a:t>
            </a:r>
          </a:p>
        </p:txBody>
      </p:sp>
      <p:sp>
        <p:nvSpPr>
          <p:cNvPr id="18" name="TextBox 17"/>
          <p:cNvSpPr txBox="1"/>
          <p:nvPr/>
        </p:nvSpPr>
        <p:spPr>
          <a:xfrm>
            <a:off x="6460236" y="2505456"/>
            <a:ext cx="4732020"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Tool: 5 Whys
45 minutes  ·  LO3</a:t>
            </a:r>
          </a:p>
        </p:txBody>
      </p:sp>
      <p:sp>
        <p:nvSpPr>
          <p:cNvPr id="19" name="Rectangle 18"/>
          <p:cNvSpPr/>
          <p:nvPr/>
        </p:nvSpPr>
        <p:spPr>
          <a:xfrm>
            <a:off x="777240" y="3314700"/>
            <a:ext cx="5189220" cy="1284732"/>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314700"/>
            <a:ext cx="82296" cy="12847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96696" y="3497580"/>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1490472" y="3461004"/>
            <a:ext cx="4293108"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Activity 7 · Prioritise Defect Causes with a Pareto Chart</a:t>
            </a:r>
          </a:p>
        </p:txBody>
      </p:sp>
      <p:sp>
        <p:nvSpPr>
          <p:cNvPr id="24" name="TextBox 23"/>
          <p:cNvSpPr txBox="1"/>
          <p:nvPr/>
        </p:nvSpPr>
        <p:spPr>
          <a:xfrm>
            <a:off x="1014984" y="4009644"/>
            <a:ext cx="4732020"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Tool: Pareto Chart
45 minutes  ·  LO3</a:t>
            </a:r>
          </a:p>
        </p:txBody>
      </p:sp>
      <p:sp>
        <p:nvSpPr>
          <p:cNvPr id="25" name="Rectangle 24"/>
          <p:cNvSpPr/>
          <p:nvPr/>
        </p:nvSpPr>
        <p:spPr>
          <a:xfrm>
            <a:off x="6222492" y="3314700"/>
            <a:ext cx="5189220" cy="1284732"/>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22492" y="3314700"/>
            <a:ext cx="82296" cy="12847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41948" y="3497580"/>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1948"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6935724" y="3461004"/>
            <a:ext cx="4293108"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Activity 8 · Forecast the Release from Velocity and Read the Agile Metrics</a:t>
            </a:r>
          </a:p>
        </p:txBody>
      </p:sp>
      <p:sp>
        <p:nvSpPr>
          <p:cNvPr id="30" name="TextBox 29"/>
          <p:cNvSpPr txBox="1"/>
          <p:nvPr/>
        </p:nvSpPr>
        <p:spPr>
          <a:xfrm>
            <a:off x="6460236" y="4009644"/>
            <a:ext cx="4732020"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Tool: Scrum Board
45 minutes  ·  LO3</a:t>
            </a:r>
          </a:p>
        </p:txBody>
      </p:sp>
      <p:sp>
        <p:nvSpPr>
          <p:cNvPr id="31" name="Rectangle 30"/>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864608"/>
            <a:ext cx="91440"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0B981"/>
                </a:solidFill>
                <a:latin typeface="Arial"/>
              </a:rPr>
              <a:t>ALL ON ONE CASE</a:t>
            </a:r>
          </a:p>
        </p:txBody>
      </p:sp>
      <p:sp>
        <p:nvSpPr>
          <p:cNvPr id="34" name="TextBox 33"/>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Every activity in this topic advances the same HarbourFront CustomerConnect case, so the artefacts you build compound.</a:t>
            </a:r>
          </a:p>
        </p:txBody>
      </p:sp>
      <p:sp>
        <p:nvSpPr>
          <p:cNvPr id="35" name="TextBox 3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6" name="TextBox 3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ACTIVITY 5 · TOOL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Tool — Scrum 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ol-scrum.png"/>
          <p:cNvPicPr>
            <a:picLocks noChangeAspect="1"/>
          </p:cNvPicPr>
          <p:nvPr/>
        </p:nvPicPr>
        <p:blipFill>
          <a:blip r:embed="rId2"/>
          <a:stretch>
            <a:fillRect/>
          </a:stretch>
        </p:blipFill>
        <p:spPr>
          <a:xfrm>
            <a:off x="777240" y="1828800"/>
            <a:ext cx="6071616" cy="3794760"/>
          </a:xfrm>
          <a:prstGeom prst="rect">
            <a:avLst/>
          </a:prstGeom>
        </p:spPr>
      </p:pic>
      <p:sp>
        <p:nvSpPr>
          <p:cNvPr id="8" name="Rectangle 7"/>
          <p:cNvSpPr/>
          <p:nvPr/>
        </p:nvSpPr>
        <p:spPr>
          <a:xfrm>
            <a:off x="777240" y="5742432"/>
            <a:ext cx="6400800"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6126480" cy="384048"/>
          </a:xfrm>
          <a:prstGeom prst="rect">
            <a:avLst/>
          </a:prstGeom>
          <a:noFill/>
        </p:spPr>
        <p:txBody>
          <a:bodyPr wrap="square" anchor="ctr" lIns="0" rIns="0" tIns="0" bIns="0">
            <a:spAutoFit/>
          </a:bodyPr>
          <a:lstStyle/>
          <a:p>
            <a:pPr algn="l">
              <a:spcAft>
                <a:spcPts val="400"/>
              </a:spcAft>
            </a:pPr>
            <a:r>
              <a:rPr sz="1100" b="0">
                <a:solidFill>
                  <a:srgbClr val="5B6372"/>
                </a:solidFill>
                <a:latin typeface="Arial"/>
              </a:rPr>
              <a:t>Activity 5 · 60 minutes · full step-by-step: Learner Guide, Activity 5</a:t>
            </a:r>
          </a:p>
        </p:txBody>
      </p:sp>
      <p:sp>
        <p:nvSpPr>
          <p:cNvPr id="10" name="Rectangle 9"/>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Open it in your browser</a:t>
            </a:r>
          </a:p>
          <a:p>
            <a:pPr algn="l">
              <a:spcAft>
                <a:spcPts val="400"/>
              </a:spcAft>
            </a:pPr>
            <a:r>
              <a:rPr sz="1150" b="0">
                <a:solidFill>
                  <a:srgbClr val="161B26"/>
                </a:solidFill>
                <a:latin typeface="Arial"/>
              </a:rPr>
              <a:t>https://alfredang.github.io/scrum/</a:t>
            </a:r>
          </a:p>
        </p:txBody>
      </p:sp>
      <p:sp>
        <p:nvSpPr>
          <p:cNvPr id="13" name="Rectangle 12"/>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No install, no login</a:t>
            </a:r>
          </a:p>
          <a:p>
            <a:pPr algn="l">
              <a:spcAft>
                <a:spcPts val="400"/>
              </a:spcAft>
            </a:pPr>
            <a:r>
              <a:rPr sz="1150" b="0">
                <a:solidFill>
                  <a:srgbClr val="161B26"/>
                </a:solidFill>
                <a:latin typeface="Arial"/>
              </a:rPr>
              <a:t>It runs in the browser. Work on one shared screen as a team.</a:t>
            </a:r>
          </a:p>
        </p:txBody>
      </p:sp>
      <p:sp>
        <p:nvSpPr>
          <p:cNvPr id="16" name="Rectangle 15"/>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Build the artefact</a:t>
            </a:r>
          </a:p>
          <a:p>
            <a:pPr algn="l">
              <a:spcAft>
                <a:spcPts val="400"/>
              </a:spcAft>
            </a:pPr>
            <a:r>
              <a:rPr sz="1150" b="0">
                <a:solidFill>
                  <a:srgbClr val="161B26"/>
                </a:solidFill>
                <a:latin typeface="Arial"/>
              </a:rPr>
              <a:t>The deliverable named on the next slide.</a:t>
            </a:r>
          </a:p>
        </p:txBody>
      </p:sp>
      <p:sp>
        <p:nvSpPr>
          <p:cNvPr id="19" name="Rectangle 18"/>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Export it</a:t>
            </a:r>
          </a:p>
          <a:p>
            <a:pPr algn="l">
              <a:spcAft>
                <a:spcPts val="400"/>
              </a:spcAft>
            </a:pPr>
            <a:r>
              <a:rPr sz="1150" b="0">
                <a:solidFill>
                  <a:srgbClr val="161B26"/>
                </a:solidFill>
                <a:latin typeface="Arial"/>
              </a:rPr>
              <a:t>Screenshot or export into your Activity worksheet.</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Execute Sprint 1 and Track It on the Scrum 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52560" y="457200"/>
            <a:ext cx="2359152"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457200"/>
            <a:ext cx="2359152" cy="420624"/>
          </a:xfrm>
          <a:prstGeom prst="rect">
            <a:avLst/>
          </a:prstGeom>
          <a:noFill/>
        </p:spPr>
        <p:txBody>
          <a:bodyPr wrap="square" anchor="ctr" lIns="0" rIns="0" tIns="0" bIns="0">
            <a:spAutoFit/>
          </a:bodyPr>
          <a:lstStyle/>
          <a:p>
            <a:pPr algn="ctr">
              <a:spcAft>
                <a:spcPts val="400"/>
              </a:spcAft>
            </a:pPr>
            <a:r>
              <a:rPr sz="1150" b="1">
                <a:solidFill>
                  <a:srgbClr val="FFFFFF"/>
                </a:solidFill>
                <a:latin typeface="Arial"/>
              </a:rPr>
              <a:t>ACTIVITY 5  ·  60 MIN</a:t>
            </a:r>
          </a:p>
        </p:txBody>
      </p:sp>
      <p:sp>
        <p:nvSpPr>
          <p:cNvPr id="9" name="Rectangle 8"/>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83664"/>
            <a:ext cx="10241280" cy="256032"/>
          </a:xfrm>
          <a:prstGeom prst="rect">
            <a:avLst/>
          </a:prstGeom>
          <a:noFill/>
        </p:spPr>
        <p:txBody>
          <a:bodyPr wrap="square" anchor="t" lIns="0" rIns="0" tIns="0" bIns="0">
            <a:spAutoFit/>
          </a:bodyPr>
          <a:lstStyle/>
          <a:p>
            <a:pPr algn="l">
              <a:spcAft>
                <a:spcPts val="400"/>
              </a:spcAft>
            </a:pPr>
            <a:r>
              <a:rPr sz="1100" b="1">
                <a:solidFill>
                  <a:srgbClr val="7C3AED"/>
                </a:solidFill>
                <a:latin typeface="Arial"/>
              </a:rPr>
              <a:t>THE SITUATION</a:t>
            </a:r>
          </a:p>
        </p:txBody>
      </p:sp>
      <p:sp>
        <p:nvSpPr>
          <p:cNvPr id="12" name="TextBox 11"/>
          <p:cNvSpPr txBox="1"/>
          <p:nvPr/>
        </p:nvSpPr>
        <p:spPr>
          <a:xfrm>
            <a:off x="1060704" y="2139696"/>
            <a:ext cx="10195560" cy="905256"/>
          </a:xfrm>
          <a:prstGeom prst="rect">
            <a:avLst/>
          </a:prstGeom>
          <a:noFill/>
        </p:spPr>
        <p:txBody>
          <a:bodyPr wrap="square" anchor="t" lIns="0" rIns="0" tIns="0" bIns="0">
            <a:spAutoFit/>
          </a:bodyPr>
          <a:lstStyle/>
          <a:p>
            <a:pPr algn="l">
              <a:spcAft>
                <a:spcPts val="400"/>
              </a:spcAft>
            </a:pPr>
            <a:r>
              <a:rPr sz="1200" b="0">
                <a:solidFill>
                  <a:srgbClr val="161B26"/>
                </a:solidFill>
                <a:latin typeface="Arial"/>
              </a:rPr>
              <a:t>Sprint 1 of the CustomerConnect restart runs for 10 working days with a committed 20 points. Your team will simulate all 10 days in compressed time, holding a daily stand-up each 'day', moving cards, and hitting three real impediments the trainer injects: the carrier data feed returns stale timestamps on Day 3, a developer is pulled onto a production incident on Day 5, and the Product Owner requests a new story mid-sprint on Day 7.</a:t>
            </a:r>
          </a:p>
        </p:txBody>
      </p:sp>
      <p:sp>
        <p:nvSpPr>
          <p:cNvPr id="13" name="Rectangle 12"/>
          <p:cNvSpPr/>
          <p:nvPr/>
        </p:nvSpPr>
        <p:spPr>
          <a:xfrm>
            <a:off x="777240"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2461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401568"/>
            <a:ext cx="2980944" cy="292608"/>
          </a:xfrm>
          <a:prstGeom prst="rect">
            <a:avLst/>
          </a:prstGeom>
          <a:noFill/>
        </p:spPr>
        <p:txBody>
          <a:bodyPr wrap="square" anchor="t" lIns="0" rIns="0" tIns="0" bIns="0">
            <a:spAutoFit/>
          </a:bodyPr>
          <a:lstStyle/>
          <a:p>
            <a:pPr algn="l">
              <a:spcAft>
                <a:spcPts val="400"/>
              </a:spcAft>
            </a:pPr>
            <a:r>
              <a:rPr sz="1100" b="1">
                <a:solidFill>
                  <a:srgbClr val="1F6FEB"/>
                </a:solidFill>
                <a:latin typeface="Arial"/>
              </a:rPr>
              <a:t>WHAT YOU'LL DO</a:t>
            </a:r>
          </a:p>
        </p:txBody>
      </p:sp>
      <p:sp>
        <p:nvSpPr>
          <p:cNvPr id="16" name="TextBox 15"/>
          <p:cNvSpPr txBox="1"/>
          <p:nvPr/>
        </p:nvSpPr>
        <p:spPr>
          <a:xfrm>
            <a:off x="996696"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Using your Sprint 1 backlog from Activity 3, your team runs the sprint day by day on the Scrum board. Each simulated day you hold a 3-minute stand-up answering the three questions, move cards across To Do / In Progress / Testing / Done, respect a WIP limit of 3 in progress, log impediments, and update the burndown. You handle each injected impediment as the framework prescribes.</a:t>
            </a:r>
          </a:p>
        </p:txBody>
      </p:sp>
      <p:sp>
        <p:nvSpPr>
          <p:cNvPr id="17" name="Rectangle 16"/>
          <p:cNvSpPr/>
          <p:nvPr/>
        </p:nvSpPr>
        <p:spPr>
          <a:xfrm>
            <a:off x="4398264"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32461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3401568"/>
            <a:ext cx="2980944" cy="292608"/>
          </a:xfrm>
          <a:prstGeom prst="rect">
            <a:avLst/>
          </a:prstGeom>
          <a:noFill/>
        </p:spPr>
        <p:txBody>
          <a:bodyPr wrap="square" anchor="t" lIns="0" rIns="0" tIns="0" bIns="0">
            <a:spAutoFit/>
          </a:bodyPr>
          <a:lstStyle/>
          <a:p>
            <a:pPr algn="l">
              <a:spcAft>
                <a:spcPts val="400"/>
              </a:spcAft>
            </a:pPr>
            <a:r>
              <a:rPr sz="1100" b="1">
                <a:solidFill>
                  <a:srgbClr val="10B981"/>
                </a:solidFill>
                <a:latin typeface="Arial"/>
              </a:rPr>
              <a:t>YOU'LL PRODUCE</a:t>
            </a:r>
          </a:p>
        </p:txBody>
      </p:sp>
      <p:sp>
        <p:nvSpPr>
          <p:cNvPr id="20" name="TextBox 19"/>
          <p:cNvSpPr txBox="1"/>
          <p:nvPr/>
        </p:nvSpPr>
        <p:spPr>
          <a:xfrm>
            <a:off x="4617720"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A completed 10-day sprint board, a burndown chart with all 10 data points, an impediment log with the resolution of each of the 3 injections, and the actual velocity achieved.</a:t>
            </a:r>
          </a:p>
        </p:txBody>
      </p:sp>
      <p:sp>
        <p:nvSpPr>
          <p:cNvPr id="21" name="Rectangle 20"/>
          <p:cNvSpPr/>
          <p:nvPr/>
        </p:nvSpPr>
        <p:spPr>
          <a:xfrm>
            <a:off x="8019288"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3246120"/>
            <a:ext cx="339242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3401568"/>
            <a:ext cx="2980944" cy="292608"/>
          </a:xfrm>
          <a:prstGeom prst="rect">
            <a:avLst/>
          </a:prstGeom>
          <a:noFill/>
        </p:spPr>
        <p:txBody>
          <a:bodyPr wrap="square" anchor="t" lIns="0" rIns="0" tIns="0" bIns="0">
            <a:spAutoFit/>
          </a:bodyPr>
          <a:lstStyle/>
          <a:p>
            <a:pPr algn="l">
              <a:spcAft>
                <a:spcPts val="400"/>
              </a:spcAft>
            </a:pPr>
            <a:r>
              <a:rPr sz="1100" b="1">
                <a:solidFill>
                  <a:srgbClr val="F59E0B"/>
                </a:solidFill>
                <a:latin typeface="Arial"/>
              </a:rPr>
              <a:t>DONE WHEN</a:t>
            </a:r>
          </a:p>
        </p:txBody>
      </p:sp>
      <p:sp>
        <p:nvSpPr>
          <p:cNvPr id="24" name="TextBox 23"/>
          <p:cNvSpPr txBox="1"/>
          <p:nvPr/>
        </p:nvSpPr>
        <p:spPr>
          <a:xfrm>
            <a:off x="8238744"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burndown has 10 plotted points and an ideal line. Your velocity counts only fully-Done stories, with carryover recorded separately. All 3 impediments are logged with a decision and a rationale. If your burndown is a straight diagonal line, you have plotted the plan, not the sprint — plot what actually happened.</a:t>
            </a:r>
          </a:p>
        </p:txBody>
      </p:sp>
      <p:sp>
        <p:nvSpPr>
          <p:cNvPr id="25" name="Rectangle 24"/>
          <p:cNvSpPr/>
          <p:nvPr/>
        </p:nvSpPr>
        <p:spPr>
          <a:xfrm>
            <a:off x="777240" y="5504688"/>
            <a:ext cx="10634472" cy="7132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5577840"/>
            <a:ext cx="118872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577840"/>
            <a:ext cx="1188720" cy="566928"/>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ACT 5</a:t>
            </a:r>
          </a:p>
        </p:txBody>
      </p:sp>
      <p:sp>
        <p:nvSpPr>
          <p:cNvPr id="28" name="TextBox 27"/>
          <p:cNvSpPr txBox="1"/>
          <p:nvPr/>
        </p:nvSpPr>
        <p:spPr>
          <a:xfrm>
            <a:off x="2148840" y="5577840"/>
            <a:ext cx="9052560" cy="310896"/>
          </a:xfrm>
          <a:prstGeom prst="rect">
            <a:avLst/>
          </a:prstGeom>
          <a:noFill/>
        </p:spPr>
        <p:txBody>
          <a:bodyPr wrap="square" anchor="t" lIns="0" rIns="0" tIns="0" bIns="0">
            <a:spAutoFit/>
          </a:bodyPr>
          <a:lstStyle/>
          <a:p>
            <a:pPr algn="l">
              <a:spcAft>
                <a:spcPts val="400"/>
              </a:spcAft>
            </a:pPr>
            <a:r>
              <a:rPr sz="1200" b="1">
                <a:solidFill>
                  <a:srgbClr val="161B26"/>
                </a:solidFill>
                <a:latin typeface="Arial"/>
              </a:rPr>
              <a:t>Tool: Scrum Board — https://alfredang.github.io/scrum/</a:t>
            </a:r>
          </a:p>
        </p:txBody>
      </p:sp>
      <p:sp>
        <p:nvSpPr>
          <p:cNvPr id="29" name="TextBox 28"/>
          <p:cNvSpPr txBox="1"/>
          <p:nvPr/>
        </p:nvSpPr>
        <p:spPr>
          <a:xfrm>
            <a:off x="2148840" y="5870448"/>
            <a:ext cx="9098280" cy="329184"/>
          </a:xfrm>
          <a:prstGeom prst="rect">
            <a:avLst/>
          </a:prstGeom>
          <a:noFill/>
        </p:spPr>
        <p:txBody>
          <a:bodyPr wrap="square" anchor="t" lIns="0" rIns="0" tIns="0" bIns="0">
            <a:spAutoFit/>
          </a:bodyPr>
          <a:lstStyle/>
          <a:p>
            <a:pPr algn="l">
              <a:spcAft>
                <a:spcPts val="400"/>
              </a:spcAft>
            </a:pPr>
            <a:r>
              <a:rPr sz="1000" b="0">
                <a:solidFill>
                  <a:srgbClr val="5B6372"/>
                </a:solidFill>
                <a:latin typeface="Arial"/>
              </a:rPr>
              <a:t>LO 3  ·  Measure progress against targets on a regular basis by executing a sprint on a live board and reading the burndown (K5, A4, A7).  ·  Full step-by-step: Learner Guide, Activity 5</a:t>
            </a:r>
          </a:p>
        </p:txBody>
      </p:sp>
      <p:sp>
        <p:nvSpPr>
          <p:cNvPr id="30" name="TextBox 2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1" name="TextBox 3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03 · ACTIVITY 5 DEBRIEF</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Debrief — Activity 5: What It Proves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4825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48256"/>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91056" y="1901952"/>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The flat burndown on Day 3 is the most valuable thing on the chart. It is an early warning, and it only appears if the board is honest.</a:t>
            </a:r>
          </a:p>
        </p:txBody>
      </p:sp>
      <p:sp>
        <p:nvSpPr>
          <p:cNvPr id="12" name="Rectangle 11"/>
          <p:cNvSpPr/>
          <p:nvPr/>
        </p:nvSpPr>
        <p:spPr>
          <a:xfrm>
            <a:off x="777240" y="2926080"/>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6080"/>
            <a:ext cx="9144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63824"/>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63824"/>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91056" y="3017520"/>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Carryover counted as velocity destroys forecasting. Velocity must mean 'Done', or every forecast built on it is fiction.</a:t>
            </a:r>
          </a:p>
        </p:txBody>
      </p:sp>
      <p:sp>
        <p:nvSpPr>
          <p:cNvPr id="17" name="Rectangle 16"/>
          <p:cNvSpPr/>
          <p:nvPr/>
        </p:nvSpPr>
        <p:spPr>
          <a:xfrm>
            <a:off x="777240" y="4041648"/>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41648"/>
            <a:ext cx="9144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9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9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91056" y="4133088"/>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The Day 7 injection is the real test of Agile discipline: welcoming change does not mean accepting unbounded scope inside a committed sprint.</a:t>
            </a:r>
          </a:p>
        </p:txBody>
      </p:sp>
      <p:sp>
        <p:nvSpPr>
          <p:cNvPr id="22" name="Rectangle 21"/>
          <p:cNvSpPr/>
          <p:nvPr/>
        </p:nvSpPr>
        <p:spPr>
          <a:xfrm>
            <a:off x="777240" y="5074920"/>
            <a:ext cx="10634472" cy="1078992"/>
          </a:xfrm>
          <a:prstGeom prst="rect">
            <a:avLst/>
          </a:prstGeom>
          <a:solidFill>
            <a:srgbClr val="FFFFFF"/>
          </a:solidFill>
          <a:ln w="12700">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157216"/>
            <a:ext cx="10241280" cy="274320"/>
          </a:xfrm>
          <a:prstGeom prst="rect">
            <a:avLst/>
          </a:prstGeom>
          <a:noFill/>
        </p:spPr>
        <p:txBody>
          <a:bodyPr wrap="square" anchor="t" lIns="0" rIns="0" tIns="0" bIns="0">
            <a:spAutoFit/>
          </a:bodyPr>
          <a:lstStyle/>
          <a:p>
            <a:pPr algn="l">
              <a:spcAft>
                <a:spcPts val="400"/>
              </a:spcAft>
            </a:pPr>
            <a:r>
              <a:rPr sz="1100" b="1">
                <a:solidFill>
                  <a:srgbClr val="127A3E"/>
                </a:solidFill>
                <a:latin typeface="Arial"/>
              </a:rPr>
              <a:t>SUCCESS CRITERION</a:t>
            </a:r>
          </a:p>
        </p:txBody>
      </p:sp>
      <p:sp>
        <p:nvSpPr>
          <p:cNvPr id="24" name="TextBox 23"/>
          <p:cNvSpPr txBox="1"/>
          <p:nvPr/>
        </p:nvSpPr>
        <p:spPr>
          <a:xfrm>
            <a:off x="1051560" y="5440680"/>
            <a:ext cx="10241280" cy="658368"/>
          </a:xfrm>
          <a:prstGeom prst="rect">
            <a:avLst/>
          </a:prstGeom>
          <a:noFill/>
        </p:spPr>
        <p:txBody>
          <a:bodyPr wrap="square" anchor="t" lIns="0" rIns="0" tIns="0" bIns="0">
            <a:spAutoFit/>
          </a:bodyPr>
          <a:lstStyle/>
          <a:p>
            <a:pPr algn="l">
              <a:spcAft>
                <a:spcPts val="400"/>
              </a:spcAft>
            </a:pPr>
            <a:r>
              <a:rPr sz="1150" b="0">
                <a:solidFill>
                  <a:srgbClr val="161B26"/>
                </a:solidFill>
                <a:latin typeface="Arial"/>
              </a:rPr>
              <a:t>Your burndown has 10 plotted points and an ideal line. Your velocity counts only fully-Done stories, with carryover recorded separately. All 3 impediments are logged with a decision and a rationale. If your burndown is a straight diagonal line, you have plotted the plan, not the sprint — plot what actually happened.</a:t>
            </a:r>
          </a:p>
        </p:txBody>
      </p:sp>
      <p:sp>
        <p:nvSpPr>
          <p:cNvPr id="25" name="TextBox 2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6" name="TextBox 2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ACTIVITY 6 · TOOL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Tool — 5 Whys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ol-5whys.png"/>
          <p:cNvPicPr>
            <a:picLocks noChangeAspect="1"/>
          </p:cNvPicPr>
          <p:nvPr/>
        </p:nvPicPr>
        <p:blipFill>
          <a:blip r:embed="rId2"/>
          <a:stretch>
            <a:fillRect/>
          </a:stretch>
        </p:blipFill>
        <p:spPr>
          <a:xfrm>
            <a:off x="777240" y="1828800"/>
            <a:ext cx="6071616" cy="3794760"/>
          </a:xfrm>
          <a:prstGeom prst="rect">
            <a:avLst/>
          </a:prstGeom>
        </p:spPr>
      </p:pic>
      <p:sp>
        <p:nvSpPr>
          <p:cNvPr id="8" name="Rectangle 7"/>
          <p:cNvSpPr/>
          <p:nvPr/>
        </p:nvSpPr>
        <p:spPr>
          <a:xfrm>
            <a:off x="777240" y="5742432"/>
            <a:ext cx="6400800"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6126480" cy="384048"/>
          </a:xfrm>
          <a:prstGeom prst="rect">
            <a:avLst/>
          </a:prstGeom>
          <a:noFill/>
        </p:spPr>
        <p:txBody>
          <a:bodyPr wrap="square" anchor="ctr" lIns="0" rIns="0" tIns="0" bIns="0">
            <a:spAutoFit/>
          </a:bodyPr>
          <a:lstStyle/>
          <a:p>
            <a:pPr algn="l">
              <a:spcAft>
                <a:spcPts val="400"/>
              </a:spcAft>
            </a:pPr>
            <a:r>
              <a:rPr sz="1100" b="0">
                <a:solidFill>
                  <a:srgbClr val="5B6372"/>
                </a:solidFill>
                <a:latin typeface="Arial"/>
              </a:rPr>
              <a:t>Activity 6 · 45 minutes · full step-by-step: Learner Guide, Activity 6</a:t>
            </a:r>
          </a:p>
        </p:txBody>
      </p:sp>
      <p:sp>
        <p:nvSpPr>
          <p:cNvPr id="10" name="Rectangle 9"/>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Open it in your browser</a:t>
            </a:r>
          </a:p>
          <a:p>
            <a:pPr algn="l">
              <a:spcAft>
                <a:spcPts val="400"/>
              </a:spcAft>
            </a:pPr>
            <a:r>
              <a:rPr sz="1150" b="0">
                <a:solidFill>
                  <a:srgbClr val="161B26"/>
                </a:solidFill>
                <a:latin typeface="Arial"/>
              </a:rPr>
              <a:t>https://alfredang.github.io/5whys/</a:t>
            </a:r>
          </a:p>
        </p:txBody>
      </p:sp>
      <p:sp>
        <p:nvSpPr>
          <p:cNvPr id="13" name="Rectangle 12"/>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No install, no login</a:t>
            </a:r>
          </a:p>
          <a:p>
            <a:pPr algn="l">
              <a:spcAft>
                <a:spcPts val="400"/>
              </a:spcAft>
            </a:pPr>
            <a:r>
              <a:rPr sz="1150" b="0">
                <a:solidFill>
                  <a:srgbClr val="161B26"/>
                </a:solidFill>
                <a:latin typeface="Arial"/>
              </a:rPr>
              <a:t>It runs in the browser. Work on one shared screen as a team.</a:t>
            </a:r>
          </a:p>
        </p:txBody>
      </p:sp>
      <p:sp>
        <p:nvSpPr>
          <p:cNvPr id="16" name="Rectangle 15"/>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Build the artefact</a:t>
            </a:r>
          </a:p>
          <a:p>
            <a:pPr algn="l">
              <a:spcAft>
                <a:spcPts val="400"/>
              </a:spcAft>
            </a:pPr>
            <a:r>
              <a:rPr sz="1150" b="0">
                <a:solidFill>
                  <a:srgbClr val="161B26"/>
                </a:solidFill>
                <a:latin typeface="Arial"/>
              </a:rPr>
              <a:t>The deliverable named on the next slide.</a:t>
            </a:r>
          </a:p>
        </p:txBody>
      </p:sp>
      <p:sp>
        <p:nvSpPr>
          <p:cNvPr id="19" name="Rectangle 18"/>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Export it</a:t>
            </a:r>
          </a:p>
          <a:p>
            <a:pPr algn="l">
              <a:spcAft>
                <a:spcPts val="400"/>
              </a:spcAft>
            </a:pPr>
            <a:r>
              <a:rPr sz="1150" b="0">
                <a:solidFill>
                  <a:srgbClr val="161B26"/>
                </a:solidFill>
                <a:latin typeface="Arial"/>
              </a:rPr>
              <a:t>Screenshot or export into your Activity worksheet.</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500" b="1">
                <a:solidFill>
                  <a:srgbClr val="161B26"/>
                </a:solidFill>
                <a:latin typeface="Arial"/>
              </a:rPr>
              <a:t>Run the Sprint Retrospective with 5 Whys Root-Cause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52560" y="457200"/>
            <a:ext cx="2359152"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457200"/>
            <a:ext cx="2359152" cy="420624"/>
          </a:xfrm>
          <a:prstGeom prst="rect">
            <a:avLst/>
          </a:prstGeom>
          <a:noFill/>
        </p:spPr>
        <p:txBody>
          <a:bodyPr wrap="square" anchor="ctr" lIns="0" rIns="0" tIns="0" bIns="0">
            <a:spAutoFit/>
          </a:bodyPr>
          <a:lstStyle/>
          <a:p>
            <a:pPr algn="ctr">
              <a:spcAft>
                <a:spcPts val="400"/>
              </a:spcAft>
            </a:pPr>
            <a:r>
              <a:rPr sz="1150" b="1">
                <a:solidFill>
                  <a:srgbClr val="FFFFFF"/>
                </a:solidFill>
                <a:latin typeface="Arial"/>
              </a:rPr>
              <a:t>ACTIVITY 6  ·  45 MIN</a:t>
            </a:r>
          </a:p>
        </p:txBody>
      </p:sp>
      <p:sp>
        <p:nvSpPr>
          <p:cNvPr id="9" name="Rectangle 8"/>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83664"/>
            <a:ext cx="10241280" cy="256032"/>
          </a:xfrm>
          <a:prstGeom prst="rect">
            <a:avLst/>
          </a:prstGeom>
          <a:noFill/>
        </p:spPr>
        <p:txBody>
          <a:bodyPr wrap="square" anchor="t" lIns="0" rIns="0" tIns="0" bIns="0">
            <a:spAutoFit/>
          </a:bodyPr>
          <a:lstStyle/>
          <a:p>
            <a:pPr algn="l">
              <a:spcAft>
                <a:spcPts val="400"/>
              </a:spcAft>
            </a:pPr>
            <a:r>
              <a:rPr sz="1100" b="1">
                <a:solidFill>
                  <a:srgbClr val="7C3AED"/>
                </a:solidFill>
                <a:latin typeface="Arial"/>
              </a:rPr>
              <a:t>THE SITUATION</a:t>
            </a:r>
          </a:p>
        </p:txBody>
      </p:sp>
      <p:sp>
        <p:nvSpPr>
          <p:cNvPr id="12" name="TextBox 11"/>
          <p:cNvSpPr txBox="1"/>
          <p:nvPr/>
        </p:nvSpPr>
        <p:spPr>
          <a:xfrm>
            <a:off x="1060704" y="2139696"/>
            <a:ext cx="10195560" cy="905256"/>
          </a:xfrm>
          <a:prstGeom prst="rect">
            <a:avLst/>
          </a:prstGeom>
          <a:noFill/>
        </p:spPr>
        <p:txBody>
          <a:bodyPr wrap="square" anchor="t" lIns="0" rIns="0" tIns="0" bIns="0">
            <a:spAutoFit/>
          </a:bodyPr>
          <a:lstStyle/>
          <a:p>
            <a:pPr algn="l">
              <a:spcAft>
                <a:spcPts val="400"/>
              </a:spcAft>
            </a:pPr>
            <a:r>
              <a:rPr sz="1200" b="0">
                <a:solidFill>
                  <a:srgbClr val="161B26"/>
                </a:solidFill>
                <a:latin typeface="Arial"/>
              </a:rPr>
              <a:t>Sprint 1 finished 6 of 20 committed points short. In the review, one customer noted that the shipment status feature 'works but shows yesterday's data'. In the retrospective, the team's first instinct is to blame the carrier data feed. The Scrum Master pushes for a real root cause, because the same class of problem appeared twice in the old waterfall project.</a:t>
            </a:r>
          </a:p>
        </p:txBody>
      </p:sp>
      <p:sp>
        <p:nvSpPr>
          <p:cNvPr id="13" name="Rectangle 12"/>
          <p:cNvSpPr/>
          <p:nvPr/>
        </p:nvSpPr>
        <p:spPr>
          <a:xfrm>
            <a:off x="777240"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2461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401568"/>
            <a:ext cx="2980944" cy="292608"/>
          </a:xfrm>
          <a:prstGeom prst="rect">
            <a:avLst/>
          </a:prstGeom>
          <a:noFill/>
        </p:spPr>
        <p:txBody>
          <a:bodyPr wrap="square" anchor="t" lIns="0" rIns="0" tIns="0" bIns="0">
            <a:spAutoFit/>
          </a:bodyPr>
          <a:lstStyle/>
          <a:p>
            <a:pPr algn="l">
              <a:spcAft>
                <a:spcPts val="400"/>
              </a:spcAft>
            </a:pPr>
            <a:r>
              <a:rPr sz="1100" b="1">
                <a:solidFill>
                  <a:srgbClr val="1F6FEB"/>
                </a:solidFill>
                <a:latin typeface="Arial"/>
              </a:rPr>
              <a:t>WHAT YOU'LL DO</a:t>
            </a:r>
          </a:p>
        </p:txBody>
      </p:sp>
      <p:sp>
        <p:nvSpPr>
          <p:cNvPr id="16" name="TextBox 15"/>
          <p:cNvSpPr txBox="1"/>
          <p:nvPr/>
        </p:nvSpPr>
        <p:spPr>
          <a:xfrm>
            <a:off x="996696"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team runs a full retrospective in the five stages, using the 5 Whys tool on the single highest-impact problem from Sprint 1. You drive past the first plausible answer to a root cause the team can actually act on, then convert it into one SMART action with a named owner that enters the Sprint 2 backlog as a real item.</a:t>
            </a:r>
          </a:p>
        </p:txBody>
      </p:sp>
      <p:sp>
        <p:nvSpPr>
          <p:cNvPr id="17" name="Rectangle 16"/>
          <p:cNvSpPr/>
          <p:nvPr/>
        </p:nvSpPr>
        <p:spPr>
          <a:xfrm>
            <a:off x="4398264"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32461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3401568"/>
            <a:ext cx="2980944" cy="292608"/>
          </a:xfrm>
          <a:prstGeom prst="rect">
            <a:avLst/>
          </a:prstGeom>
          <a:noFill/>
        </p:spPr>
        <p:txBody>
          <a:bodyPr wrap="square" anchor="t" lIns="0" rIns="0" tIns="0" bIns="0">
            <a:spAutoFit/>
          </a:bodyPr>
          <a:lstStyle/>
          <a:p>
            <a:pPr algn="l">
              <a:spcAft>
                <a:spcPts val="400"/>
              </a:spcAft>
            </a:pPr>
            <a:r>
              <a:rPr sz="1100" b="1">
                <a:solidFill>
                  <a:srgbClr val="10B981"/>
                </a:solidFill>
                <a:latin typeface="Arial"/>
              </a:rPr>
              <a:t>YOU'LL PRODUCE</a:t>
            </a:r>
          </a:p>
        </p:txBody>
      </p:sp>
      <p:sp>
        <p:nvSpPr>
          <p:cNvPr id="20" name="TextBox 19"/>
          <p:cNvSpPr txBox="1"/>
          <p:nvPr/>
        </p:nvSpPr>
        <p:spPr>
          <a:xfrm>
            <a:off x="4617720"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A completed 5 Whys chain of at least 5 levels reaching an actionable root cause, plus one SMART improvement action with a named owner, a measure, and a place in the Sprint 2 backlog.</a:t>
            </a:r>
          </a:p>
        </p:txBody>
      </p:sp>
      <p:sp>
        <p:nvSpPr>
          <p:cNvPr id="21" name="Rectangle 20"/>
          <p:cNvSpPr/>
          <p:nvPr/>
        </p:nvSpPr>
        <p:spPr>
          <a:xfrm>
            <a:off x="8019288"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3246120"/>
            <a:ext cx="339242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3401568"/>
            <a:ext cx="2980944" cy="292608"/>
          </a:xfrm>
          <a:prstGeom prst="rect">
            <a:avLst/>
          </a:prstGeom>
          <a:noFill/>
        </p:spPr>
        <p:txBody>
          <a:bodyPr wrap="square" anchor="t" lIns="0" rIns="0" tIns="0" bIns="0">
            <a:spAutoFit/>
          </a:bodyPr>
          <a:lstStyle/>
          <a:p>
            <a:pPr algn="l">
              <a:spcAft>
                <a:spcPts val="400"/>
              </a:spcAft>
            </a:pPr>
            <a:r>
              <a:rPr sz="1100" b="1">
                <a:solidFill>
                  <a:srgbClr val="F59E0B"/>
                </a:solidFill>
                <a:latin typeface="Arial"/>
              </a:rPr>
              <a:t>DONE WHEN</a:t>
            </a:r>
          </a:p>
        </p:txBody>
      </p:sp>
      <p:sp>
        <p:nvSpPr>
          <p:cNvPr id="24" name="TextBox 23"/>
          <p:cNvSpPr txBox="1"/>
          <p:nvPr/>
        </p:nvSpPr>
        <p:spPr>
          <a:xfrm>
            <a:off x="8238744"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chain reaches a process or system cause the team can change, not a person and not an external party. Reading it backwards with 'because' holds together at every link. Your SMART action has an owner, a measure and points in the Sprint 2 backlog. If your root cause is 'the carrier's fault', you stopped at Why 1.</a:t>
            </a:r>
          </a:p>
        </p:txBody>
      </p:sp>
      <p:sp>
        <p:nvSpPr>
          <p:cNvPr id="25" name="Rectangle 24"/>
          <p:cNvSpPr/>
          <p:nvPr/>
        </p:nvSpPr>
        <p:spPr>
          <a:xfrm>
            <a:off x="777240" y="5504688"/>
            <a:ext cx="10634472" cy="7132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5577840"/>
            <a:ext cx="118872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577840"/>
            <a:ext cx="1188720" cy="566928"/>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ACT 6</a:t>
            </a:r>
          </a:p>
        </p:txBody>
      </p:sp>
      <p:sp>
        <p:nvSpPr>
          <p:cNvPr id="28" name="TextBox 27"/>
          <p:cNvSpPr txBox="1"/>
          <p:nvPr/>
        </p:nvSpPr>
        <p:spPr>
          <a:xfrm>
            <a:off x="2148840" y="5577840"/>
            <a:ext cx="9052560" cy="310896"/>
          </a:xfrm>
          <a:prstGeom prst="rect">
            <a:avLst/>
          </a:prstGeom>
          <a:noFill/>
        </p:spPr>
        <p:txBody>
          <a:bodyPr wrap="square" anchor="t" lIns="0" rIns="0" tIns="0" bIns="0">
            <a:spAutoFit/>
          </a:bodyPr>
          <a:lstStyle/>
          <a:p>
            <a:pPr algn="l">
              <a:spcAft>
                <a:spcPts val="400"/>
              </a:spcAft>
            </a:pPr>
            <a:r>
              <a:rPr sz="1200" b="1">
                <a:solidFill>
                  <a:srgbClr val="161B26"/>
                </a:solidFill>
                <a:latin typeface="Arial"/>
              </a:rPr>
              <a:t>Tool: 5 Whys — https://alfredang.github.io/5whys/</a:t>
            </a:r>
          </a:p>
        </p:txBody>
      </p:sp>
      <p:sp>
        <p:nvSpPr>
          <p:cNvPr id="29" name="TextBox 28"/>
          <p:cNvSpPr txBox="1"/>
          <p:nvPr/>
        </p:nvSpPr>
        <p:spPr>
          <a:xfrm>
            <a:off x="2148840" y="5870448"/>
            <a:ext cx="9098280" cy="329184"/>
          </a:xfrm>
          <a:prstGeom prst="rect">
            <a:avLst/>
          </a:prstGeom>
          <a:noFill/>
        </p:spPr>
        <p:txBody>
          <a:bodyPr wrap="square" anchor="t" lIns="0" rIns="0" tIns="0" bIns="0">
            <a:spAutoFit/>
          </a:bodyPr>
          <a:lstStyle/>
          <a:p>
            <a:pPr algn="l">
              <a:spcAft>
                <a:spcPts val="400"/>
              </a:spcAft>
            </a:pPr>
            <a:r>
              <a:rPr sz="1000" b="0">
                <a:solidFill>
                  <a:srgbClr val="5B6372"/>
                </a:solidFill>
                <a:latin typeface="Arial"/>
              </a:rPr>
              <a:t>LO 3  ·  Assess work performance and quality to ensure continuous improvement, drilling to the root cause of a delivery problem (A6, A7).  ·  Full step-by-step: Learner Guide, Activity 6</a:t>
            </a:r>
          </a:p>
        </p:txBody>
      </p:sp>
      <p:sp>
        <p:nvSpPr>
          <p:cNvPr id="30" name="TextBox 2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1" name="TextBox 3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03 · ACTIVITY 6 DEBRIEF</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Debrief — Activity 6: What It Proves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4825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48256"/>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91056" y="1901952"/>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Stopping at 'the carrier feed was stale' would have produced a ticket. Reaching the copied Definition of Done produced a systemic fix.</a:t>
            </a:r>
          </a:p>
        </p:txBody>
      </p:sp>
      <p:sp>
        <p:nvSpPr>
          <p:cNvPr id="12" name="Rectangle 11"/>
          <p:cNvSpPr/>
          <p:nvPr/>
        </p:nvSpPr>
        <p:spPr>
          <a:xfrm>
            <a:off x="777240" y="2926080"/>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6080"/>
            <a:ext cx="9144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63824"/>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63824"/>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91056" y="3017520"/>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A root cause you cannot act on is not a root cause — it is an excuse with a diagram.</a:t>
            </a:r>
          </a:p>
        </p:txBody>
      </p:sp>
      <p:sp>
        <p:nvSpPr>
          <p:cNvPr id="17" name="Rectangle 16"/>
          <p:cNvSpPr/>
          <p:nvPr/>
        </p:nvSpPr>
        <p:spPr>
          <a:xfrm>
            <a:off x="777240" y="4041648"/>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41648"/>
            <a:ext cx="9144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9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9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91056" y="4133088"/>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This is A6 in practice: assessing work performance and quality to drive continuous improvement, with PDCA closing the loop in the next sprint.</a:t>
            </a:r>
          </a:p>
        </p:txBody>
      </p:sp>
      <p:sp>
        <p:nvSpPr>
          <p:cNvPr id="22" name="Rectangle 21"/>
          <p:cNvSpPr/>
          <p:nvPr/>
        </p:nvSpPr>
        <p:spPr>
          <a:xfrm>
            <a:off x="777240" y="5074920"/>
            <a:ext cx="10634472" cy="1078992"/>
          </a:xfrm>
          <a:prstGeom prst="rect">
            <a:avLst/>
          </a:prstGeom>
          <a:solidFill>
            <a:srgbClr val="FFFFFF"/>
          </a:solidFill>
          <a:ln w="12700">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157216"/>
            <a:ext cx="10241280" cy="274320"/>
          </a:xfrm>
          <a:prstGeom prst="rect">
            <a:avLst/>
          </a:prstGeom>
          <a:noFill/>
        </p:spPr>
        <p:txBody>
          <a:bodyPr wrap="square" anchor="t" lIns="0" rIns="0" tIns="0" bIns="0">
            <a:spAutoFit/>
          </a:bodyPr>
          <a:lstStyle/>
          <a:p>
            <a:pPr algn="l">
              <a:spcAft>
                <a:spcPts val="400"/>
              </a:spcAft>
            </a:pPr>
            <a:r>
              <a:rPr sz="1100" b="1">
                <a:solidFill>
                  <a:srgbClr val="127A3E"/>
                </a:solidFill>
                <a:latin typeface="Arial"/>
              </a:rPr>
              <a:t>SUCCESS CRITERION</a:t>
            </a:r>
          </a:p>
        </p:txBody>
      </p:sp>
      <p:sp>
        <p:nvSpPr>
          <p:cNvPr id="24" name="TextBox 23"/>
          <p:cNvSpPr txBox="1"/>
          <p:nvPr/>
        </p:nvSpPr>
        <p:spPr>
          <a:xfrm>
            <a:off x="1051560" y="5440680"/>
            <a:ext cx="10241280" cy="658368"/>
          </a:xfrm>
          <a:prstGeom prst="rect">
            <a:avLst/>
          </a:prstGeom>
          <a:noFill/>
        </p:spPr>
        <p:txBody>
          <a:bodyPr wrap="square" anchor="t" lIns="0" rIns="0" tIns="0" bIns="0">
            <a:spAutoFit/>
          </a:bodyPr>
          <a:lstStyle/>
          <a:p>
            <a:pPr algn="l">
              <a:spcAft>
                <a:spcPts val="400"/>
              </a:spcAft>
            </a:pPr>
            <a:r>
              <a:rPr sz="1150" b="0">
                <a:solidFill>
                  <a:srgbClr val="161B26"/>
                </a:solidFill>
                <a:latin typeface="Arial"/>
              </a:rPr>
              <a:t>Your chain reaches a process or system cause the team can change, not a person and not an external party. Reading it backwards with 'because' holds together at every link. Your SMART action has an owner, a measure and points in the Sprint 2 backlog. If your root cause is 'the carrier's fault', you stopped at Why 1.</a:t>
            </a:r>
          </a:p>
        </p:txBody>
      </p:sp>
      <p:sp>
        <p:nvSpPr>
          <p:cNvPr id="25" name="TextBox 2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6" name="TextBox 2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ACTIVITY 7 · TOOL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Tool — Pareto Chart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ol-paretochart.png"/>
          <p:cNvPicPr>
            <a:picLocks noChangeAspect="1"/>
          </p:cNvPicPr>
          <p:nvPr/>
        </p:nvPicPr>
        <p:blipFill>
          <a:blip r:embed="rId2"/>
          <a:stretch>
            <a:fillRect/>
          </a:stretch>
        </p:blipFill>
        <p:spPr>
          <a:xfrm>
            <a:off x="777240" y="1828800"/>
            <a:ext cx="6071616" cy="3794760"/>
          </a:xfrm>
          <a:prstGeom prst="rect">
            <a:avLst/>
          </a:prstGeom>
        </p:spPr>
      </p:pic>
      <p:sp>
        <p:nvSpPr>
          <p:cNvPr id="8" name="Rectangle 7"/>
          <p:cNvSpPr/>
          <p:nvPr/>
        </p:nvSpPr>
        <p:spPr>
          <a:xfrm>
            <a:off x="777240" y="5742432"/>
            <a:ext cx="6400800"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6126480" cy="384048"/>
          </a:xfrm>
          <a:prstGeom prst="rect">
            <a:avLst/>
          </a:prstGeom>
          <a:noFill/>
        </p:spPr>
        <p:txBody>
          <a:bodyPr wrap="square" anchor="ctr" lIns="0" rIns="0" tIns="0" bIns="0">
            <a:spAutoFit/>
          </a:bodyPr>
          <a:lstStyle/>
          <a:p>
            <a:pPr algn="l">
              <a:spcAft>
                <a:spcPts val="400"/>
              </a:spcAft>
            </a:pPr>
            <a:r>
              <a:rPr sz="1100" b="0">
                <a:solidFill>
                  <a:srgbClr val="5B6372"/>
                </a:solidFill>
                <a:latin typeface="Arial"/>
              </a:rPr>
              <a:t>Activity 7 · 45 minutes · full step-by-step: Learner Guide, Activity 7</a:t>
            </a:r>
          </a:p>
        </p:txBody>
      </p:sp>
      <p:sp>
        <p:nvSpPr>
          <p:cNvPr id="10" name="Rectangle 9"/>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Open it in your browser</a:t>
            </a:r>
          </a:p>
          <a:p>
            <a:pPr algn="l">
              <a:spcAft>
                <a:spcPts val="400"/>
              </a:spcAft>
            </a:pPr>
            <a:r>
              <a:rPr sz="1150" b="0">
                <a:solidFill>
                  <a:srgbClr val="161B26"/>
                </a:solidFill>
                <a:latin typeface="Arial"/>
              </a:rPr>
              <a:t>https://alfredang.github.io/paretochart/</a:t>
            </a:r>
          </a:p>
        </p:txBody>
      </p:sp>
      <p:sp>
        <p:nvSpPr>
          <p:cNvPr id="13" name="Rectangle 12"/>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No install, no login</a:t>
            </a:r>
          </a:p>
          <a:p>
            <a:pPr algn="l">
              <a:spcAft>
                <a:spcPts val="400"/>
              </a:spcAft>
            </a:pPr>
            <a:r>
              <a:rPr sz="1150" b="0">
                <a:solidFill>
                  <a:srgbClr val="161B26"/>
                </a:solidFill>
                <a:latin typeface="Arial"/>
              </a:rPr>
              <a:t>It runs in the browser. Work on one shared screen as a team.</a:t>
            </a:r>
          </a:p>
        </p:txBody>
      </p:sp>
      <p:sp>
        <p:nvSpPr>
          <p:cNvPr id="16" name="Rectangle 15"/>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Build the artefact</a:t>
            </a:r>
          </a:p>
          <a:p>
            <a:pPr algn="l">
              <a:spcAft>
                <a:spcPts val="400"/>
              </a:spcAft>
            </a:pPr>
            <a:r>
              <a:rPr sz="1150" b="0">
                <a:solidFill>
                  <a:srgbClr val="161B26"/>
                </a:solidFill>
                <a:latin typeface="Arial"/>
              </a:rPr>
              <a:t>The deliverable named on the next slide.</a:t>
            </a:r>
          </a:p>
        </p:txBody>
      </p:sp>
      <p:sp>
        <p:nvSpPr>
          <p:cNvPr id="19" name="Rectangle 18"/>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Export it</a:t>
            </a:r>
          </a:p>
          <a:p>
            <a:pPr algn="l">
              <a:spcAft>
                <a:spcPts val="400"/>
              </a:spcAft>
            </a:pPr>
            <a:r>
              <a:rPr sz="1150" b="0">
                <a:solidFill>
                  <a:srgbClr val="161B26"/>
                </a:solidFill>
                <a:latin typeface="Arial"/>
              </a:rPr>
              <a:t>Screenshot or export into your Activity worksheet.</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Prioritise Defect Causes with a Pareto Chart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52560" y="457200"/>
            <a:ext cx="2359152"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457200"/>
            <a:ext cx="2359152" cy="420624"/>
          </a:xfrm>
          <a:prstGeom prst="rect">
            <a:avLst/>
          </a:prstGeom>
          <a:noFill/>
        </p:spPr>
        <p:txBody>
          <a:bodyPr wrap="square" anchor="ctr" lIns="0" rIns="0" tIns="0" bIns="0">
            <a:spAutoFit/>
          </a:bodyPr>
          <a:lstStyle/>
          <a:p>
            <a:pPr algn="ctr">
              <a:spcAft>
                <a:spcPts val="400"/>
              </a:spcAft>
            </a:pPr>
            <a:r>
              <a:rPr sz="1150" b="1">
                <a:solidFill>
                  <a:srgbClr val="FFFFFF"/>
                </a:solidFill>
                <a:latin typeface="Arial"/>
              </a:rPr>
              <a:t>ACTIVITY 7  ·  45 MIN</a:t>
            </a:r>
          </a:p>
        </p:txBody>
      </p:sp>
      <p:sp>
        <p:nvSpPr>
          <p:cNvPr id="9" name="Rectangle 8"/>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83664"/>
            <a:ext cx="10241280" cy="256032"/>
          </a:xfrm>
          <a:prstGeom prst="rect">
            <a:avLst/>
          </a:prstGeom>
          <a:noFill/>
        </p:spPr>
        <p:txBody>
          <a:bodyPr wrap="square" anchor="t" lIns="0" rIns="0" tIns="0" bIns="0">
            <a:spAutoFit/>
          </a:bodyPr>
          <a:lstStyle/>
          <a:p>
            <a:pPr algn="l">
              <a:spcAft>
                <a:spcPts val="400"/>
              </a:spcAft>
            </a:pPr>
            <a:r>
              <a:rPr sz="1100" b="1">
                <a:solidFill>
                  <a:srgbClr val="7C3AED"/>
                </a:solidFill>
                <a:latin typeface="Arial"/>
              </a:rPr>
              <a:t>THE SITUATION</a:t>
            </a:r>
          </a:p>
        </p:txBody>
      </p:sp>
      <p:sp>
        <p:nvSpPr>
          <p:cNvPr id="12" name="TextBox 11"/>
          <p:cNvSpPr txBox="1"/>
          <p:nvPr/>
        </p:nvSpPr>
        <p:spPr>
          <a:xfrm>
            <a:off x="1060704" y="2139696"/>
            <a:ext cx="10195560" cy="905256"/>
          </a:xfrm>
          <a:prstGeom prst="rect">
            <a:avLst/>
          </a:prstGeom>
          <a:noFill/>
        </p:spPr>
        <p:txBody>
          <a:bodyPr wrap="square" anchor="t" lIns="0" rIns="0" tIns="0" bIns="0">
            <a:spAutoFit/>
          </a:bodyPr>
          <a:lstStyle/>
          <a:p>
            <a:pPr algn="l">
              <a:spcAft>
                <a:spcPts val="400"/>
              </a:spcAft>
            </a:pPr>
            <a:r>
              <a:rPr sz="1200" b="0">
                <a:solidFill>
                  <a:srgbClr val="161B26"/>
                </a:solidFill>
                <a:latin typeface="Arial"/>
              </a:rPr>
              <a:t>Three sprints in, CustomerConnect has accumulated 120 logged defects. The team has capacity to attack roughly two root causes in Sprint 4, and the operations manager wants all 120 fixed. The Scrum Master has categorised every defect by cause and wants the team to decide with data rather than by whoever complains loudest.</a:t>
            </a:r>
          </a:p>
        </p:txBody>
      </p:sp>
      <p:sp>
        <p:nvSpPr>
          <p:cNvPr id="13" name="Rectangle 12"/>
          <p:cNvSpPr/>
          <p:nvPr/>
        </p:nvSpPr>
        <p:spPr>
          <a:xfrm>
            <a:off x="777240"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2461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401568"/>
            <a:ext cx="2980944" cy="292608"/>
          </a:xfrm>
          <a:prstGeom prst="rect">
            <a:avLst/>
          </a:prstGeom>
          <a:noFill/>
        </p:spPr>
        <p:txBody>
          <a:bodyPr wrap="square" anchor="t" lIns="0" rIns="0" tIns="0" bIns="0">
            <a:spAutoFit/>
          </a:bodyPr>
          <a:lstStyle/>
          <a:p>
            <a:pPr algn="l">
              <a:spcAft>
                <a:spcPts val="400"/>
              </a:spcAft>
            </a:pPr>
            <a:r>
              <a:rPr sz="1100" b="1">
                <a:solidFill>
                  <a:srgbClr val="1F6FEB"/>
                </a:solidFill>
                <a:latin typeface="Arial"/>
              </a:rPr>
              <a:t>WHAT YOU'LL DO</a:t>
            </a:r>
          </a:p>
        </p:txBody>
      </p:sp>
      <p:sp>
        <p:nvSpPr>
          <p:cNvPr id="16" name="TextBox 15"/>
          <p:cNvSpPr txBox="1"/>
          <p:nvPr/>
        </p:nvSpPr>
        <p:spPr>
          <a:xfrm>
            <a:off x="996696"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team loads the 120-defect dataset into the Pareto tool, builds the ranked bar chart with the cumulative percentage line, identifies the vital few causes crossing the 80% threshold, and converts that finding into a Sprint 4 commitment with a measurable target. You then confront the trade-off with the operations manager.</a:t>
            </a:r>
          </a:p>
        </p:txBody>
      </p:sp>
      <p:sp>
        <p:nvSpPr>
          <p:cNvPr id="17" name="Rectangle 16"/>
          <p:cNvSpPr/>
          <p:nvPr/>
        </p:nvSpPr>
        <p:spPr>
          <a:xfrm>
            <a:off x="4398264"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32461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3401568"/>
            <a:ext cx="2980944" cy="292608"/>
          </a:xfrm>
          <a:prstGeom prst="rect">
            <a:avLst/>
          </a:prstGeom>
          <a:noFill/>
        </p:spPr>
        <p:txBody>
          <a:bodyPr wrap="square" anchor="t" lIns="0" rIns="0" tIns="0" bIns="0">
            <a:spAutoFit/>
          </a:bodyPr>
          <a:lstStyle/>
          <a:p>
            <a:pPr algn="l">
              <a:spcAft>
                <a:spcPts val="400"/>
              </a:spcAft>
            </a:pPr>
            <a:r>
              <a:rPr sz="1100" b="1">
                <a:solidFill>
                  <a:srgbClr val="10B981"/>
                </a:solidFill>
                <a:latin typeface="Arial"/>
              </a:rPr>
              <a:t>YOU'LL PRODUCE</a:t>
            </a:r>
          </a:p>
        </p:txBody>
      </p:sp>
      <p:sp>
        <p:nvSpPr>
          <p:cNvPr id="20" name="TextBox 19"/>
          <p:cNvSpPr txBox="1"/>
          <p:nvPr/>
        </p:nvSpPr>
        <p:spPr>
          <a:xfrm>
            <a:off x="4617720"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A completed Pareto chart of 8 defect categories with a cumulative line, the identified vital few, and a Sprint 4 improvement commitment with a numeric target and the projected defect reduction.</a:t>
            </a:r>
          </a:p>
        </p:txBody>
      </p:sp>
      <p:sp>
        <p:nvSpPr>
          <p:cNvPr id="21" name="Rectangle 20"/>
          <p:cNvSpPr/>
          <p:nvPr/>
        </p:nvSpPr>
        <p:spPr>
          <a:xfrm>
            <a:off x="8019288"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3246120"/>
            <a:ext cx="339242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3401568"/>
            <a:ext cx="2980944" cy="292608"/>
          </a:xfrm>
          <a:prstGeom prst="rect">
            <a:avLst/>
          </a:prstGeom>
          <a:noFill/>
        </p:spPr>
        <p:txBody>
          <a:bodyPr wrap="square" anchor="t" lIns="0" rIns="0" tIns="0" bIns="0">
            <a:spAutoFit/>
          </a:bodyPr>
          <a:lstStyle/>
          <a:p>
            <a:pPr algn="l">
              <a:spcAft>
                <a:spcPts val="400"/>
              </a:spcAft>
            </a:pPr>
            <a:r>
              <a:rPr sz="1100" b="1">
                <a:solidFill>
                  <a:srgbClr val="F59E0B"/>
                </a:solidFill>
                <a:latin typeface="Arial"/>
              </a:rPr>
              <a:t>DONE WHEN</a:t>
            </a:r>
          </a:p>
        </p:txBody>
      </p:sp>
      <p:sp>
        <p:nvSpPr>
          <p:cNvPr id="24" name="TextBox 23"/>
          <p:cNvSpPr txBox="1"/>
          <p:nvPr/>
        </p:nvSpPr>
        <p:spPr>
          <a:xfrm>
            <a:off x="8238744"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chart is sorted descending, the cumulative line reaches 100%, and your vital few are justified by the crossing point rather than chosen by intuition. Your Sprint 4 target is numeric and verifiable. If your recommendation is 'fix everything', you have not used the chart to make a decision.</a:t>
            </a:r>
          </a:p>
        </p:txBody>
      </p:sp>
      <p:sp>
        <p:nvSpPr>
          <p:cNvPr id="25" name="Rectangle 24"/>
          <p:cNvSpPr/>
          <p:nvPr/>
        </p:nvSpPr>
        <p:spPr>
          <a:xfrm>
            <a:off x="777240" y="5504688"/>
            <a:ext cx="10634472" cy="7132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5577840"/>
            <a:ext cx="118872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577840"/>
            <a:ext cx="1188720" cy="566928"/>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ACT 7</a:t>
            </a:r>
          </a:p>
        </p:txBody>
      </p:sp>
      <p:sp>
        <p:nvSpPr>
          <p:cNvPr id="28" name="TextBox 27"/>
          <p:cNvSpPr txBox="1"/>
          <p:nvPr/>
        </p:nvSpPr>
        <p:spPr>
          <a:xfrm>
            <a:off x="2148840" y="5577840"/>
            <a:ext cx="9052560" cy="310896"/>
          </a:xfrm>
          <a:prstGeom prst="rect">
            <a:avLst/>
          </a:prstGeom>
          <a:noFill/>
        </p:spPr>
        <p:txBody>
          <a:bodyPr wrap="square" anchor="t" lIns="0" rIns="0" tIns="0" bIns="0">
            <a:spAutoFit/>
          </a:bodyPr>
          <a:lstStyle/>
          <a:p>
            <a:pPr algn="l">
              <a:spcAft>
                <a:spcPts val="400"/>
              </a:spcAft>
            </a:pPr>
            <a:r>
              <a:rPr sz="1200" b="1">
                <a:solidFill>
                  <a:srgbClr val="161B26"/>
                </a:solidFill>
                <a:latin typeface="Arial"/>
              </a:rPr>
              <a:t>Tool: Pareto Chart — https://alfredang.github.io/paretochart/</a:t>
            </a:r>
          </a:p>
        </p:txBody>
      </p:sp>
      <p:sp>
        <p:nvSpPr>
          <p:cNvPr id="29" name="TextBox 28"/>
          <p:cNvSpPr txBox="1"/>
          <p:nvPr/>
        </p:nvSpPr>
        <p:spPr>
          <a:xfrm>
            <a:off x="2148840" y="5870448"/>
            <a:ext cx="9098280" cy="329184"/>
          </a:xfrm>
          <a:prstGeom prst="rect">
            <a:avLst/>
          </a:prstGeom>
          <a:noFill/>
        </p:spPr>
        <p:txBody>
          <a:bodyPr wrap="square" anchor="t" lIns="0" rIns="0" tIns="0" bIns="0">
            <a:spAutoFit/>
          </a:bodyPr>
          <a:lstStyle/>
          <a:p>
            <a:pPr algn="l">
              <a:spcAft>
                <a:spcPts val="400"/>
              </a:spcAft>
            </a:pPr>
            <a:r>
              <a:rPr sz="1000" b="0">
                <a:solidFill>
                  <a:srgbClr val="5B6372"/>
                </a:solidFill>
                <a:latin typeface="Arial"/>
              </a:rPr>
              <a:t>LO 3  ·  Measure progress against targets and reduce waste and defects by identifying the few causes driving most of the failures (A3, A4, A6).  ·  Full step-by-step: Learner Guide, Activity 7</a:t>
            </a:r>
          </a:p>
        </p:txBody>
      </p:sp>
      <p:sp>
        <p:nvSpPr>
          <p:cNvPr id="30" name="TextBox 2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1" name="TextBox 3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03 · ACTIVITY 7 DEBRIEF</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Debrief — Activity 7: What It Proves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4825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48256"/>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91056" y="1901952"/>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Pareto turns 'everything is broken' into 'two things are broken and they cause most of it'.</a:t>
            </a:r>
          </a:p>
        </p:txBody>
      </p:sp>
      <p:sp>
        <p:nvSpPr>
          <p:cNvPr id="12" name="Rectangle 11"/>
          <p:cNvSpPr/>
          <p:nvPr/>
        </p:nvSpPr>
        <p:spPr>
          <a:xfrm>
            <a:off x="777240" y="2926080"/>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6080"/>
            <a:ext cx="9144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63824"/>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63824"/>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91056" y="3017520"/>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Activities 6 and 7 combine: 5 Whys finds the cause, Pareto proves it is the one worth fixing first.</a:t>
            </a:r>
          </a:p>
        </p:txBody>
      </p:sp>
      <p:sp>
        <p:nvSpPr>
          <p:cNvPr id="17" name="Rectangle 16"/>
          <p:cNvSpPr/>
          <p:nvPr/>
        </p:nvSpPr>
        <p:spPr>
          <a:xfrm>
            <a:off x="777240" y="4041648"/>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41648"/>
            <a:ext cx="9144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9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9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91056" y="4133088"/>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This is A3 and A4 in practice: reducing waste and defects, and measuring against a defined target rather than an impression.</a:t>
            </a:r>
          </a:p>
        </p:txBody>
      </p:sp>
      <p:sp>
        <p:nvSpPr>
          <p:cNvPr id="22" name="Rectangle 21"/>
          <p:cNvSpPr/>
          <p:nvPr/>
        </p:nvSpPr>
        <p:spPr>
          <a:xfrm>
            <a:off x="777240" y="5074920"/>
            <a:ext cx="10634472" cy="1078992"/>
          </a:xfrm>
          <a:prstGeom prst="rect">
            <a:avLst/>
          </a:prstGeom>
          <a:solidFill>
            <a:srgbClr val="FFFFFF"/>
          </a:solidFill>
          <a:ln w="12700">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157216"/>
            <a:ext cx="10241280" cy="274320"/>
          </a:xfrm>
          <a:prstGeom prst="rect">
            <a:avLst/>
          </a:prstGeom>
          <a:noFill/>
        </p:spPr>
        <p:txBody>
          <a:bodyPr wrap="square" anchor="t" lIns="0" rIns="0" tIns="0" bIns="0">
            <a:spAutoFit/>
          </a:bodyPr>
          <a:lstStyle/>
          <a:p>
            <a:pPr algn="l">
              <a:spcAft>
                <a:spcPts val="400"/>
              </a:spcAft>
            </a:pPr>
            <a:r>
              <a:rPr sz="1100" b="1">
                <a:solidFill>
                  <a:srgbClr val="127A3E"/>
                </a:solidFill>
                <a:latin typeface="Arial"/>
              </a:rPr>
              <a:t>SUCCESS CRITERION</a:t>
            </a:r>
          </a:p>
        </p:txBody>
      </p:sp>
      <p:sp>
        <p:nvSpPr>
          <p:cNvPr id="24" name="TextBox 23"/>
          <p:cNvSpPr txBox="1"/>
          <p:nvPr/>
        </p:nvSpPr>
        <p:spPr>
          <a:xfrm>
            <a:off x="1051560" y="5440680"/>
            <a:ext cx="10241280" cy="658368"/>
          </a:xfrm>
          <a:prstGeom prst="rect">
            <a:avLst/>
          </a:prstGeom>
          <a:noFill/>
        </p:spPr>
        <p:txBody>
          <a:bodyPr wrap="square" anchor="t" lIns="0" rIns="0" tIns="0" bIns="0">
            <a:spAutoFit/>
          </a:bodyPr>
          <a:lstStyle/>
          <a:p>
            <a:pPr algn="l">
              <a:spcAft>
                <a:spcPts val="400"/>
              </a:spcAft>
            </a:pPr>
            <a:r>
              <a:rPr sz="1150" b="0">
                <a:solidFill>
                  <a:srgbClr val="161B26"/>
                </a:solidFill>
                <a:latin typeface="Arial"/>
              </a:rPr>
              <a:t>Your chart is sorted descending, the cumulative line reaches 100%, and your vital few are justified by the crossing point rather than chosen by intuition. Your Sprint 4 target is numeric and verifiable. If your recommendation is 'fix everything', you have not used the chart to make a decision.</a:t>
            </a:r>
          </a:p>
        </p:txBody>
      </p:sp>
      <p:sp>
        <p:nvSpPr>
          <p:cNvPr id="25" name="TextBox 2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6" name="TextBox 2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ACTIVITY 8 · TOOL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Tool — Scrum 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ol-scrum.png"/>
          <p:cNvPicPr>
            <a:picLocks noChangeAspect="1"/>
          </p:cNvPicPr>
          <p:nvPr/>
        </p:nvPicPr>
        <p:blipFill>
          <a:blip r:embed="rId2"/>
          <a:stretch>
            <a:fillRect/>
          </a:stretch>
        </p:blipFill>
        <p:spPr>
          <a:xfrm>
            <a:off x="777240" y="1828800"/>
            <a:ext cx="6071616" cy="3794760"/>
          </a:xfrm>
          <a:prstGeom prst="rect">
            <a:avLst/>
          </a:prstGeom>
        </p:spPr>
      </p:pic>
      <p:sp>
        <p:nvSpPr>
          <p:cNvPr id="8" name="Rectangle 7"/>
          <p:cNvSpPr/>
          <p:nvPr/>
        </p:nvSpPr>
        <p:spPr>
          <a:xfrm>
            <a:off x="777240" y="5742432"/>
            <a:ext cx="6400800" cy="3840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42432"/>
            <a:ext cx="6126480" cy="384048"/>
          </a:xfrm>
          <a:prstGeom prst="rect">
            <a:avLst/>
          </a:prstGeom>
          <a:noFill/>
        </p:spPr>
        <p:txBody>
          <a:bodyPr wrap="square" anchor="ctr" lIns="0" rIns="0" tIns="0" bIns="0">
            <a:spAutoFit/>
          </a:bodyPr>
          <a:lstStyle/>
          <a:p>
            <a:pPr algn="l">
              <a:spcAft>
                <a:spcPts val="400"/>
              </a:spcAft>
            </a:pPr>
            <a:r>
              <a:rPr sz="1100" b="0">
                <a:solidFill>
                  <a:srgbClr val="5B6372"/>
                </a:solidFill>
                <a:latin typeface="Arial"/>
              </a:rPr>
              <a:t>Activity 8 · 45 minutes · full step-by-step: Learner Guide, Activity 8</a:t>
            </a:r>
          </a:p>
        </p:txBody>
      </p:sp>
      <p:sp>
        <p:nvSpPr>
          <p:cNvPr id="10" name="Rectangle 9"/>
          <p:cNvSpPr/>
          <p:nvPr/>
        </p:nvSpPr>
        <p:spPr>
          <a:xfrm>
            <a:off x="7452360" y="181051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1810512"/>
            <a:ext cx="395935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993392"/>
            <a:ext cx="3538728" cy="662940"/>
          </a:xfrm>
          <a:prstGeom prst="rect">
            <a:avLst/>
          </a:prstGeom>
          <a:noFill/>
        </p:spPr>
        <p:txBody>
          <a:bodyPr wrap="square" anchor="t" lIns="0" rIns="0" tIns="0" bIns="0">
            <a:spAutoFit/>
          </a:bodyPr>
          <a:lstStyle/>
          <a:p>
            <a:pPr algn="l">
              <a:spcAft>
                <a:spcPts val="400"/>
              </a:spcAft>
            </a:pPr>
            <a:r>
              <a:rPr sz="1350" b="1">
                <a:solidFill>
                  <a:srgbClr val="1F6FEB"/>
                </a:solidFill>
                <a:latin typeface="Arial"/>
              </a:rPr>
              <a:t>Open it in your browser</a:t>
            </a:r>
          </a:p>
          <a:p>
            <a:pPr algn="l">
              <a:spcAft>
                <a:spcPts val="400"/>
              </a:spcAft>
            </a:pPr>
            <a:r>
              <a:rPr sz="1150" b="0">
                <a:solidFill>
                  <a:srgbClr val="161B26"/>
                </a:solidFill>
                <a:latin typeface="Arial"/>
              </a:rPr>
              <a:t>https://alfredang.github.io/scrum/</a:t>
            </a:r>
          </a:p>
        </p:txBody>
      </p:sp>
      <p:sp>
        <p:nvSpPr>
          <p:cNvPr id="13" name="Rectangle 12"/>
          <p:cNvSpPr/>
          <p:nvPr/>
        </p:nvSpPr>
        <p:spPr>
          <a:xfrm>
            <a:off x="7452360" y="293065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2930652"/>
            <a:ext cx="395935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71816" y="3113532"/>
            <a:ext cx="3538728" cy="662940"/>
          </a:xfrm>
          <a:prstGeom prst="rect">
            <a:avLst/>
          </a:prstGeom>
          <a:noFill/>
        </p:spPr>
        <p:txBody>
          <a:bodyPr wrap="square" anchor="t" lIns="0" rIns="0" tIns="0" bIns="0">
            <a:spAutoFit/>
          </a:bodyPr>
          <a:lstStyle/>
          <a:p>
            <a:pPr algn="l">
              <a:spcAft>
                <a:spcPts val="400"/>
              </a:spcAft>
            </a:pPr>
            <a:r>
              <a:rPr sz="1350" b="1">
                <a:solidFill>
                  <a:srgbClr val="10B981"/>
                </a:solidFill>
                <a:latin typeface="Arial"/>
              </a:rPr>
              <a:t>No install, no login</a:t>
            </a:r>
          </a:p>
          <a:p>
            <a:pPr algn="l">
              <a:spcAft>
                <a:spcPts val="400"/>
              </a:spcAft>
            </a:pPr>
            <a:r>
              <a:rPr sz="1150" b="0">
                <a:solidFill>
                  <a:srgbClr val="161B26"/>
                </a:solidFill>
                <a:latin typeface="Arial"/>
              </a:rPr>
              <a:t>It runs in the browser. Work on one shared screen as a team.</a:t>
            </a:r>
          </a:p>
        </p:txBody>
      </p:sp>
      <p:sp>
        <p:nvSpPr>
          <p:cNvPr id="16" name="Rectangle 15"/>
          <p:cNvSpPr/>
          <p:nvPr/>
        </p:nvSpPr>
        <p:spPr>
          <a:xfrm>
            <a:off x="7452360" y="405079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52360" y="4050792"/>
            <a:ext cx="395935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4233672"/>
            <a:ext cx="3538728" cy="662940"/>
          </a:xfrm>
          <a:prstGeom prst="rect">
            <a:avLst/>
          </a:prstGeom>
          <a:noFill/>
        </p:spPr>
        <p:txBody>
          <a:bodyPr wrap="square" anchor="t" lIns="0" rIns="0" tIns="0" bIns="0">
            <a:spAutoFit/>
          </a:bodyPr>
          <a:lstStyle/>
          <a:p>
            <a:pPr algn="l">
              <a:spcAft>
                <a:spcPts val="400"/>
              </a:spcAft>
            </a:pPr>
            <a:r>
              <a:rPr sz="1350" b="1">
                <a:solidFill>
                  <a:srgbClr val="7C3AED"/>
                </a:solidFill>
                <a:latin typeface="Arial"/>
              </a:rPr>
              <a:t>Build the artefact</a:t>
            </a:r>
          </a:p>
          <a:p>
            <a:pPr algn="l">
              <a:spcAft>
                <a:spcPts val="400"/>
              </a:spcAft>
            </a:pPr>
            <a:r>
              <a:rPr sz="1150" b="0">
                <a:solidFill>
                  <a:srgbClr val="161B26"/>
                </a:solidFill>
                <a:latin typeface="Arial"/>
              </a:rPr>
              <a:t>The deliverable named on the next slide.</a:t>
            </a:r>
          </a:p>
        </p:txBody>
      </p:sp>
      <p:sp>
        <p:nvSpPr>
          <p:cNvPr id="19" name="Rectangle 18"/>
          <p:cNvSpPr/>
          <p:nvPr/>
        </p:nvSpPr>
        <p:spPr>
          <a:xfrm>
            <a:off x="7452360" y="5170932"/>
            <a:ext cx="3959352"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5170932"/>
            <a:ext cx="3959352"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71816" y="5353812"/>
            <a:ext cx="3538728" cy="662940"/>
          </a:xfrm>
          <a:prstGeom prst="rect">
            <a:avLst/>
          </a:prstGeom>
          <a:noFill/>
        </p:spPr>
        <p:txBody>
          <a:bodyPr wrap="square" anchor="t" lIns="0" rIns="0" tIns="0" bIns="0">
            <a:spAutoFit/>
          </a:bodyPr>
          <a:lstStyle/>
          <a:p>
            <a:pPr algn="l">
              <a:spcAft>
                <a:spcPts val="400"/>
              </a:spcAft>
            </a:pPr>
            <a:r>
              <a:rPr sz="1350" b="1">
                <a:solidFill>
                  <a:srgbClr val="F59E0B"/>
                </a:solidFill>
                <a:latin typeface="Arial"/>
              </a:rPr>
              <a:t>Export it</a:t>
            </a:r>
          </a:p>
          <a:p>
            <a:pPr algn="l">
              <a:spcAft>
                <a:spcPts val="400"/>
              </a:spcAft>
            </a:pPr>
            <a:r>
              <a:rPr sz="1150" b="0">
                <a:solidFill>
                  <a:srgbClr val="161B26"/>
                </a:solidFill>
                <a:latin typeface="Arial"/>
              </a:rPr>
              <a:t>Screenshot or export into your Activity worksheet.</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500" b="1">
                <a:solidFill>
                  <a:srgbClr val="161B26"/>
                </a:solidFill>
                <a:latin typeface="Arial"/>
              </a:rPr>
              <a:t>Forecast the Release from Velocity and Read the Agile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52560" y="457200"/>
            <a:ext cx="2359152"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457200"/>
            <a:ext cx="2359152" cy="420624"/>
          </a:xfrm>
          <a:prstGeom prst="rect">
            <a:avLst/>
          </a:prstGeom>
          <a:noFill/>
        </p:spPr>
        <p:txBody>
          <a:bodyPr wrap="square" anchor="ctr" lIns="0" rIns="0" tIns="0" bIns="0">
            <a:spAutoFit/>
          </a:bodyPr>
          <a:lstStyle/>
          <a:p>
            <a:pPr algn="ctr">
              <a:spcAft>
                <a:spcPts val="400"/>
              </a:spcAft>
            </a:pPr>
            <a:r>
              <a:rPr sz="1150" b="1">
                <a:solidFill>
                  <a:srgbClr val="FFFFFF"/>
                </a:solidFill>
                <a:latin typeface="Arial"/>
              </a:rPr>
              <a:t>ACTIVITY 8  ·  45 MIN</a:t>
            </a:r>
          </a:p>
        </p:txBody>
      </p:sp>
      <p:sp>
        <p:nvSpPr>
          <p:cNvPr id="9" name="Rectangle 8"/>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0704" y="1883664"/>
            <a:ext cx="10241280" cy="256032"/>
          </a:xfrm>
          <a:prstGeom prst="rect">
            <a:avLst/>
          </a:prstGeom>
          <a:noFill/>
        </p:spPr>
        <p:txBody>
          <a:bodyPr wrap="square" anchor="t" lIns="0" rIns="0" tIns="0" bIns="0">
            <a:spAutoFit/>
          </a:bodyPr>
          <a:lstStyle/>
          <a:p>
            <a:pPr algn="l">
              <a:spcAft>
                <a:spcPts val="400"/>
              </a:spcAft>
            </a:pPr>
            <a:r>
              <a:rPr sz="1100" b="1">
                <a:solidFill>
                  <a:srgbClr val="7C3AED"/>
                </a:solidFill>
                <a:latin typeface="Arial"/>
              </a:rPr>
              <a:t>THE SITUATION</a:t>
            </a:r>
          </a:p>
        </p:txBody>
      </p:sp>
      <p:sp>
        <p:nvSpPr>
          <p:cNvPr id="12" name="TextBox 11"/>
          <p:cNvSpPr txBox="1"/>
          <p:nvPr/>
        </p:nvSpPr>
        <p:spPr>
          <a:xfrm>
            <a:off x="1060704" y="2139696"/>
            <a:ext cx="10195560" cy="905256"/>
          </a:xfrm>
          <a:prstGeom prst="rect">
            <a:avLst/>
          </a:prstGeom>
          <a:noFill/>
        </p:spPr>
        <p:txBody>
          <a:bodyPr wrap="square" anchor="t" lIns="0" rIns="0" tIns="0" bIns="0">
            <a:spAutoFit/>
          </a:bodyPr>
          <a:lstStyle/>
          <a:p>
            <a:pPr algn="l">
              <a:spcAft>
                <a:spcPts val="400"/>
              </a:spcAft>
            </a:pPr>
            <a:r>
              <a:rPr sz="1200" b="0">
                <a:solidFill>
                  <a:srgbClr val="161B26"/>
                </a:solidFill>
                <a:latin typeface="Arial"/>
              </a:rPr>
              <a:t>The HarbourFront committee meets on Friday and wants one answer: when will the remaining CustomerConnect scope be delivered? The team has completed 4 sprints with velocities of 14, 18, 17 and 21 points. There are 186 points left in the backlog. The programme director wants a single date. The operations manager has separately asked why the support queue keeps growing despite the team 'going faster'.</a:t>
            </a:r>
          </a:p>
        </p:txBody>
      </p:sp>
      <p:sp>
        <p:nvSpPr>
          <p:cNvPr id="13" name="Rectangle 12"/>
          <p:cNvSpPr/>
          <p:nvPr/>
        </p:nvSpPr>
        <p:spPr>
          <a:xfrm>
            <a:off x="777240"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2461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401568"/>
            <a:ext cx="2980944" cy="292608"/>
          </a:xfrm>
          <a:prstGeom prst="rect">
            <a:avLst/>
          </a:prstGeom>
          <a:noFill/>
        </p:spPr>
        <p:txBody>
          <a:bodyPr wrap="square" anchor="t" lIns="0" rIns="0" tIns="0" bIns="0">
            <a:spAutoFit/>
          </a:bodyPr>
          <a:lstStyle/>
          <a:p>
            <a:pPr algn="l">
              <a:spcAft>
                <a:spcPts val="400"/>
              </a:spcAft>
            </a:pPr>
            <a:r>
              <a:rPr sz="1100" b="1">
                <a:solidFill>
                  <a:srgbClr val="1F6FEB"/>
                </a:solidFill>
                <a:latin typeface="Arial"/>
              </a:rPr>
              <a:t>WHAT YOU'LL DO</a:t>
            </a:r>
          </a:p>
        </p:txBody>
      </p:sp>
      <p:sp>
        <p:nvSpPr>
          <p:cNvPr id="16" name="TextBox 15"/>
          <p:cNvSpPr txBox="1"/>
          <p:nvPr/>
        </p:nvSpPr>
        <p:spPr>
          <a:xfrm>
            <a:off x="996696"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team computes average velocity, builds a forecast range rather than a single date, plots a release burndown, and interprets a supplied cumulative flow diagram and control chart to locate the bottleneck behind the growing support queue. You then write the committee answer — a range with its assumptions stated.</a:t>
            </a:r>
          </a:p>
        </p:txBody>
      </p:sp>
      <p:sp>
        <p:nvSpPr>
          <p:cNvPr id="17" name="Rectangle 16"/>
          <p:cNvSpPr/>
          <p:nvPr/>
        </p:nvSpPr>
        <p:spPr>
          <a:xfrm>
            <a:off x="4398264"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8264" y="32461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3401568"/>
            <a:ext cx="2980944" cy="292608"/>
          </a:xfrm>
          <a:prstGeom prst="rect">
            <a:avLst/>
          </a:prstGeom>
          <a:noFill/>
        </p:spPr>
        <p:txBody>
          <a:bodyPr wrap="square" anchor="t" lIns="0" rIns="0" tIns="0" bIns="0">
            <a:spAutoFit/>
          </a:bodyPr>
          <a:lstStyle/>
          <a:p>
            <a:pPr algn="l">
              <a:spcAft>
                <a:spcPts val="400"/>
              </a:spcAft>
            </a:pPr>
            <a:r>
              <a:rPr sz="1100" b="1">
                <a:solidFill>
                  <a:srgbClr val="10B981"/>
                </a:solidFill>
                <a:latin typeface="Arial"/>
              </a:rPr>
              <a:t>YOU'LL PRODUCE</a:t>
            </a:r>
          </a:p>
        </p:txBody>
      </p:sp>
      <p:sp>
        <p:nvSpPr>
          <p:cNvPr id="20" name="TextBox 19"/>
          <p:cNvSpPr txBox="1"/>
          <p:nvPr/>
        </p:nvSpPr>
        <p:spPr>
          <a:xfrm>
            <a:off x="4617720"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A velocity-based forecast range in sprints and calendar dates, a release burndown, a written interpretation of the CFD and control chart naming the bottleneck, and a one-paragraph answer to the committee.</a:t>
            </a:r>
          </a:p>
        </p:txBody>
      </p:sp>
      <p:sp>
        <p:nvSpPr>
          <p:cNvPr id="21" name="Rectangle 20"/>
          <p:cNvSpPr/>
          <p:nvPr/>
        </p:nvSpPr>
        <p:spPr>
          <a:xfrm>
            <a:off x="8019288" y="3246120"/>
            <a:ext cx="3392424" cy="208483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3246120"/>
            <a:ext cx="339242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3401568"/>
            <a:ext cx="2980944" cy="292608"/>
          </a:xfrm>
          <a:prstGeom prst="rect">
            <a:avLst/>
          </a:prstGeom>
          <a:noFill/>
        </p:spPr>
        <p:txBody>
          <a:bodyPr wrap="square" anchor="t" lIns="0" rIns="0" tIns="0" bIns="0">
            <a:spAutoFit/>
          </a:bodyPr>
          <a:lstStyle/>
          <a:p>
            <a:pPr algn="l">
              <a:spcAft>
                <a:spcPts val="400"/>
              </a:spcAft>
            </a:pPr>
            <a:r>
              <a:rPr sz="1100" b="1">
                <a:solidFill>
                  <a:srgbClr val="F59E0B"/>
                </a:solidFill>
                <a:latin typeface="Arial"/>
              </a:rPr>
              <a:t>DONE WHEN</a:t>
            </a:r>
          </a:p>
        </p:txBody>
      </p:sp>
      <p:sp>
        <p:nvSpPr>
          <p:cNvPr id="24" name="TextBox 23"/>
          <p:cNvSpPr txBox="1"/>
          <p:nvPr/>
        </p:nvSpPr>
        <p:spPr>
          <a:xfrm>
            <a:off x="8238744" y="3712463"/>
            <a:ext cx="2980944" cy="1572768"/>
          </a:xfrm>
          <a:prstGeom prst="rect">
            <a:avLst/>
          </a:prstGeom>
          <a:noFill/>
        </p:spPr>
        <p:txBody>
          <a:bodyPr wrap="square" anchor="t" lIns="0" rIns="0" tIns="0" bIns="0">
            <a:spAutoFit/>
          </a:bodyPr>
          <a:lstStyle/>
          <a:p>
            <a:pPr algn="l">
              <a:spcAft>
                <a:spcPts val="400"/>
              </a:spcAft>
            </a:pPr>
            <a:r>
              <a:rPr sz="1050" b="0">
                <a:solidFill>
                  <a:srgbClr val="161B26"/>
                </a:solidFill>
                <a:latin typeface="Arial"/>
              </a:rPr>
              <a:t>Your answer is a range with assumptions, not a single date. You identify Testing as the bottleneck from the CFD and confirm it with the control chart. You explain the growing queue with Little's Law. If your recommendation is 'increase velocity', re-read the control chart — that is what caused the problem.</a:t>
            </a:r>
          </a:p>
        </p:txBody>
      </p:sp>
      <p:sp>
        <p:nvSpPr>
          <p:cNvPr id="25" name="Rectangle 24"/>
          <p:cNvSpPr/>
          <p:nvPr/>
        </p:nvSpPr>
        <p:spPr>
          <a:xfrm>
            <a:off x="777240" y="5504688"/>
            <a:ext cx="10634472" cy="7132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5577840"/>
            <a:ext cx="118872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5577840"/>
            <a:ext cx="1188720" cy="566928"/>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ACT 8</a:t>
            </a:r>
          </a:p>
        </p:txBody>
      </p:sp>
      <p:sp>
        <p:nvSpPr>
          <p:cNvPr id="28" name="TextBox 27"/>
          <p:cNvSpPr txBox="1"/>
          <p:nvPr/>
        </p:nvSpPr>
        <p:spPr>
          <a:xfrm>
            <a:off x="2148840" y="5577840"/>
            <a:ext cx="9052560" cy="310896"/>
          </a:xfrm>
          <a:prstGeom prst="rect">
            <a:avLst/>
          </a:prstGeom>
          <a:noFill/>
        </p:spPr>
        <p:txBody>
          <a:bodyPr wrap="square" anchor="t" lIns="0" rIns="0" tIns="0" bIns="0">
            <a:spAutoFit/>
          </a:bodyPr>
          <a:lstStyle/>
          <a:p>
            <a:pPr algn="l">
              <a:spcAft>
                <a:spcPts val="400"/>
              </a:spcAft>
            </a:pPr>
            <a:r>
              <a:rPr sz="1200" b="1">
                <a:solidFill>
                  <a:srgbClr val="161B26"/>
                </a:solidFill>
                <a:latin typeface="Arial"/>
              </a:rPr>
              <a:t>Tool: Scrum Board — https://alfredang.github.io/scrum/</a:t>
            </a:r>
          </a:p>
        </p:txBody>
      </p:sp>
      <p:sp>
        <p:nvSpPr>
          <p:cNvPr id="29" name="TextBox 28"/>
          <p:cNvSpPr txBox="1"/>
          <p:nvPr/>
        </p:nvSpPr>
        <p:spPr>
          <a:xfrm>
            <a:off x="2148840" y="5870448"/>
            <a:ext cx="9098280" cy="329184"/>
          </a:xfrm>
          <a:prstGeom prst="rect">
            <a:avLst/>
          </a:prstGeom>
          <a:noFill/>
        </p:spPr>
        <p:txBody>
          <a:bodyPr wrap="square" anchor="t" lIns="0" rIns="0" tIns="0" bIns="0">
            <a:spAutoFit/>
          </a:bodyPr>
          <a:lstStyle/>
          <a:p>
            <a:pPr algn="l">
              <a:spcAft>
                <a:spcPts val="400"/>
              </a:spcAft>
            </a:pPr>
            <a:r>
              <a:rPr sz="1000" b="0">
                <a:solidFill>
                  <a:srgbClr val="5B6372"/>
                </a:solidFill>
                <a:latin typeface="Arial"/>
              </a:rPr>
              <a:t>LO 3  ·  Measure progress against targets for defined business outcomes and forecast delivery from empirical data (A4, A6, A7).  ·  Full step-by-step: Learner Guide, Activity 8</a:t>
            </a:r>
          </a:p>
        </p:txBody>
      </p:sp>
      <p:sp>
        <p:nvSpPr>
          <p:cNvPr id="30" name="TextBox 29"/>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1" name="TextBox 30"/>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TOPIC 03 · ACTIVITY 8 DEBRIEF</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Debrief — Activity 8: What It Proves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8778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4128" y="2048256"/>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48256"/>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591056" y="1901952"/>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Five metrics, one story: burndown for the sprint, release burndown for the release, velocity for the forecast, control chart for cycle time, CFD for the bottleneck.</a:t>
            </a:r>
          </a:p>
        </p:txBody>
      </p:sp>
      <p:sp>
        <p:nvSpPr>
          <p:cNvPr id="12" name="Rectangle 11"/>
          <p:cNvSpPr/>
          <p:nvPr/>
        </p:nvSpPr>
        <p:spPr>
          <a:xfrm>
            <a:off x="777240" y="2926080"/>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26080"/>
            <a:ext cx="91440" cy="8778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4128" y="3163824"/>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163824"/>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6" name="TextBox 15"/>
          <p:cNvSpPr txBox="1"/>
          <p:nvPr/>
        </p:nvSpPr>
        <p:spPr>
          <a:xfrm>
            <a:off x="1591056" y="3017520"/>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Velocity up and cycle time up at the same time always means WIP is up. Little's Law is not optional arithmetic.</a:t>
            </a:r>
          </a:p>
        </p:txBody>
      </p:sp>
      <p:sp>
        <p:nvSpPr>
          <p:cNvPr id="17" name="Rectangle 16"/>
          <p:cNvSpPr/>
          <p:nvPr/>
        </p:nvSpPr>
        <p:spPr>
          <a:xfrm>
            <a:off x="777240" y="4041648"/>
            <a:ext cx="10634472" cy="8778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41648"/>
            <a:ext cx="91440" cy="8778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24128" y="4279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279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1" name="TextBox 20"/>
          <p:cNvSpPr txBox="1"/>
          <p:nvPr/>
        </p:nvSpPr>
        <p:spPr>
          <a:xfrm>
            <a:off x="1591056" y="4133088"/>
            <a:ext cx="9601200" cy="694944"/>
          </a:xfrm>
          <a:prstGeom prst="rect">
            <a:avLst/>
          </a:prstGeom>
          <a:noFill/>
        </p:spPr>
        <p:txBody>
          <a:bodyPr wrap="square" anchor="ctr" lIns="0" rIns="0" tIns="0" bIns="0">
            <a:spAutoFit/>
          </a:bodyPr>
          <a:lstStyle/>
          <a:p>
            <a:pPr algn="l">
              <a:spcAft>
                <a:spcPts val="400"/>
              </a:spcAft>
            </a:pPr>
            <a:r>
              <a:rPr sz="1300" b="0">
                <a:solidFill>
                  <a:srgbClr val="161B26"/>
                </a:solidFill>
                <a:latin typeface="Arial"/>
              </a:rPr>
              <a:t>This is A4 in practice: measuring progress against targets for defined business outcomes — and being honest with the committee about uncertainty.</a:t>
            </a:r>
          </a:p>
        </p:txBody>
      </p:sp>
      <p:sp>
        <p:nvSpPr>
          <p:cNvPr id="22" name="Rectangle 21"/>
          <p:cNvSpPr/>
          <p:nvPr/>
        </p:nvSpPr>
        <p:spPr>
          <a:xfrm>
            <a:off x="777240" y="5074920"/>
            <a:ext cx="10634472" cy="1078992"/>
          </a:xfrm>
          <a:prstGeom prst="rect">
            <a:avLst/>
          </a:prstGeom>
          <a:solidFill>
            <a:srgbClr val="FFFFFF"/>
          </a:solidFill>
          <a:ln w="12700">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157216"/>
            <a:ext cx="10241280" cy="274320"/>
          </a:xfrm>
          <a:prstGeom prst="rect">
            <a:avLst/>
          </a:prstGeom>
          <a:noFill/>
        </p:spPr>
        <p:txBody>
          <a:bodyPr wrap="square" anchor="t" lIns="0" rIns="0" tIns="0" bIns="0">
            <a:spAutoFit/>
          </a:bodyPr>
          <a:lstStyle/>
          <a:p>
            <a:pPr algn="l">
              <a:spcAft>
                <a:spcPts val="400"/>
              </a:spcAft>
            </a:pPr>
            <a:r>
              <a:rPr sz="1100" b="1">
                <a:solidFill>
                  <a:srgbClr val="127A3E"/>
                </a:solidFill>
                <a:latin typeface="Arial"/>
              </a:rPr>
              <a:t>SUCCESS CRITERION</a:t>
            </a:r>
          </a:p>
        </p:txBody>
      </p:sp>
      <p:sp>
        <p:nvSpPr>
          <p:cNvPr id="24" name="TextBox 23"/>
          <p:cNvSpPr txBox="1"/>
          <p:nvPr/>
        </p:nvSpPr>
        <p:spPr>
          <a:xfrm>
            <a:off x="1051560" y="5440680"/>
            <a:ext cx="10241280" cy="658368"/>
          </a:xfrm>
          <a:prstGeom prst="rect">
            <a:avLst/>
          </a:prstGeom>
          <a:noFill/>
        </p:spPr>
        <p:txBody>
          <a:bodyPr wrap="square" anchor="t" lIns="0" rIns="0" tIns="0" bIns="0">
            <a:spAutoFit/>
          </a:bodyPr>
          <a:lstStyle/>
          <a:p>
            <a:pPr algn="l">
              <a:spcAft>
                <a:spcPts val="400"/>
              </a:spcAft>
            </a:pPr>
            <a:r>
              <a:rPr sz="1150" b="0">
                <a:solidFill>
                  <a:srgbClr val="161B26"/>
                </a:solidFill>
                <a:latin typeface="Arial"/>
              </a:rPr>
              <a:t>Your answer is a range with assumptions, not a single date. You identify Testing as the bottleneck from the CFD and confirm it with the control chart. You explain the growing queue with Little's Law. If your recommendation is 'increase velocity', re-read the control chart — that is what caused the problem.</a:t>
            </a:r>
          </a:p>
        </p:txBody>
      </p:sp>
      <p:sp>
        <p:nvSpPr>
          <p:cNvPr id="25" name="TextBox 24"/>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6" name="TextBox 25"/>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TOPIC RECAP  ·  LO3  ·  K5, A4, A6, A7</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Recap — Agile Project Execution and Tracking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842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749808"/>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Activity 5 · Execute Sprint 1 and Track It on the Scrum Board</a:t>
            </a:r>
          </a:p>
          <a:p>
            <a:pPr algn="l">
              <a:spcAft>
                <a:spcPts val="300"/>
              </a:spcAft>
            </a:pPr>
            <a:r>
              <a:rPr sz="1050" b="0">
                <a:solidFill>
                  <a:srgbClr val="5B6372"/>
                </a:solidFill>
                <a:latin typeface="Arial"/>
              </a:rPr>
              <a:t>Measure progress against targets on a regular basis by executing a sprint on a live board and reading the burndown (K5, A4, A7).</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1363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044952"/>
            <a:ext cx="9482328" cy="749808"/>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Activity 6 · Run the Sprint Retrospective with 5 Whys Root-Cause Analysis</a:t>
            </a:r>
          </a:p>
          <a:p>
            <a:pPr algn="l">
              <a:spcAft>
                <a:spcPts val="300"/>
              </a:spcAft>
            </a:pPr>
            <a:r>
              <a:rPr sz="1050" b="0">
                <a:solidFill>
                  <a:srgbClr val="5B6372"/>
                </a:solidFill>
                <a:latin typeface="Arial"/>
              </a:rPr>
              <a:t>Assess work performance and quality to ensure continuous improvement, drilling to the root cause of a delivery problem (A6, A7).</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2885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9482328" cy="749808"/>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Activity 7 · Prioritise Defect Causes with a Pareto Chart</a:t>
            </a:r>
          </a:p>
          <a:p>
            <a:pPr algn="l">
              <a:spcAft>
                <a:spcPts val="300"/>
              </a:spcAft>
            </a:pPr>
            <a:r>
              <a:rPr sz="1050" b="0">
                <a:solidFill>
                  <a:srgbClr val="5B6372"/>
                </a:solidFill>
                <a:latin typeface="Arial"/>
              </a:rPr>
              <a:t>Measure progress against targets and reduce waste and defects by identifying the few causes driving most of the failures (A3, A4, A6).</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5440680"/>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5349240"/>
            <a:ext cx="9482328" cy="749808"/>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Activity 8 · Forecast the Release from Velocity and Read the Agile Metrics</a:t>
            </a:r>
          </a:p>
          <a:p>
            <a:pPr algn="l">
              <a:spcAft>
                <a:spcPts val="300"/>
              </a:spcAft>
            </a:pPr>
            <a:r>
              <a:rPr sz="1050" b="0">
                <a:solidFill>
                  <a:srgbClr val="5B6372"/>
                </a:solidFill>
                <a:latin typeface="Arial"/>
              </a:rPr>
              <a:t>Measure progress against targets for defined business outcomes and forecast delivery from empirical data (A4, A6, A7).</a:t>
            </a:r>
          </a:p>
        </p:txBody>
      </p:sp>
      <p:sp>
        <p:nvSpPr>
          <p:cNvPr id="27" name="TextBox 2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8" name="TextBox 2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1737360"/>
            <a:ext cx="10835640" cy="3291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1737360"/>
            <a:ext cx="128016" cy="3291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2148840"/>
            <a:ext cx="10058400" cy="457200"/>
          </a:xfrm>
          <a:prstGeom prst="rect">
            <a:avLst/>
          </a:prstGeom>
          <a:noFill/>
        </p:spPr>
        <p:txBody>
          <a:bodyPr wrap="square" anchor="t" lIns="0" rIns="0" tIns="0" bIns="0">
            <a:spAutoFit/>
          </a:bodyPr>
          <a:lstStyle/>
          <a:p>
            <a:pPr algn="l">
              <a:spcAft>
                <a:spcPts val="400"/>
              </a:spcAft>
            </a:pPr>
            <a:r>
              <a:rPr sz="1500" b="1">
                <a:solidFill>
                  <a:srgbClr val="1F6FEB"/>
                </a:solidFill>
                <a:latin typeface="Arial"/>
              </a:rPr>
              <a:t>WRAP-UP</a:t>
            </a:r>
          </a:p>
        </p:txBody>
      </p:sp>
      <p:sp>
        <p:nvSpPr>
          <p:cNvPr id="6" name="TextBox 5"/>
          <p:cNvSpPr txBox="1"/>
          <p:nvPr/>
        </p:nvSpPr>
        <p:spPr>
          <a:xfrm>
            <a:off x="1280160" y="2606040"/>
            <a:ext cx="10058400" cy="960120"/>
          </a:xfrm>
          <a:prstGeom prst="rect">
            <a:avLst/>
          </a:prstGeom>
          <a:noFill/>
        </p:spPr>
        <p:txBody>
          <a:bodyPr wrap="square" anchor="t" lIns="0" rIns="0" tIns="0" bIns="0">
            <a:spAutoFit/>
          </a:bodyPr>
          <a:lstStyle/>
          <a:p>
            <a:pPr algn="l">
              <a:spcAft>
                <a:spcPts val="400"/>
              </a:spcAft>
            </a:pPr>
            <a:r>
              <a:rPr sz="34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8" name="TextBox 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mc:Choice xmlns:p14="http://schemas.microsoft.com/office/powerpoint/2010/main" Requires="p14">
      <p:transition spd="med" p14:dur="900">
        <p:push dir="u"/>
      </p:transition>
    </mc:Choice>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0B981"/>
                </a:solidFill>
                <a:latin typeface="Arial"/>
              </a:rPr>
              <a:t>LEARNING OUTCOMES ACHIEVED</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What You Can Now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62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627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LO1 — Adopt the Agile mindset</a:t>
            </a:r>
          </a:p>
          <a:p>
            <a:pPr algn="l">
              <a:spcAft>
                <a:spcPts val="300"/>
              </a:spcAft>
            </a:pPr>
            <a:r>
              <a:rPr sz="1200" b="0">
                <a:solidFill>
                  <a:srgbClr val="5B6372"/>
                </a:solidFill>
                <a:latin typeface="Arial"/>
              </a:rPr>
              <a:t>You can explain why waterfall concentrates risk, diagnose a failed delivery, and reframe requirements around customer value.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71246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712464"/>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429000"/>
            <a:ext cx="9482328"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LO2 — Share and implement practices</a:t>
            </a:r>
          </a:p>
          <a:p>
            <a:pPr algn="l">
              <a:spcAft>
                <a:spcPts val="300"/>
              </a:spcAft>
            </a:pPr>
            <a:r>
              <a:rPr sz="1200" b="0">
                <a:solidFill>
                  <a:srgbClr val="5B6372"/>
                </a:solidFill>
                <a:latin typeface="Arial"/>
              </a:rPr>
              <a:t>You can apply the Manifesto, run Scrum, build an ordered backlog, plan a sprint and clarify accountability.</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524865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524865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965192"/>
            <a:ext cx="9482328" cy="1133856"/>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LO3 — Build, execute and track</a:t>
            </a:r>
          </a:p>
          <a:p>
            <a:pPr algn="l">
              <a:spcAft>
                <a:spcPts val="300"/>
              </a:spcAft>
            </a:pPr>
            <a:r>
              <a:rPr sz="1200" b="0">
                <a:solidFill>
                  <a:srgbClr val="5B6372"/>
                </a:solidFill>
                <a:latin typeface="Arial"/>
              </a:rPr>
              <a:t>You can run a sprint, read all five Agile metrics, find a root cause and forecast a release honestly.</a:t>
            </a:r>
          </a:p>
        </p:txBody>
      </p:sp>
      <p:sp>
        <p:nvSpPr>
          <p:cNvPr id="22" name="TextBox 2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3" name="TextBox 2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THE TAKEAWAYS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The Eight Things Worth Remembering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2466594" cy="1284732"/>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82296" cy="12847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6" y="199339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1</a:t>
            </a:r>
          </a:p>
        </p:txBody>
      </p:sp>
      <p:sp>
        <p:nvSpPr>
          <p:cNvPr id="11" name="TextBox 10"/>
          <p:cNvSpPr txBox="1"/>
          <p:nvPr/>
        </p:nvSpPr>
        <p:spPr>
          <a:xfrm>
            <a:off x="1490472" y="1956816"/>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Fixed time, variable scope</a:t>
            </a:r>
          </a:p>
        </p:txBody>
      </p:sp>
      <p:sp>
        <p:nvSpPr>
          <p:cNvPr id="12" name="TextBox 11"/>
          <p:cNvSpPr txBox="1"/>
          <p:nvPr/>
        </p:nvSpPr>
        <p:spPr>
          <a:xfrm>
            <a:off x="1014984" y="2505456"/>
            <a:ext cx="2009394"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That inversion is the whole paradigm shift.</a:t>
            </a:r>
          </a:p>
        </p:txBody>
      </p:sp>
      <p:sp>
        <p:nvSpPr>
          <p:cNvPr id="13" name="Rectangle 12"/>
          <p:cNvSpPr/>
          <p:nvPr/>
        </p:nvSpPr>
        <p:spPr>
          <a:xfrm>
            <a:off x="3499866" y="1810512"/>
            <a:ext cx="2466594" cy="12847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9866" y="1810512"/>
            <a:ext cx="82296" cy="12847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19322" y="1993392"/>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19322"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2</a:t>
            </a:r>
          </a:p>
        </p:txBody>
      </p:sp>
      <p:sp>
        <p:nvSpPr>
          <p:cNvPr id="17" name="TextBox 16"/>
          <p:cNvSpPr txBox="1"/>
          <p:nvPr/>
        </p:nvSpPr>
        <p:spPr>
          <a:xfrm>
            <a:off x="4213098" y="1956816"/>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Value early beats value complete</a:t>
            </a:r>
          </a:p>
        </p:txBody>
      </p:sp>
      <p:sp>
        <p:nvSpPr>
          <p:cNvPr id="18" name="TextBox 17"/>
          <p:cNvSpPr txBox="1"/>
          <p:nvPr/>
        </p:nvSpPr>
        <p:spPr>
          <a:xfrm>
            <a:off x="3737610" y="2505456"/>
            <a:ext cx="2009394"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Shipping 20% of scope in month two changes the return profile.</a:t>
            </a:r>
          </a:p>
        </p:txBody>
      </p:sp>
      <p:sp>
        <p:nvSpPr>
          <p:cNvPr id="19" name="Rectangle 18"/>
          <p:cNvSpPr/>
          <p:nvPr/>
        </p:nvSpPr>
        <p:spPr>
          <a:xfrm>
            <a:off x="6222492" y="1810512"/>
            <a:ext cx="2466594" cy="1284732"/>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2492" y="1810512"/>
            <a:ext cx="82296" cy="12847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1948" y="1993392"/>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3</a:t>
            </a:r>
          </a:p>
        </p:txBody>
      </p:sp>
      <p:sp>
        <p:nvSpPr>
          <p:cNvPr id="23" name="TextBox 22"/>
          <p:cNvSpPr txBox="1"/>
          <p:nvPr/>
        </p:nvSpPr>
        <p:spPr>
          <a:xfrm>
            <a:off x="6935724" y="1956816"/>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The sprint goal makes a sprint</a:t>
            </a:r>
          </a:p>
        </p:txBody>
      </p:sp>
      <p:sp>
        <p:nvSpPr>
          <p:cNvPr id="24" name="TextBox 23"/>
          <p:cNvSpPr txBox="1"/>
          <p:nvPr/>
        </p:nvSpPr>
        <p:spPr>
          <a:xfrm>
            <a:off x="6460236" y="2505456"/>
            <a:ext cx="2009394"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Without one you have a task list with a deadline.</a:t>
            </a:r>
          </a:p>
        </p:txBody>
      </p:sp>
      <p:sp>
        <p:nvSpPr>
          <p:cNvPr id="25" name="Rectangle 24"/>
          <p:cNvSpPr/>
          <p:nvPr/>
        </p:nvSpPr>
        <p:spPr>
          <a:xfrm>
            <a:off x="8945118" y="1810512"/>
            <a:ext cx="2466594" cy="1284732"/>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45118" y="1810512"/>
            <a:ext cx="82296" cy="12847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64574" y="1993392"/>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64574" y="1993392"/>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4</a:t>
            </a:r>
          </a:p>
        </p:txBody>
      </p:sp>
      <p:sp>
        <p:nvSpPr>
          <p:cNvPr id="29" name="TextBox 28"/>
          <p:cNvSpPr txBox="1"/>
          <p:nvPr/>
        </p:nvSpPr>
        <p:spPr>
          <a:xfrm>
            <a:off x="9658350" y="1956816"/>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Done means Done</a:t>
            </a:r>
          </a:p>
        </p:txBody>
      </p:sp>
      <p:sp>
        <p:nvSpPr>
          <p:cNvPr id="30" name="TextBox 29"/>
          <p:cNvSpPr txBox="1"/>
          <p:nvPr/>
        </p:nvSpPr>
        <p:spPr>
          <a:xfrm>
            <a:off x="9182862" y="2505456"/>
            <a:ext cx="2009394"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Carryover is never velocity, and 'nearly' is not a status.</a:t>
            </a:r>
          </a:p>
        </p:txBody>
      </p:sp>
      <p:sp>
        <p:nvSpPr>
          <p:cNvPr id="31" name="Rectangle 30"/>
          <p:cNvSpPr/>
          <p:nvPr/>
        </p:nvSpPr>
        <p:spPr>
          <a:xfrm>
            <a:off x="777240" y="3314700"/>
            <a:ext cx="2466594" cy="1284732"/>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3314700"/>
            <a:ext cx="82296" cy="12847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6696" y="3497580"/>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6696"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5</a:t>
            </a:r>
          </a:p>
        </p:txBody>
      </p:sp>
      <p:sp>
        <p:nvSpPr>
          <p:cNvPr id="35" name="TextBox 34"/>
          <p:cNvSpPr txBox="1"/>
          <p:nvPr/>
        </p:nvSpPr>
        <p:spPr>
          <a:xfrm>
            <a:off x="1490472" y="3461004"/>
            <a:ext cx="1570482" cy="475488"/>
          </a:xfrm>
          <a:prstGeom prst="rect">
            <a:avLst/>
          </a:prstGeom>
          <a:noFill/>
        </p:spPr>
        <p:txBody>
          <a:bodyPr wrap="square" anchor="ctr" lIns="0" rIns="0" tIns="0" bIns="0">
            <a:spAutoFit/>
          </a:bodyPr>
          <a:lstStyle/>
          <a:p>
            <a:pPr algn="l">
              <a:spcAft>
                <a:spcPts val="400"/>
              </a:spcAft>
            </a:pPr>
            <a:r>
              <a:rPr sz="1300" b="1">
                <a:solidFill>
                  <a:srgbClr val="1F6FEB"/>
                </a:solidFill>
                <a:latin typeface="Arial"/>
              </a:rPr>
              <a:t>One Accountable per decision</a:t>
            </a:r>
          </a:p>
        </p:txBody>
      </p:sp>
      <p:sp>
        <p:nvSpPr>
          <p:cNvPr id="36" name="TextBox 35"/>
          <p:cNvSpPr txBox="1"/>
          <p:nvPr/>
        </p:nvSpPr>
        <p:spPr>
          <a:xfrm>
            <a:off x="1014984" y="4009644"/>
            <a:ext cx="2009394"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Two Product Owners is the most common Agile failure.</a:t>
            </a:r>
          </a:p>
        </p:txBody>
      </p:sp>
      <p:sp>
        <p:nvSpPr>
          <p:cNvPr id="37" name="Rectangle 36"/>
          <p:cNvSpPr/>
          <p:nvPr/>
        </p:nvSpPr>
        <p:spPr>
          <a:xfrm>
            <a:off x="3499866" y="3314700"/>
            <a:ext cx="2466594" cy="1284732"/>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499866" y="3314700"/>
            <a:ext cx="82296" cy="12847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719322" y="3497580"/>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19322"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6</a:t>
            </a:r>
          </a:p>
        </p:txBody>
      </p:sp>
      <p:sp>
        <p:nvSpPr>
          <p:cNvPr id="41" name="TextBox 40"/>
          <p:cNvSpPr txBox="1"/>
          <p:nvPr/>
        </p:nvSpPr>
        <p:spPr>
          <a:xfrm>
            <a:off x="4213098" y="3461004"/>
            <a:ext cx="1570482" cy="475488"/>
          </a:xfrm>
          <a:prstGeom prst="rect">
            <a:avLst/>
          </a:prstGeom>
          <a:noFill/>
        </p:spPr>
        <p:txBody>
          <a:bodyPr wrap="square" anchor="ctr" lIns="0" rIns="0" tIns="0" bIns="0">
            <a:spAutoFit/>
          </a:bodyPr>
          <a:lstStyle/>
          <a:p>
            <a:pPr algn="l">
              <a:spcAft>
                <a:spcPts val="400"/>
              </a:spcAft>
            </a:pPr>
            <a:r>
              <a:rPr sz="1300" b="1">
                <a:solidFill>
                  <a:srgbClr val="10B981"/>
                </a:solidFill>
                <a:latin typeface="Arial"/>
              </a:rPr>
              <a:t>Limit WIP to go faster</a:t>
            </a:r>
          </a:p>
        </p:txBody>
      </p:sp>
      <p:sp>
        <p:nvSpPr>
          <p:cNvPr id="42" name="TextBox 41"/>
          <p:cNvSpPr txBox="1"/>
          <p:nvPr/>
        </p:nvSpPr>
        <p:spPr>
          <a:xfrm>
            <a:off x="3737610" y="4009644"/>
            <a:ext cx="2009394"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Little's Law: cycle time = WIP ÷ throughput.</a:t>
            </a:r>
          </a:p>
        </p:txBody>
      </p:sp>
      <p:sp>
        <p:nvSpPr>
          <p:cNvPr id="43" name="Rectangle 42"/>
          <p:cNvSpPr/>
          <p:nvPr/>
        </p:nvSpPr>
        <p:spPr>
          <a:xfrm>
            <a:off x="6222492" y="3314700"/>
            <a:ext cx="2466594" cy="1284732"/>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22492" y="3314700"/>
            <a:ext cx="82296" cy="12847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41948" y="3497580"/>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41948"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7</a:t>
            </a:r>
          </a:p>
        </p:txBody>
      </p:sp>
      <p:sp>
        <p:nvSpPr>
          <p:cNvPr id="47" name="TextBox 46"/>
          <p:cNvSpPr txBox="1"/>
          <p:nvPr/>
        </p:nvSpPr>
        <p:spPr>
          <a:xfrm>
            <a:off x="6935724" y="3461004"/>
            <a:ext cx="1570482" cy="475488"/>
          </a:xfrm>
          <a:prstGeom prst="rect">
            <a:avLst/>
          </a:prstGeom>
          <a:noFill/>
        </p:spPr>
        <p:txBody>
          <a:bodyPr wrap="square" anchor="ctr" lIns="0" rIns="0" tIns="0" bIns="0">
            <a:spAutoFit/>
          </a:bodyPr>
          <a:lstStyle/>
          <a:p>
            <a:pPr algn="l">
              <a:spcAft>
                <a:spcPts val="400"/>
              </a:spcAft>
            </a:pPr>
            <a:r>
              <a:rPr sz="1300" b="1">
                <a:solidFill>
                  <a:srgbClr val="7C3AED"/>
                </a:solidFill>
                <a:latin typeface="Arial"/>
              </a:rPr>
              <a:t>Velocity forecasts, never targets</a:t>
            </a:r>
          </a:p>
        </p:txBody>
      </p:sp>
      <p:sp>
        <p:nvSpPr>
          <p:cNvPr id="48" name="TextBox 47"/>
          <p:cNvSpPr txBox="1"/>
          <p:nvPr/>
        </p:nvSpPr>
        <p:spPr>
          <a:xfrm>
            <a:off x="6460236" y="4009644"/>
            <a:ext cx="2009394"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Reward it and you destroy it.</a:t>
            </a:r>
          </a:p>
        </p:txBody>
      </p:sp>
      <p:sp>
        <p:nvSpPr>
          <p:cNvPr id="49" name="Rectangle 48"/>
          <p:cNvSpPr/>
          <p:nvPr/>
        </p:nvSpPr>
        <p:spPr>
          <a:xfrm>
            <a:off x="8945118" y="3314700"/>
            <a:ext cx="2466594" cy="1284732"/>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945118" y="3314700"/>
            <a:ext cx="82296" cy="12847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164574" y="3497580"/>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64574" y="3497580"/>
            <a:ext cx="402336" cy="402336"/>
          </a:xfrm>
          <a:prstGeom prst="rect">
            <a:avLst/>
          </a:prstGeom>
          <a:noFill/>
        </p:spPr>
        <p:txBody>
          <a:bodyPr wrap="square" anchor="ctr" lIns="0" rIns="0" tIns="0" bIns="0">
            <a:spAutoFit/>
          </a:bodyPr>
          <a:lstStyle/>
          <a:p>
            <a:pPr algn="ctr">
              <a:spcAft>
                <a:spcPts val="400"/>
              </a:spcAft>
            </a:pPr>
            <a:r>
              <a:rPr sz="1400" b="1">
                <a:solidFill>
                  <a:srgbClr val="FFFFFF"/>
                </a:solidFill>
                <a:latin typeface="Arial"/>
              </a:rPr>
              <a:t>8</a:t>
            </a:r>
          </a:p>
        </p:txBody>
      </p:sp>
      <p:sp>
        <p:nvSpPr>
          <p:cNvPr id="53" name="TextBox 52"/>
          <p:cNvSpPr txBox="1"/>
          <p:nvPr/>
        </p:nvSpPr>
        <p:spPr>
          <a:xfrm>
            <a:off x="9658350" y="3461004"/>
            <a:ext cx="1570482" cy="475488"/>
          </a:xfrm>
          <a:prstGeom prst="rect">
            <a:avLst/>
          </a:prstGeom>
          <a:noFill/>
        </p:spPr>
        <p:txBody>
          <a:bodyPr wrap="square" anchor="ctr" lIns="0" rIns="0" tIns="0" bIns="0">
            <a:spAutoFit/>
          </a:bodyPr>
          <a:lstStyle/>
          <a:p>
            <a:pPr algn="l">
              <a:spcAft>
                <a:spcPts val="400"/>
              </a:spcAft>
            </a:pPr>
            <a:r>
              <a:rPr sz="1300" b="1">
                <a:solidFill>
                  <a:srgbClr val="F59E0B"/>
                </a:solidFill>
                <a:latin typeface="Arial"/>
              </a:rPr>
              <a:t>Actions need owners</a:t>
            </a:r>
          </a:p>
        </p:txBody>
      </p:sp>
      <p:sp>
        <p:nvSpPr>
          <p:cNvPr id="54" name="TextBox 53"/>
          <p:cNvSpPr txBox="1"/>
          <p:nvPr/>
        </p:nvSpPr>
        <p:spPr>
          <a:xfrm>
            <a:off x="9182862" y="4009644"/>
            <a:ext cx="2009394" cy="461772"/>
          </a:xfrm>
          <a:prstGeom prst="rect">
            <a:avLst/>
          </a:prstGeom>
          <a:noFill/>
        </p:spPr>
        <p:txBody>
          <a:bodyPr wrap="square" anchor="t" lIns="0" rIns="0" tIns="0" bIns="0">
            <a:spAutoFit/>
          </a:bodyPr>
          <a:lstStyle/>
          <a:p>
            <a:pPr algn="l">
              <a:spcAft>
                <a:spcPts val="400"/>
              </a:spcAft>
            </a:pPr>
            <a:r>
              <a:rPr sz="1100" b="0">
                <a:solidFill>
                  <a:srgbClr val="161B26"/>
                </a:solidFill>
                <a:latin typeface="Arial"/>
              </a:rPr>
              <a:t>An improvement with no owner and no capacity is a wish.</a:t>
            </a:r>
          </a:p>
        </p:txBody>
      </p:sp>
      <p:sp>
        <p:nvSpPr>
          <p:cNvPr id="55" name="Rectangle 54"/>
          <p:cNvSpPr/>
          <p:nvPr/>
        </p:nvSpPr>
        <p:spPr>
          <a:xfrm>
            <a:off x="777240" y="4864608"/>
            <a:ext cx="10634472"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4864608"/>
            <a:ext cx="91440"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78992" y="4992624"/>
            <a:ext cx="10241280" cy="292608"/>
          </a:xfrm>
          <a:prstGeom prst="rect">
            <a:avLst/>
          </a:prstGeom>
          <a:noFill/>
        </p:spPr>
        <p:txBody>
          <a:bodyPr wrap="square" anchor="t" lIns="0" rIns="0" tIns="0" bIns="0">
            <a:spAutoFit/>
          </a:bodyPr>
          <a:lstStyle/>
          <a:p>
            <a:pPr algn="l">
              <a:spcAft>
                <a:spcPts val="400"/>
              </a:spcAft>
            </a:pPr>
            <a:r>
              <a:rPr sz="1200" b="1">
                <a:solidFill>
                  <a:srgbClr val="1F6FEB"/>
                </a:solidFill>
                <a:latin typeface="Arial"/>
              </a:rPr>
              <a:t>IF YOU REMEMBER ONE THING</a:t>
            </a:r>
          </a:p>
        </p:txBody>
      </p:sp>
      <p:sp>
        <p:nvSpPr>
          <p:cNvPr id="58" name="TextBox 57"/>
          <p:cNvSpPr txBox="1"/>
          <p:nvPr/>
        </p:nvSpPr>
        <p:spPr>
          <a:xfrm>
            <a:off x="1078992" y="5303520"/>
            <a:ext cx="10241280" cy="731520"/>
          </a:xfrm>
          <a:prstGeom prst="rect">
            <a:avLst/>
          </a:prstGeom>
          <a:noFill/>
        </p:spPr>
        <p:txBody>
          <a:bodyPr wrap="square" anchor="t" lIns="0" rIns="0" tIns="0" bIns="0">
            <a:spAutoFit/>
          </a:bodyPr>
          <a:lstStyle/>
          <a:p>
            <a:pPr algn="l">
              <a:spcAft>
                <a:spcPts val="400"/>
              </a:spcAft>
            </a:pPr>
            <a:r>
              <a:rPr sz="1250" b="0">
                <a:solidFill>
                  <a:srgbClr val="161B26"/>
                </a:solidFill>
                <a:latin typeface="Arial"/>
              </a:rPr>
              <a:t>Agile is not a faster way to build what you were told to build. It is a disciplined way to keep finding out what is actually worth building — and to stop building what is not.</a:t>
            </a:r>
          </a:p>
        </p:txBody>
      </p:sp>
      <p:sp>
        <p:nvSpPr>
          <p:cNvPr id="59" name="TextBox 58"/>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60" name="TextBox 59"/>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61" name="TextBox 60"/>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7C3AED"/>
                </a:solidFill>
                <a:latin typeface="Arial"/>
              </a:rPr>
              <a:t>RECOMMENDED COURSES</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Where to Go Next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69033"/>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69033"/>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519379"/>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WSQ - Fast-Track Innovations with Agile Design Thinking and Generative AI (GenAI)</a:t>
            </a:r>
          </a:p>
          <a:p>
            <a:pPr algn="l">
              <a:spcAft>
                <a:spcPts val="300"/>
              </a:spcAft>
            </a:pPr>
            <a:r>
              <a:rPr sz="1050" b="0">
                <a:solidFill>
                  <a:srgbClr val="5B6372"/>
                </a:solidFill>
                <a:latin typeface="Arial"/>
              </a:rPr>
              <a:t>www.tertiarycourses.com.sg</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074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07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814523"/>
            <a:ext cx="9482328" cy="519379"/>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WSQ - Design Thinking Course for Businesses</a:t>
            </a:r>
          </a:p>
          <a:p>
            <a:pPr algn="l">
              <a:spcAft>
                <a:spcPts val="300"/>
              </a:spcAft>
            </a:pPr>
            <a:r>
              <a:rPr sz="1050" b="0">
                <a:solidFill>
                  <a:srgbClr val="5B6372"/>
                </a:solidFill>
                <a:latin typeface="Arial"/>
              </a:rPr>
              <a:t>www.tertiarycourses.com.sg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3"/>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3"/>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36238"/>
            <a:ext cx="9482328" cy="519379"/>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WSQ - Effective Project Management for Small Projects</a:t>
            </a:r>
          </a:p>
          <a:p>
            <a:pPr algn="l">
              <a:spcAft>
                <a:spcPts val="300"/>
              </a:spcAft>
            </a:pPr>
            <a:r>
              <a:rPr sz="1050" b="0">
                <a:solidFill>
                  <a:srgbClr val="5B6372"/>
                </a:solidFill>
                <a:latin typeface="Arial"/>
              </a:rPr>
              <a:t>www.tertiarycourses.com.sg</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417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417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57953"/>
            <a:ext cx="9482328" cy="519379"/>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WSQ - Innovative Problem Solving with Generative AI (GenAI)</a:t>
            </a:r>
          </a:p>
          <a:p>
            <a:pPr algn="l">
              <a:spcAft>
                <a:spcPts val="300"/>
              </a:spcAft>
            </a:pPr>
            <a:r>
              <a:rPr sz="1050" b="0">
                <a:solidFill>
                  <a:srgbClr val="5B6372"/>
                </a:solidFill>
                <a:latin typeface="Arial"/>
              </a:rPr>
              <a:t>www.tertiarycourses.com.sg</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55893"/>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55893"/>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79668"/>
            <a:ext cx="9482328" cy="519379"/>
          </a:xfrm>
          <a:prstGeom prst="rect">
            <a:avLst/>
          </a:prstGeom>
          <a:noFill/>
        </p:spPr>
        <p:txBody>
          <a:bodyPr wrap="square" anchor="ctr" lIns="0" rIns="0" tIns="0" bIns="0">
            <a:spAutoFit/>
          </a:bodyPr>
          <a:lstStyle/>
          <a:p>
            <a:pPr algn="l">
              <a:spcAft>
                <a:spcPts val="300"/>
              </a:spcAft>
            </a:pPr>
            <a:r>
              <a:rPr sz="1350" b="1">
                <a:solidFill>
                  <a:srgbClr val="161B26"/>
                </a:solidFill>
                <a:latin typeface="Arial"/>
              </a:rPr>
              <a:t>WSQ - Mastering Agile Project Management for IT Projects</a:t>
            </a:r>
          </a:p>
          <a:p>
            <a:pPr algn="l">
              <a:spcAft>
                <a:spcPts val="300"/>
              </a:spcAft>
            </a:pPr>
            <a:r>
              <a:rPr sz="1050" b="0">
                <a:solidFill>
                  <a:srgbClr val="5B6372"/>
                </a:solidFill>
                <a:latin typeface="Arial"/>
              </a:rPr>
              <a:t>www.tertiarycourses.com.sg</a:t>
            </a:r>
          </a:p>
        </p:txBody>
      </p:sp>
      <p:sp>
        <p:nvSpPr>
          <p:cNvPr id="32" name="TextBox 31"/>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33" name="TextBox 32"/>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ASSESSMENT · NOW</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842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8424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749808"/>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Written Assessment (WA)</a:t>
            </a:r>
          </a:p>
          <a:p>
            <a:pPr algn="l">
              <a:spcAft>
                <a:spcPts val="300"/>
              </a:spcAft>
            </a:pPr>
            <a:r>
              <a:rPr sz="1200" b="0">
                <a:solidFill>
                  <a:srgbClr val="5B6372"/>
                </a:solidFill>
                <a:latin typeface="Arial"/>
              </a:rPr>
              <a:t>Written Assessment (WA) — Short-Answer Questions (SAQ), 1 hour, open book.</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1363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136392"/>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044952"/>
            <a:ext cx="9482328" cy="749808"/>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Case Study (CS)</a:t>
            </a:r>
          </a:p>
          <a:p>
            <a:pPr algn="l">
              <a:spcAft>
                <a:spcPts val="300"/>
              </a:spcAft>
            </a:pPr>
            <a:r>
              <a:rPr sz="1200" b="0">
                <a:solidFill>
                  <a:srgbClr val="5B6372"/>
                </a:solidFill>
                <a:latin typeface="Arial"/>
              </a:rPr>
              <a:t>Case Study (CS) — an applied business scenario with structured tasks, 1 hour, open book.</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2885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288536"/>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9482328" cy="749808"/>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Open book</a:t>
            </a:r>
          </a:p>
          <a:p>
            <a:pPr algn="l">
              <a:spcAft>
                <a:spcPts val="300"/>
              </a:spcAft>
            </a:pPr>
            <a:r>
              <a:rPr sz="1200" b="0">
                <a:solidFill>
                  <a:srgbClr val="5B6372"/>
                </a:solidFill>
                <a:latin typeface="Arial"/>
              </a:rPr>
              <a:t>Open book: slides, Learner Guide and approved course materials only.</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5440680"/>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544068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5349240"/>
            <a:ext cx="9482328" cy="749808"/>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Competency</a:t>
            </a:r>
          </a:p>
          <a:p>
            <a:pPr algn="l">
              <a:spcAft>
                <a:spcPts val="300"/>
              </a:spcAft>
            </a:pPr>
            <a:r>
              <a:rPr sz="1200" b="0">
                <a:solidFill>
                  <a:srgbClr val="5B6372"/>
                </a:solidFill>
                <a:latin typeface="Arial"/>
              </a:rPr>
              <a:t>A minimum of 75% attendance is required to be eligible for assessment and funding. Learners must be assessed Competent in both instruments.</a:t>
            </a:r>
          </a:p>
        </p:txBody>
      </p:sp>
      <p:sp>
        <p:nvSpPr>
          <p:cNvPr id="27" name="TextBox 2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8" name="TextBox 2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F59E0B"/>
                </a:solidFill>
                <a:latin typeface="Arial"/>
              </a:rPr>
              <a:t>ASSESSMENT · END-TO-END FLOW</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ssessment-flow.png"/>
          <p:cNvPicPr>
            <a:picLocks noChangeAspect="1"/>
          </p:cNvPicPr>
          <p:nvPr/>
        </p:nvPicPr>
        <p:blipFill>
          <a:blip r:embed="rId2"/>
          <a:stretch>
            <a:fillRect/>
          </a:stretch>
        </p:blipFill>
        <p:spPr>
          <a:xfrm>
            <a:off x="792327" y="1810512"/>
            <a:ext cx="10607040" cy="3253353"/>
          </a:xfrm>
          <a:prstGeom prst="rect">
            <a:avLst/>
          </a:prstGeom>
        </p:spPr>
      </p:pic>
      <p:sp>
        <p:nvSpPr>
          <p:cNvPr id="8" name="Rectangle 7"/>
          <p:cNvSpPr/>
          <p:nvPr/>
        </p:nvSpPr>
        <p:spPr>
          <a:xfrm>
            <a:off x="777240" y="5815584"/>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815584"/>
            <a:ext cx="914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815584"/>
            <a:ext cx="10241280" cy="457200"/>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You must be assessed Competent in BOTH instruments. Feedback and an appeal route are available at the end.</a:t>
            </a:r>
          </a:p>
        </p:txBody>
      </p:sp>
      <p:sp>
        <p:nvSpPr>
          <p:cNvPr id="11" name="TextBox 10"/>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12" name="TextBox 11"/>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27A3E"/>
                </a:solidFill>
                <a:latin typeface="Arial"/>
              </a:rPr>
              <a:t>ADMIN · TRAQOM &amp; CERTIFICATION</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Certificate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6309360" cy="39319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630936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3544" y="1947672"/>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 y="1947672"/>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62456" y="1947672"/>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691640" y="1901952"/>
            <a:ext cx="5120640" cy="256032"/>
          </a:xfrm>
          <a:prstGeom prst="roundRect">
            <a:avLst>
              <a:gd name="adj" fmla="val 40000"/>
            </a:avLst>
          </a:prstGeom>
          <a:solidFill>
            <a:srgbClr val="FFFFFF"/>
          </a:solidFill>
          <a:ln w="1778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37944" y="1901952"/>
            <a:ext cx="4937760" cy="256032"/>
          </a:xfrm>
          <a:prstGeom prst="rect">
            <a:avLst/>
          </a:prstGeom>
          <a:noFill/>
        </p:spPr>
        <p:txBody>
          <a:bodyPr wrap="square" anchor="ctr" lIns="0" rIns="0" tIns="0" bIns="0">
            <a:spAutoFit/>
          </a:bodyPr>
          <a:lstStyle/>
          <a:p>
            <a:pPr algn="l">
              <a:spcAft>
                <a:spcPts val="400"/>
              </a:spcAft>
            </a:pPr>
            <a:r>
              <a:rPr sz="1050" b="0">
                <a:solidFill>
                  <a:srgbClr val="1F6FEB"/>
                </a:solidFill>
                <a:latin typeface="Arial"/>
              </a:rPr>
              <a:t>https://lms-tms.tertiaryinfotech.com</a:t>
            </a:r>
          </a:p>
        </p:txBody>
      </p:sp>
      <p:sp>
        <p:nvSpPr>
          <p:cNvPr id="14" name="Rectangle 13"/>
          <p:cNvSpPr/>
          <p:nvPr/>
        </p:nvSpPr>
        <p:spPr>
          <a:xfrm>
            <a:off x="1051560" y="2468880"/>
            <a:ext cx="5760720" cy="5852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2468880"/>
            <a:ext cx="73152" cy="5852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52728" y="2468880"/>
            <a:ext cx="5486400" cy="585216"/>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Log in</a:t>
            </a:r>
            <a:r>
              <a:rPr sz="1050" b="0">
                <a:solidFill>
                  <a:srgbClr val="5B6372"/>
                </a:solidFill>
                <a:latin typeface="Arial"/>
              </a:rPr>
              <a:t>   with your registered email</a:t>
            </a:r>
          </a:p>
        </p:txBody>
      </p:sp>
      <p:sp>
        <p:nvSpPr>
          <p:cNvPr id="17" name="Rectangle 16"/>
          <p:cNvSpPr/>
          <p:nvPr/>
        </p:nvSpPr>
        <p:spPr>
          <a:xfrm>
            <a:off x="1051560" y="3182112"/>
            <a:ext cx="5760720" cy="5852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182112"/>
            <a:ext cx="73152" cy="5852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3182112"/>
            <a:ext cx="5486400" cy="585216"/>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Course feedback</a:t>
            </a:r>
            <a:r>
              <a:rPr sz="1050" b="0">
                <a:solidFill>
                  <a:srgbClr val="5B6372"/>
                </a:solidFill>
                <a:latin typeface="Arial"/>
              </a:rPr>
              <a:t>   complete the TRAQOM survey</a:t>
            </a:r>
          </a:p>
        </p:txBody>
      </p:sp>
      <p:sp>
        <p:nvSpPr>
          <p:cNvPr id="20" name="Rectangle 19"/>
          <p:cNvSpPr/>
          <p:nvPr/>
        </p:nvSpPr>
        <p:spPr>
          <a:xfrm>
            <a:off x="1051560" y="3895344"/>
            <a:ext cx="5760720" cy="5852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895344"/>
            <a:ext cx="73152" cy="5852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52728" y="3895344"/>
            <a:ext cx="5486400" cy="585216"/>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Digital attendance</a:t>
            </a:r>
            <a:r>
              <a:rPr sz="1050" b="0">
                <a:solidFill>
                  <a:srgbClr val="5B6372"/>
                </a:solidFill>
                <a:latin typeface="Arial"/>
              </a:rPr>
              <a:t>   Assessment attendance must be submitted</a:t>
            </a:r>
          </a:p>
        </p:txBody>
      </p:sp>
      <p:sp>
        <p:nvSpPr>
          <p:cNvPr id="23" name="Rectangle 22"/>
          <p:cNvSpPr/>
          <p:nvPr/>
        </p:nvSpPr>
        <p:spPr>
          <a:xfrm>
            <a:off x="1051560" y="4608576"/>
            <a:ext cx="5760720" cy="5852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51560" y="4608576"/>
            <a:ext cx="73152" cy="5852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52728" y="4608576"/>
            <a:ext cx="5486400" cy="585216"/>
          </a:xfrm>
          <a:prstGeom prst="rect">
            <a:avLst/>
          </a:prstGeom>
          <a:noFill/>
        </p:spPr>
        <p:txBody>
          <a:bodyPr wrap="square" anchor="ctr" lIns="0" rIns="0" tIns="0" bIns="0">
            <a:spAutoFit/>
          </a:bodyPr>
          <a:lstStyle/>
          <a:p>
            <a:pPr algn="l">
              <a:spcAft>
                <a:spcPts val="400"/>
              </a:spcAft>
            </a:pPr>
            <a:r>
              <a:rPr sz="1250" b="1">
                <a:solidFill>
                  <a:srgbClr val="161B26"/>
                </a:solidFill>
                <a:latin typeface="Arial"/>
              </a:rPr>
              <a:t>Certificate</a:t>
            </a:r>
            <a:r>
              <a:rPr sz="1050" b="0">
                <a:solidFill>
                  <a:srgbClr val="5B6372"/>
                </a:solidFill>
                <a:latin typeface="Arial"/>
              </a:rPr>
              <a:t>   download once assessed Competent</a:t>
            </a:r>
          </a:p>
        </p:txBody>
      </p:sp>
      <p:sp>
        <p:nvSpPr>
          <p:cNvPr id="26" name="Rectangle 25"/>
          <p:cNvSpPr/>
          <p:nvPr/>
        </p:nvSpPr>
        <p:spPr>
          <a:xfrm>
            <a:off x="7360920" y="1810512"/>
            <a:ext cx="4050791"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60920" y="1810512"/>
            <a:ext cx="82296" cy="640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562088" y="19476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62088" y="1947672"/>
            <a:ext cx="365760" cy="365760"/>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1</a:t>
            </a:r>
          </a:p>
        </p:txBody>
      </p:sp>
      <p:sp>
        <p:nvSpPr>
          <p:cNvPr id="30" name="TextBox 29"/>
          <p:cNvSpPr txBox="1"/>
          <p:nvPr/>
        </p:nvSpPr>
        <p:spPr>
          <a:xfrm>
            <a:off x="8037576" y="1920240"/>
            <a:ext cx="3191255" cy="457200"/>
          </a:xfrm>
          <a:prstGeom prst="rect">
            <a:avLst/>
          </a:prstGeom>
          <a:noFill/>
        </p:spPr>
        <p:txBody>
          <a:bodyPr wrap="square" anchor="ctr" lIns="0" rIns="0" tIns="0" bIns="0">
            <a:spAutoFit/>
          </a:bodyPr>
          <a:lstStyle/>
          <a:p>
            <a:pPr algn="l">
              <a:spcAft>
                <a:spcPts val="400"/>
              </a:spcAft>
            </a:pPr>
            <a:r>
              <a:rPr sz="1150" b="0">
                <a:solidFill>
                  <a:srgbClr val="161B26"/>
                </a:solidFill>
                <a:latin typeface="Arial"/>
              </a:rPr>
              <a:t>Log in to lms-tms.tertiaryinfotech.com</a:t>
            </a:r>
          </a:p>
        </p:txBody>
      </p:sp>
      <p:sp>
        <p:nvSpPr>
          <p:cNvPr id="31" name="Rectangle 30"/>
          <p:cNvSpPr/>
          <p:nvPr/>
        </p:nvSpPr>
        <p:spPr>
          <a:xfrm>
            <a:off x="7360920" y="2633472"/>
            <a:ext cx="4050791"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60920" y="2633472"/>
            <a:ext cx="82296" cy="640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562088" y="277063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62088" y="2770632"/>
            <a:ext cx="365760" cy="365760"/>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2</a:t>
            </a:r>
          </a:p>
        </p:txBody>
      </p:sp>
      <p:sp>
        <p:nvSpPr>
          <p:cNvPr id="35" name="TextBox 34"/>
          <p:cNvSpPr txBox="1"/>
          <p:nvPr/>
        </p:nvSpPr>
        <p:spPr>
          <a:xfrm>
            <a:off x="8037576" y="2743200"/>
            <a:ext cx="3191255" cy="457200"/>
          </a:xfrm>
          <a:prstGeom prst="rect">
            <a:avLst/>
          </a:prstGeom>
          <a:noFill/>
        </p:spPr>
        <p:txBody>
          <a:bodyPr wrap="square" anchor="ctr" lIns="0" rIns="0" tIns="0" bIns="0">
            <a:spAutoFit/>
          </a:bodyPr>
          <a:lstStyle/>
          <a:p>
            <a:pPr algn="l">
              <a:spcAft>
                <a:spcPts val="400"/>
              </a:spcAft>
            </a:pPr>
            <a:r>
              <a:rPr sz="1150" b="0">
                <a:solidFill>
                  <a:srgbClr val="161B26"/>
                </a:solidFill>
                <a:latin typeface="Arial"/>
              </a:rPr>
              <a:t>Complete the mandatory TRAQOM survey</a:t>
            </a:r>
          </a:p>
        </p:txBody>
      </p:sp>
      <p:sp>
        <p:nvSpPr>
          <p:cNvPr id="36" name="Rectangle 35"/>
          <p:cNvSpPr/>
          <p:nvPr/>
        </p:nvSpPr>
        <p:spPr>
          <a:xfrm>
            <a:off x="7360920" y="3456432"/>
            <a:ext cx="4050791"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60920" y="3456432"/>
            <a:ext cx="82296" cy="640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562088" y="3593592"/>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62088" y="3593592"/>
            <a:ext cx="365760" cy="365760"/>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3</a:t>
            </a:r>
          </a:p>
        </p:txBody>
      </p:sp>
      <p:sp>
        <p:nvSpPr>
          <p:cNvPr id="40" name="TextBox 39"/>
          <p:cNvSpPr txBox="1"/>
          <p:nvPr/>
        </p:nvSpPr>
        <p:spPr>
          <a:xfrm>
            <a:off x="8037576" y="3566160"/>
            <a:ext cx="3191255" cy="457200"/>
          </a:xfrm>
          <a:prstGeom prst="rect">
            <a:avLst/>
          </a:prstGeom>
          <a:noFill/>
        </p:spPr>
        <p:txBody>
          <a:bodyPr wrap="square" anchor="ctr" lIns="0" rIns="0" tIns="0" bIns="0">
            <a:spAutoFit/>
          </a:bodyPr>
          <a:lstStyle/>
          <a:p>
            <a:pPr algn="l">
              <a:spcAft>
                <a:spcPts val="400"/>
              </a:spcAft>
            </a:pPr>
            <a:r>
              <a:rPr sz="1150" b="0">
                <a:solidFill>
                  <a:srgbClr val="161B26"/>
                </a:solidFill>
                <a:latin typeface="Arial"/>
              </a:rPr>
              <a:t>Submit the Assessment digital attendance</a:t>
            </a:r>
          </a:p>
        </p:txBody>
      </p:sp>
      <p:sp>
        <p:nvSpPr>
          <p:cNvPr id="41" name="Rectangle 40"/>
          <p:cNvSpPr/>
          <p:nvPr/>
        </p:nvSpPr>
        <p:spPr>
          <a:xfrm>
            <a:off x="7360920" y="4279392"/>
            <a:ext cx="4050791"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60920" y="4279392"/>
            <a:ext cx="82296"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562088" y="441655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62088" y="4416552"/>
            <a:ext cx="365760" cy="365760"/>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4</a:t>
            </a:r>
          </a:p>
        </p:txBody>
      </p:sp>
      <p:sp>
        <p:nvSpPr>
          <p:cNvPr id="45" name="TextBox 44"/>
          <p:cNvSpPr txBox="1"/>
          <p:nvPr/>
        </p:nvSpPr>
        <p:spPr>
          <a:xfrm>
            <a:off x="8037576" y="4389120"/>
            <a:ext cx="3191255" cy="457200"/>
          </a:xfrm>
          <a:prstGeom prst="rect">
            <a:avLst/>
          </a:prstGeom>
          <a:noFill/>
        </p:spPr>
        <p:txBody>
          <a:bodyPr wrap="square" anchor="ctr" lIns="0" rIns="0" tIns="0" bIns="0">
            <a:spAutoFit/>
          </a:bodyPr>
          <a:lstStyle/>
          <a:p>
            <a:pPr algn="l">
              <a:spcAft>
                <a:spcPts val="400"/>
              </a:spcAft>
            </a:pPr>
            <a:r>
              <a:rPr sz="1150" b="0">
                <a:solidFill>
                  <a:srgbClr val="161B26"/>
                </a:solidFill>
                <a:latin typeface="Arial"/>
              </a:rPr>
              <a:t>Download your Certificate of Achievement</a:t>
            </a:r>
          </a:p>
        </p:txBody>
      </p:sp>
      <p:sp>
        <p:nvSpPr>
          <p:cNvPr id="46" name="Rectangle 45"/>
          <p:cNvSpPr/>
          <p:nvPr/>
        </p:nvSpPr>
        <p:spPr>
          <a:xfrm>
            <a:off x="7360920" y="5102352"/>
            <a:ext cx="4050791"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60920" y="5102352"/>
            <a:ext cx="82296" cy="640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562088" y="523951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562088" y="5239512"/>
            <a:ext cx="365760" cy="365760"/>
          </a:xfrm>
          <a:prstGeom prst="rect">
            <a:avLst/>
          </a:prstGeom>
          <a:noFill/>
        </p:spPr>
        <p:txBody>
          <a:bodyPr wrap="square" anchor="ctr" lIns="0" rIns="0" tIns="0" bIns="0">
            <a:spAutoFit/>
          </a:bodyPr>
          <a:lstStyle/>
          <a:p>
            <a:pPr algn="ctr">
              <a:spcAft>
                <a:spcPts val="400"/>
              </a:spcAft>
            </a:pPr>
            <a:r>
              <a:rPr sz="1300" b="1">
                <a:solidFill>
                  <a:srgbClr val="FFFFFF"/>
                </a:solidFill>
                <a:latin typeface="Arial"/>
              </a:rPr>
              <a:t>5</a:t>
            </a:r>
          </a:p>
        </p:txBody>
      </p:sp>
      <p:sp>
        <p:nvSpPr>
          <p:cNvPr id="50" name="TextBox 49"/>
          <p:cNvSpPr txBox="1"/>
          <p:nvPr/>
        </p:nvSpPr>
        <p:spPr>
          <a:xfrm>
            <a:off x="8037576" y="5212080"/>
            <a:ext cx="3191255" cy="457200"/>
          </a:xfrm>
          <a:prstGeom prst="rect">
            <a:avLst/>
          </a:prstGeom>
          <a:noFill/>
        </p:spPr>
        <p:txBody>
          <a:bodyPr wrap="square" anchor="ctr" lIns="0" rIns="0" tIns="0" bIns="0">
            <a:spAutoFit/>
          </a:bodyPr>
          <a:lstStyle/>
          <a:p>
            <a:pPr algn="l">
              <a:spcAft>
                <a:spcPts val="400"/>
              </a:spcAft>
            </a:pPr>
            <a:r>
              <a:rPr sz="1150" b="0">
                <a:solidFill>
                  <a:srgbClr val="161B26"/>
                </a:solidFill>
                <a:latin typeface="Arial"/>
              </a:rPr>
              <a:t>Your OpenCert from SSG follows by email</a:t>
            </a:r>
          </a:p>
        </p:txBody>
      </p:sp>
      <p:sp>
        <p:nvSpPr>
          <p:cNvPr id="51" name="Rectangle 50"/>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870448"/>
            <a:ext cx="91440" cy="4572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51560" y="5870448"/>
            <a:ext cx="10241280" cy="457200"/>
          </a:xfrm>
          <a:prstGeom prst="rect">
            <a:avLst/>
          </a:prstGeom>
          <a:noFill/>
        </p:spPr>
        <p:txBody>
          <a:bodyPr wrap="square" anchor="ctr" lIns="0" rIns="0" tIns="0" bIns="0">
            <a:spAutoFit/>
          </a:bodyPr>
          <a:lstStyle/>
          <a:p>
            <a:pPr algn="l">
              <a:spcAft>
                <a:spcPts val="400"/>
              </a:spcAft>
            </a:pPr>
            <a:r>
              <a:rPr sz="1200" b="1">
                <a:solidFill>
                  <a:srgbClr val="161B26"/>
                </a:solidFill>
                <a:latin typeface="Arial"/>
              </a:rPr>
              <a:t>TRAQOM completion and 75% attendance are both mandatory for WSQ funding.</a:t>
            </a:r>
          </a:p>
        </p:txBody>
      </p:sp>
      <p:sp>
        <p:nvSpPr>
          <p:cNvPr id="54" name="TextBox 53"/>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55" name="TextBox 54"/>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56" name="TextBox 55"/>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WE'RE HERE AFTER THE COURSE TOO</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032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032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032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0320"/>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460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460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97096"/>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460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4608"/>
            <a:ext cx="512064" cy="512064"/>
          </a:xfrm>
          <a:prstGeom prst="rect">
            <a:avLst/>
          </a:prstGeom>
          <a:noFill/>
        </p:spPr>
        <p:txBody>
          <a:bodyPr wrap="square" anchor="ctr" lIns="0" rIns="0" tIns="0" bIns="0">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97096"/>
            <a:ext cx="4027932" cy="1901952"/>
          </a:xfrm>
          <a:prstGeom prst="rect">
            <a:avLst/>
          </a:prstGeom>
          <a:noFill/>
        </p:spPr>
        <p:txBody>
          <a:bodyPr wrap="square" anchor="ctr" lIns="0" rIns="0" tIns="0" bIns="0">
            <a:spAutoFit/>
          </a:bodyPr>
          <a:lstStyle/>
          <a:p>
            <a:pPr algn="l">
              <a:spcAft>
                <a:spcPts val="300"/>
              </a:spcAft>
            </a:pPr>
            <a:r>
              <a:rPr sz="1500" b="1">
                <a:solidFill>
                  <a:srgbClr val="161B26"/>
                </a:solidFill>
                <a:latin typeface="Arial"/>
              </a:rPr>
              <a:t>LMS / TMS</a:t>
            </a:r>
          </a:p>
          <a:p>
            <a:pPr algn="l">
              <a:spcAft>
                <a:spcPts val="300"/>
              </a:spcAft>
            </a:pPr>
            <a:r>
              <a:rPr sz="1200" b="0">
                <a:solidFill>
                  <a:srgbClr val="5B6372"/>
                </a:solidFill>
                <a:latin typeface="Arial"/>
              </a:rPr>
              <a:t>https://lms-tms.tertiaryinfotech.com</a:t>
            </a:r>
          </a:p>
        </p:txBody>
      </p:sp>
      <p:sp>
        <p:nvSpPr>
          <p:cNvPr id="27" name="TextBox 26"/>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28" name="TextBox 27"/>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mc:Choice xmlns:p14="http://schemas.microsoft.com/office/powerpoint/2010/main" Requires="p14">
      <p:transition spd="fast" p14:dur="700">
        <p:fade/>
      </p:transition>
    </mc:Choice>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651760"/>
            <a:ext cx="12191695" cy="1188720"/>
          </a:xfrm>
          <a:prstGeom prst="rect">
            <a:avLst/>
          </a:prstGeom>
          <a:noFill/>
        </p:spPr>
        <p:txBody>
          <a:bodyPr wrap="square" anchor="t" lIns="0" rIns="0" tIns="0" bIns="0">
            <a:spAutoFit/>
          </a:bodyPr>
          <a:lstStyle/>
          <a:p>
            <a:pPr algn="ctr">
              <a:spcAft>
                <a:spcPts val="400"/>
              </a:spcAft>
            </a:pPr>
            <a:r>
              <a:rPr sz="5400" b="1">
                <a:solidFill>
                  <a:srgbClr val="161B26"/>
                </a:solidFill>
                <a:latin typeface="Arial"/>
              </a:rPr>
              <a:t>Thank You!</a:t>
            </a:r>
          </a:p>
        </p:txBody>
      </p:sp>
      <p:sp>
        <p:nvSpPr>
          <p:cNvPr id="6" name="TextBox 5"/>
          <p:cNvSpPr txBox="1"/>
          <p:nvPr/>
        </p:nvSpPr>
        <p:spPr>
          <a:xfrm>
            <a:off x="0" y="3840480"/>
            <a:ext cx="12191695" cy="548640"/>
          </a:xfrm>
          <a:prstGeom prst="rect">
            <a:avLst/>
          </a:prstGeom>
          <a:noFill/>
        </p:spPr>
        <p:txBody>
          <a:bodyPr wrap="square" anchor="t" lIns="0" rIns="0" tIns="0" bIns="0">
            <a:spAutoFit/>
          </a:bodyPr>
          <a:lstStyle/>
          <a:p>
            <a:pPr algn="ctr">
              <a:spcAft>
                <a:spcPts val="400"/>
              </a:spcAft>
            </a:pPr>
            <a:r>
              <a:rPr sz="2000" b="0">
                <a:solidFill>
                  <a:srgbClr val="5B6372"/>
                </a:solidFill>
                <a:latin typeface="Arial"/>
              </a:rPr>
              <a:t>Agile Project Management for Business</a:t>
            </a:r>
          </a:p>
        </p:txBody>
      </p:sp>
      <p:sp>
        <p:nvSpPr>
          <p:cNvPr id="7" name="TextBox 6"/>
          <p:cNvSpPr txBox="1"/>
          <p:nvPr/>
        </p:nvSpPr>
        <p:spPr>
          <a:xfrm>
            <a:off x="0" y="4343400"/>
            <a:ext cx="12191695" cy="457200"/>
          </a:xfrm>
          <a:prstGeom prst="rect">
            <a:avLst/>
          </a:prstGeom>
          <a:noFill/>
        </p:spPr>
        <p:txBody>
          <a:bodyPr wrap="square" anchor="t" lIns="0" rIns="0" tIns="0" bIns="0">
            <a:spAutoFit/>
          </a:bodyPr>
          <a:lstStyle/>
          <a:p>
            <a:pPr algn="ctr">
              <a:spcAft>
                <a:spcPts val="400"/>
              </a:spcAft>
            </a:pPr>
            <a:r>
              <a:rPr sz="1300" b="0">
                <a:solidFill>
                  <a:srgbClr val="5B6372"/>
                </a:solidFill>
                <a:latin typeface="Arial"/>
              </a:rPr>
              <a:t>TGS-2023018967  ·  Tertiary Infotech Academy Pte Ltd  ·  UEN: 201200696W</a:t>
            </a:r>
          </a:p>
        </p:txBody>
      </p:sp>
    </p:spTree>
  </p:cSld>
  <p:clrMapOvr>
    <a:masterClrMapping/>
  </p:clrMapOvr>
  <mc:AlternateContent xmlns:mc="http://schemas.openxmlformats.org/markup-compatibility/2006">
    <mc:Choice xmlns:p14="http://schemas.microsoft.com/office/powerpoint/2010/main" Requires="p14">
      <p:transition spd="med" p14:dur="900">
        <p:push dir="u"/>
      </p:transition>
    </mc:Choice>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lIns="0" rIns="0" tIns="0" bIns="0">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lIns="0" rIns="0" tIns="0" bIns="0">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5760" y="6446520"/>
            <a:ext cx="6858000" cy="320040"/>
          </a:xfrm>
          <a:prstGeom prst="rect">
            <a:avLst/>
          </a:prstGeom>
          <a:noFill/>
        </p:spPr>
        <p:txBody>
          <a:bodyPr wrap="square" anchor="t" lIns="0" rIns="0" tIns="0" bIns="0">
            <a:spAutoFit/>
          </a:bodyPr>
          <a:lstStyle/>
          <a:p>
            <a:pPr algn="l">
              <a:spcAft>
                <a:spcPts val="400"/>
              </a:spcAft>
            </a:pPr>
            <a:r>
              <a:rPr sz="900" b="0">
                <a:solidFill>
                  <a:srgbClr val="5B6372"/>
                </a:solidFill>
                <a:latin typeface="Arial"/>
              </a:rPr>
              <a:t>Agile Project Management for Business  ·  TGS-2023018967</a:t>
            </a:r>
          </a:p>
        </p:txBody>
      </p:sp>
      <p:sp>
        <p:nvSpPr>
          <p:cNvPr id="55" name="TextBox 54"/>
          <p:cNvSpPr txBox="1"/>
          <p:nvPr/>
        </p:nvSpPr>
        <p:spPr>
          <a:xfrm>
            <a:off x="4572000" y="6446520"/>
            <a:ext cx="3017520" cy="320040"/>
          </a:xfrm>
          <a:prstGeom prst="rect">
            <a:avLst/>
          </a:prstGeom>
          <a:noFill/>
        </p:spPr>
        <p:txBody>
          <a:bodyPr wrap="square" anchor="t" lIns="0" rIns="0" tIns="0" bIns="0">
            <a:spAutoFit/>
          </a:bodyPr>
          <a:lstStyle/>
          <a:p>
            <a:pPr algn="ctr">
              <a:spcAft>
                <a:spcPts val="400"/>
              </a:spcAft>
            </a:pPr>
            <a:r>
              <a:rPr sz="900" b="0">
                <a:solidFill>
                  <a:srgbClr val="5B6372"/>
                </a:solidFill>
                <a:latin typeface="Arial"/>
              </a:rPr>
              <a:t>© 2026 Tertiary Infotech Academy Pte Ltd</a:t>
            </a:r>
          </a:p>
        </p:txBody>
      </p:sp>
      <p:sp>
        <p:nvSpPr>
          <p:cNvPr id="56" name="TextBox 55"/>
          <p:cNvSpPr txBox="1"/>
          <p:nvPr/>
        </p:nvSpPr>
        <p:spPr>
          <a:xfrm>
            <a:off x="11338560" y="6446520"/>
            <a:ext cx="548640" cy="320040"/>
          </a:xfrm>
          <a:prstGeom prst="rect">
            <a:avLst/>
          </a:prstGeom>
          <a:noFill/>
        </p:spPr>
        <p:txBody>
          <a:bodyPr wrap="square" anchor="t" lIns="0" rIns="0" tIns="0" bIns="0">
            <a:spAutoFit/>
          </a:bodyPr>
          <a:lstStyle/>
          <a:p>
            <a:pPr algn="r">
              <a:spcAft>
                <a:spcPts val="400"/>
              </a:spcAft>
            </a:pPr>
            <a:r>
              <a:rPr sz="900" b="0">
                <a:solidFill>
                  <a:srgbClr val="5B6372"/>
                </a:solidFill>
                <a:latin typeface="Arial"/>
              </a:rPr>
              <a:t>7</a:t>
            </a:r>
          </a:p>
        </p:txBody>
      </p:sp>
      <p:pic>
        <p:nvPicPr>
          <p:cNvPr id="57" name="Picture 56" descr="ref_login.png"/>
          <p:cNvPicPr>
            <a:picLocks noChangeAspect="1"/>
          </p:cNvPicPr>
          <p:nvPr/>
        </p:nvPicPr>
        <p:blipFill>
          <a:blip r:embed="rId2"/>
          <a:stretch>
            <a:fillRect/>
          </a:stretch>
        </p:blipFill>
        <p:spPr>
          <a:xfrm>
            <a:off x="1983345" y="1723644"/>
            <a:ext cx="8225005" cy="4091940"/>
          </a:xfrm>
          <a:prstGeom prst="rect">
            <a:avLst/>
          </a:prstGeom>
          <a:ln w="12700">
            <a:solidFill>
              <a:srgbClr val="E2E8F0"/>
            </a:solidFill>
          </a:ln>
        </p:spPr>
      </p:pic>
      <p:sp>
        <p:nvSpPr>
          <p:cNvPr id="58" name="TextBox 57"/>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